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240"/>
    <a:srgbClr val="3E5669"/>
    <a:srgbClr val="1A2C56"/>
    <a:srgbClr val="0D76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37C42F-60F9-30FF-F5E7-C588837459A1}" v="21" dt="2026-05-31T21:45:24.045"/>
    <p1510:client id="{558829B4-F309-E747-C008-85B91EC49042}" v="14" dt="2026-05-30T11:29:48.845"/>
    <p1510:client id="{6EF49537-5814-DD03-EC1D-D192386207A9}" v="71" dt="2026-06-01T06:51:29.878"/>
    <p1510:client id="{CB4B5AB2-06FE-503F-97DD-2687BA443BE9}" v="39" dt="2026-05-30T11:12:25.479"/>
    <p1510:client id="{D8F0BDDB-06AC-8EEF-03C2-35AA04AD8CD3}" v="17" dt="2026-05-30T10:53:01.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477" autoAdjust="0"/>
  </p:normalViewPr>
  <p:slideViewPr>
    <p:cSldViewPr snapToGrid="0" snapToObjects="1">
      <p:cViewPr varScale="1">
        <p:scale>
          <a:sx n="86" d="100"/>
          <a:sy n="86" d="100"/>
        </p:scale>
        <p:origin x="13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36AE6A83-13F4-4BC4-AB07-219FD4E3A85F}" type="datetimeFigureOut">
              <a:t>05/06/2026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F11C23B6-115C-4C3A-A495-370E942D89DC}" type="slidenum">
              <a:t>‹N°›</a:t>
            </a:fld>
            <a:endParaRPr lang="en-US"/>
          </a:p>
        </p:txBody>
      </p:sp>
    </p:spTree>
    <p:extLst>
      <p:ext uri="{BB962C8B-B14F-4D97-AF65-F5344CB8AC3E}">
        <p14:creationId xmlns:p14="http://schemas.microsoft.com/office/powerpoint/2010/main" val="3827755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Monsieur le Président, Messieurs les membres du jury, bonjour.</a:t>
            </a:r>
          </a:p>
          <a:p>
            <a:r>
              <a:rPr lang="fr-FR" dirty="0"/>
              <a:t>Je me présente : karim </a:t>
            </a:r>
            <a:r>
              <a:rPr lang="fr-FR" dirty="0" err="1"/>
              <a:t>gdoura</a:t>
            </a:r>
            <a:r>
              <a:rPr lang="fr-FR" dirty="0"/>
              <a:t>, étudiant en Licence Informatique de Gestion à la FSEG Sfax.</a:t>
            </a:r>
          </a:p>
          <a:p>
            <a:endParaRPr lang="fr-FR" dirty="0"/>
          </a:p>
          <a:p>
            <a:r>
              <a:rPr lang="fr-FR" dirty="0"/>
              <a:t>C'est avec plaisir que je me présente aujourd'hui pour soutenir mon Projet de Fin d'Études, dans le cadre de ma Licence.</a:t>
            </a:r>
          </a:p>
          <a:p>
            <a:endParaRPr lang="fr-FR" dirty="0"/>
          </a:p>
          <a:p>
            <a:r>
              <a:rPr lang="fr-FR" dirty="0"/>
              <a:t>Je remercie sincèrement mon encadrant, Monsieur Iskandar </a:t>
            </a:r>
            <a:r>
              <a:rPr lang="fr-FR" dirty="0" err="1"/>
              <a:t>Keskes</a:t>
            </a:r>
            <a:r>
              <a:rPr lang="fr-FR" dirty="0"/>
              <a:t>, pour la confiance qu’il m’a accordée et la rigueur de ses remarques. Je remercie également les honorables membres du jury — Monsieur Nabil </a:t>
            </a:r>
            <a:r>
              <a:rPr lang="fr-FR" dirty="0" err="1"/>
              <a:t>Baklouti</a:t>
            </a:r>
            <a:r>
              <a:rPr lang="fr-FR" dirty="0"/>
              <a:t> et Monsieur Mahdi </a:t>
            </a:r>
            <a:r>
              <a:rPr lang="fr-FR" dirty="0" err="1"/>
              <a:t>Ellouze</a:t>
            </a:r>
            <a:r>
              <a:rPr lang="fr-FR" dirty="0"/>
              <a:t> — pour l'honneur qu'ils me font en évaluant ce projet.</a:t>
            </a:r>
          </a:p>
          <a:p>
            <a:endParaRPr lang="fr-FR" dirty="0"/>
          </a:p>
          <a:p>
            <a:r>
              <a:rPr lang="fr-FR" dirty="0"/>
              <a:t>Le sujet que j'ai l'honneur de vous présenter est : « Conception et Réalisation d'une Plateforme de Financement Collaboratif », réalisé au sein d'</a:t>
            </a:r>
            <a:r>
              <a:rPr lang="fr-FR" dirty="0" err="1"/>
              <a:t>Aziin</a:t>
            </a:r>
            <a:r>
              <a:rPr lang="fr-FR" dirty="0"/>
              <a:t> Engineering Solution, Sfax.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 plan que je vais suivre.</a:t>
            </a:r>
          </a:p>
          <a:p>
            <a:endParaRPr lang="fr-FR" dirty="0"/>
          </a:p>
          <a:p>
            <a:r>
              <a:rPr lang="fr-FR" dirty="0"/>
              <a:t>Je commencerai par la présentation de l'organisme d'accueil et la mise en contexte, puis j'aborderai la problématique. Je présenterai ensuite la solution proposée et ses avantages par rapport à l'existant. La partie technique couvrira les cas d'utilisation, le modèle du domaine, l'architecture et les technologies. Je terminerai par la réalisation et la conclusion.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3A3F6-7695-03ED-9BAC-937B35629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3CF02-8A81-8AC5-AD04-68944723C5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58DF21-F91C-155C-E53F-B597AD4B317E}"/>
              </a:ext>
            </a:extLst>
          </p:cNvPr>
          <p:cNvSpPr>
            <a:spLocks noGrp="1"/>
          </p:cNvSpPr>
          <p:nvPr>
            <p:ph type="body" idx="1"/>
          </p:nvPr>
        </p:nvSpPr>
        <p:spPr/>
        <p:txBody>
          <a:bodyPr/>
          <a:lstStyle/>
          <a:p>
            <a:r>
              <a:rPr lang="fr-FR" dirty="0"/>
              <a:t>Commençons par l'organisme qui m'a accueilli pour ce projet.</a:t>
            </a:r>
          </a:p>
          <a:p>
            <a:r>
              <a:rPr lang="fr-FR" dirty="0"/>
              <a:t>Il s'agit d'</a:t>
            </a:r>
            <a:r>
              <a:rPr lang="fr-FR" dirty="0" err="1"/>
              <a:t>Aziin</a:t>
            </a:r>
            <a:r>
              <a:rPr lang="fr-FR" dirty="0"/>
              <a:t> Engineering Solution, une société privée basée à Sfax, spécialisée dans la conception et le développement de solutions informatiques sur mesure. Son organisation en équipe agile m'a permis une communication directe et un accompagnement de terrain tout au long du développement.</a:t>
            </a:r>
          </a:p>
          <a:p>
            <a:endParaRPr lang="en-US" dirty="0"/>
          </a:p>
        </p:txBody>
      </p:sp>
      <p:sp>
        <p:nvSpPr>
          <p:cNvPr id="4" name="Slide Number Placeholder 3">
            <a:extLst>
              <a:ext uri="{FF2B5EF4-FFF2-40B4-BE49-F238E27FC236}">
                <a16:creationId xmlns:a16="http://schemas.microsoft.com/office/drawing/2014/main" id="{A335AB90-11F0-6DE5-813E-9AB9AE86424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054953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Passons maintenant au contexte général du projet.</a:t>
            </a:r>
          </a:p>
          <a:p>
            <a:endParaRPr lang="fr-FR" dirty="0"/>
          </a:p>
          <a:p>
            <a:r>
              <a:rPr lang="fr-FR" dirty="0"/>
              <a:t>Le financement participatif connaît un essor important en Tunisie depuis la promulgation de la loi n°2020-37, qui encadre ces opérations sous la supervision de la Banque Centrale de Tunisie. Notre plateforme s'inscrit dans ce cadre : elle repose sur le don participatif, où les contributeurs soutiennent des projets par conviction et solidarité.</a:t>
            </a:r>
          </a:p>
          <a:p>
            <a:endParaRPr lang="fr-FR" dirty="0"/>
          </a:p>
          <a:p>
            <a:r>
              <a:rPr lang="fr-FR" dirty="0"/>
              <a:t>L'objectif est de permettre à tout porteur de projet — personne physique, association ou startup — de mobiliser des fonds auprès du grand public et de concrétiser des projets créateurs d'emplois et moteurs de croissance économique.</a:t>
            </a:r>
          </a:p>
          <a:p>
            <a:endParaRPr lang="fr-FR" dirty="0"/>
          </a:p>
          <a:p>
            <a:r>
              <a:rPr lang="fr-FR" dirty="0"/>
              <a:t>Ce qui rend ce projet particulièrement pertinent, c'est le rôle central des entreprises communautaires. Ces structures ont l'obligation légale de réinvestir environ 35% de leurs bénéfices dans leur communauté. Les financer, c'est créer un véritable cercle vertueux : emplois locaux, services de proximité, et développement territorial durable.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Maintenant que le contexte est posé, abordons la problématique centrale.</a:t>
            </a:r>
          </a:p>
          <a:p>
            <a:endParaRPr lang="fr-FR" dirty="0"/>
          </a:p>
          <a:p>
            <a:r>
              <a:rPr lang="fr-FR" dirty="0"/>
              <a:t>Avant d'arriver à la question de recherche, 2 constats s'imposent, visibles en haut de cette slide. Premièrement, le potentiel des entreprises communautaires reste sous-exploité : elles manquent d'accès au financement participatif et de visibilité auprès du grand public. 2ement Il n'existe aujourd'hui aucune plateforme conforme au cadre BCT 2020 couvrant l'ensemble du cycle : collecte, validation, retrait et traçabilité.</a:t>
            </a:r>
          </a:p>
          <a:p>
            <a:endParaRPr lang="fr-FR" dirty="0"/>
          </a:p>
          <a:p>
            <a:r>
              <a:rPr lang="fr-FR" dirty="0"/>
              <a:t>Ces constats nous ont conduits à poser la question centrale : Comment concevoir une plateforme de financement participatif qui catalyse l'essor des entreprises communautaires tunisiennes, stimule la création d'emplois locaux et le réinvestissement économique territorial — tout en garantissant la confiance des contributeurs, la transparence des fonds collectés et la conformité au cadre réglementaire BCT ?</a:t>
            </a:r>
          </a:p>
          <a:p>
            <a:endParaRPr lang="fr-FR" dirty="0"/>
          </a:p>
          <a:p>
            <a:r>
              <a:rPr lang="fr-FR" dirty="0"/>
              <a:t>Cette question résume l'ambition économique et technique de notre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i="1" noProof="0" dirty="0">
                <a:solidFill>
                  <a:schemeClr val="bg1"/>
                </a:solidFill>
              </a:rPr>
              <a:t>Pour répondre à cette problématique, nous avons conçu une plateforme web full-stack qui met en relation porteurs de projet, investisseurs, experts financiers et administrateurs.</a:t>
            </a:r>
          </a:p>
          <a:p>
            <a:endParaRPr lang="fr-FR" sz="1200" i="1" noProof="0" dirty="0">
              <a:solidFill>
                <a:schemeClr val="bg1"/>
              </a:solidFill>
            </a:endParaRPr>
          </a:p>
          <a:p>
            <a:r>
              <a:rPr lang="fr-FR" sz="1200" i="1" noProof="0" dirty="0">
                <a:solidFill>
                  <a:schemeClr val="bg1"/>
                </a:solidFill>
              </a:rPr>
              <a:t>Ce tableau compare notre solution aux plateformes existantes — internationales comme Kickstarter et </a:t>
            </a:r>
            <a:r>
              <a:rPr lang="fr-FR" sz="1200" i="1" noProof="0" dirty="0" err="1">
                <a:solidFill>
                  <a:schemeClr val="bg1"/>
                </a:solidFill>
              </a:rPr>
              <a:t>Indiegogo</a:t>
            </a:r>
            <a:r>
              <a:rPr lang="fr-FR" sz="1200" i="1" noProof="0" dirty="0">
                <a:solidFill>
                  <a:schemeClr val="bg1"/>
                </a:solidFill>
              </a:rPr>
              <a:t>, et tunisiennes comme </a:t>
            </a:r>
            <a:r>
              <a:rPr lang="fr-FR" sz="1200" i="1" noProof="0" dirty="0" err="1">
                <a:solidFill>
                  <a:schemeClr val="bg1"/>
                </a:solidFill>
              </a:rPr>
              <a:t>CoFundy</a:t>
            </a:r>
            <a:r>
              <a:rPr lang="fr-FR" sz="1200" i="1" noProof="0" dirty="0">
                <a:solidFill>
                  <a:schemeClr val="bg1"/>
                </a:solidFill>
              </a:rPr>
              <a:t> et </a:t>
            </a:r>
            <a:r>
              <a:rPr lang="fr-FR" sz="1200" i="1" noProof="0" dirty="0" err="1">
                <a:solidFill>
                  <a:schemeClr val="bg1"/>
                </a:solidFill>
              </a:rPr>
              <a:t>Kaoun</a:t>
            </a:r>
            <a:r>
              <a:rPr lang="fr-FR" sz="1200" i="1" noProof="0" dirty="0">
                <a:solidFill>
                  <a:schemeClr val="bg1"/>
                </a:solidFill>
              </a:rPr>
              <a:t>.</a:t>
            </a:r>
          </a:p>
          <a:p>
            <a:endParaRPr lang="fr-FR" sz="1200" i="1" noProof="0" dirty="0">
              <a:solidFill>
                <a:schemeClr val="bg1"/>
              </a:solidFill>
            </a:endParaRPr>
          </a:p>
          <a:p>
            <a:r>
              <a:rPr lang="fr-FR" sz="1200" i="1" noProof="0" dirty="0">
                <a:solidFill>
                  <a:schemeClr val="bg1"/>
                </a:solidFill>
              </a:rPr>
              <a:t>Le constat est clair : aucune solution existante ne réunit l'ensemble des critères dans le contexte tunisien. Notre plateforme est la seule à combiner une analyse de risque automatisée par IA, des recommandations personnalisées, une assistance via assistant conversationnel et consultation expert pour les engagements importants, un système de paiement et retrait adapté au contexte tunisien, et une gouvernance complète conforme à la loi BCT.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Passons maintenant à la partie conception. Notre système distingue quatre acteurs principaux.</a:t>
            </a:r>
          </a:p>
          <a:p>
            <a:endParaRPr lang="fr-FR" dirty="0"/>
          </a:p>
          <a:p>
            <a:r>
              <a:rPr lang="fr-FR" dirty="0"/>
              <a:t>Le Visiteur peut consulter les projets publics et s'inscrire sur la plateforme. L'Utilisateur regroupe deux profils : le porteur de projet, qui crée et soumet ses campagnes, et l'investisseur, qui contribue aux projets. L'Expert en finance évalue les projets soumis et accompagne les consultations pour les engagements importants. L'Administrateur assure la gouvernance globale : publication, modération et gestion des retraits.</a:t>
            </a:r>
          </a:p>
          <a:p>
            <a:endParaRPr lang="fr-FR" dirty="0"/>
          </a:p>
          <a:p>
            <a:r>
              <a:rPr lang="fr-FR" dirty="0"/>
              <a:t>Le diagramme illustre l'ensemble des interactions entre ces acteurs. On remarque que toutes les actions nécessitent une authentification préalable. L'administrateur gère les projets, les utilisateurs et les contenus. L'utilisateur peut interagir avec les projets, gérer ses contributions et ses retraits. L'expert intervient pour évaluer les risques et gérer les consultations.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diagramme représente le cycle de vie complet d'un projet, à travers neuf états distincts.</a:t>
            </a:r>
          </a:p>
          <a:p>
            <a:endParaRPr lang="fr-FR" dirty="0"/>
          </a:p>
          <a:p>
            <a:r>
              <a:rPr lang="fr-FR" dirty="0"/>
              <a:t>Tout commence par l'état DRAFT, où le porteur crée son projet. Une fois soumis, il passe en AWAITING_AI pour l'analyse automatique par intelligence artificielle via Gemini. Après l'analyse, il entre en UNDER_REVIEW pour l'évaluation par l'expert financier. Si l'expert valide, le projet passe en APPROVED, puis l'administrateur le publie en ACTIVE — il est alors ouvert aux contributions.</a:t>
            </a:r>
          </a:p>
          <a:p>
            <a:endParaRPr lang="fr-FR" dirty="0"/>
          </a:p>
          <a:p>
            <a:r>
              <a:rPr lang="fr-FR" dirty="0"/>
              <a:t>Deux issues sont possibles en cours de route : si l'expert rejette le dossier, le projet passe en REJECTED. Si l'objectif de financement est atteint, il passe en FUNDED, puis en CLOSED une fois les fonds retirés par le porteur.</a:t>
            </a:r>
          </a:p>
          <a:p>
            <a:endParaRPr lang="fr-FR" dirty="0"/>
          </a:p>
          <a:p>
            <a:r>
              <a:rPr lang="fr-FR" dirty="0"/>
              <a:t>Enfin, un projet actif peut être temporairement SUSPENDED par l'administrateur — puis réactivé si nécessaire.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modèle du domaine représente la structure complète des données métier de la plateforme.</a:t>
            </a:r>
          </a:p>
          <a:p>
            <a:endParaRPr lang="fr-FR" dirty="0"/>
          </a:p>
          <a:p>
            <a:r>
              <a:rPr lang="fr-FR" dirty="0"/>
              <a:t>Il est composé de 15 classes métier et plus de 10 énumérations, ce qui reflète la richesse fonctionnelle du système. Les entités centrales sont Projet et Utilisateur, auxquelles sont liées la quasi-totalité des autres classes. Parmi les classes distinctives, </a:t>
            </a:r>
            <a:r>
              <a:rPr lang="fr-FR" dirty="0" err="1"/>
              <a:t>RapportRisque</a:t>
            </a:r>
            <a:r>
              <a:rPr lang="fr-FR" dirty="0"/>
              <a:t> et </a:t>
            </a:r>
            <a:r>
              <a:rPr lang="fr-FR" dirty="0" err="1"/>
              <a:t>ConsultationExpert</a:t>
            </a:r>
            <a:r>
              <a:rPr lang="fr-FR" dirty="0"/>
              <a:t> matérialisent les deux aides à la décision propres à notre solution — c'est précisément ce qui nous différencie des plateformes existantes.</a:t>
            </a:r>
          </a:p>
          <a:p>
            <a:endParaRPr lang="fr-FR" dirty="0"/>
          </a:p>
          <a:p>
            <a:r>
              <a:rPr lang="fr-FR" dirty="0"/>
              <a:t>Les énumérations définissent les différents statuts possibles pour chaque entité — statuts de projet, d'investissement, de transaction — assurant la cohérence des états tout au long du cycle de vie. Ce modèle garantit une traçabilité complète de toutes les opérations sur la plateforme.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plateforme repose sur une architecture client-serveur à trois couches.</a:t>
            </a:r>
          </a:p>
          <a:p>
            <a:endParaRPr lang="fr-FR" dirty="0"/>
          </a:p>
          <a:p>
            <a:r>
              <a:rPr lang="fr-FR" dirty="0"/>
              <a:t>La couche Présentation est développée avec </a:t>
            </a:r>
            <a:r>
              <a:rPr lang="fr-FR" dirty="0" err="1"/>
              <a:t>React</a:t>
            </a:r>
            <a:r>
              <a:rPr lang="fr-FR" dirty="0"/>
              <a:t> 19, Vite et </a:t>
            </a:r>
            <a:r>
              <a:rPr lang="fr-FR" dirty="0" err="1"/>
              <a:t>Tailwind</a:t>
            </a:r>
            <a:r>
              <a:rPr lang="fr-FR" dirty="0"/>
              <a:t> CSS v4, pour une interface moderne et réactive côté client. La couche Métier utilise Node.js avec Express 5, qui orchestre l'ensemble des services internes — </a:t>
            </a:r>
            <a:r>
              <a:rPr lang="fr-FR" dirty="0" err="1"/>
              <a:t>BullMQ</a:t>
            </a:r>
            <a:r>
              <a:rPr lang="fr-FR" dirty="0"/>
              <a:t> et Redis pour les traitements asynchrones, et n8n pour les workflows d'analyse IA. La couche Données s'appuie sur MongoDB avec des transactions multi-documents pour garantir l'intégrité financière de toutes les opérations.</a:t>
            </a:r>
          </a:p>
          <a:p>
            <a:endParaRPr lang="fr-FR" dirty="0"/>
          </a:p>
          <a:p>
            <a:r>
              <a:rPr lang="fr-FR" dirty="0"/>
              <a:t>La grille à droite résume l'ensemble des choix techniques par domaine : sécurité et authentification, données, intelligence artificielle, chiffrement, et DevOps.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sécurité était une priorité centrale dans la conception de cette plateforme. Six décisions structurantes ont été prises.</a:t>
            </a:r>
          </a:p>
          <a:p>
            <a:endParaRPr lang="fr-FR" dirty="0"/>
          </a:p>
          <a:p>
            <a:r>
              <a:rPr lang="fr-FR" dirty="0"/>
              <a:t>Les JWT stockés en cookies </a:t>
            </a:r>
            <a:r>
              <a:rPr lang="fr-FR" dirty="0" err="1"/>
              <a:t>HttpOnly</a:t>
            </a:r>
            <a:r>
              <a:rPr lang="fr-FR" dirty="0"/>
              <a:t> protègent contre les attaques XSS et CSRF, sans aucun stockage dans le navigateur. Les </a:t>
            </a:r>
            <a:r>
              <a:rPr lang="fr-FR" dirty="0" err="1"/>
              <a:t>webhooks</a:t>
            </a:r>
            <a:r>
              <a:rPr lang="fr-FR" dirty="0"/>
              <a:t> signés en HMAC garantissent qu'un paiement ne peut pas être enregistré deux fois, même en cas de rejeu. Les mises à jour atomiques dans MongoDB empêchent le </a:t>
            </a:r>
            <a:r>
              <a:rPr lang="fr-FR" dirty="0" err="1"/>
              <a:t>sur-financement</a:t>
            </a:r>
            <a:r>
              <a:rPr lang="fr-FR" dirty="0"/>
              <a:t> lorsque plusieurs contributions arrivent simultanément.</a:t>
            </a:r>
          </a:p>
          <a:p>
            <a:endParaRPr lang="fr-FR" dirty="0"/>
          </a:p>
          <a:p>
            <a:r>
              <a:rPr lang="fr-FR" dirty="0"/>
              <a:t>Le chiffrement AES-256-GCM protège les coordonnées bancaires des porteurs, avec une clé chargée depuis l'environnement — jamais écrite dans le code source. Les quatre files Dead-Letter assurent qu'aucune erreur asynchrone ne passe inaperçue et reste </a:t>
            </a:r>
            <a:r>
              <a:rPr lang="fr-FR" dirty="0" err="1"/>
              <a:t>repriseable</a:t>
            </a:r>
            <a:r>
              <a:rPr lang="fr-FR" dirty="0"/>
              <a:t>. Enfin, le contrôle d'accès par rôles RBAC, combiné au rate </a:t>
            </a:r>
            <a:r>
              <a:rPr lang="fr-FR" dirty="0" err="1"/>
              <a:t>limiting</a:t>
            </a:r>
            <a:r>
              <a:rPr lang="fr-FR" dirty="0"/>
              <a:t>, protège toutes les routes sensibles de l'API.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phase de réalisation couvre sept cas d'utilisation principaux, chacun documenté avec des captures d'écran, des extraits de code et les composants mobilisés.</a:t>
            </a:r>
          </a:p>
          <a:p>
            <a:endParaRPr lang="fr-FR" dirty="0"/>
          </a:p>
          <a:p>
            <a:r>
              <a:rPr lang="fr-FR" dirty="0"/>
              <a:t>Le premier permet l'annulation d'une contribution avec vérification d'état et remboursement conditionnel. Le deuxième couvre la création et soumission d'un projet, avec déclenchement automatique de l'analyse IA via le workflow n8n. Le troisième gère l'investissement avec validation HMAC et protection atomique contre le </a:t>
            </a:r>
            <a:r>
              <a:rPr lang="fr-FR" dirty="0" err="1"/>
              <a:t>sur-financement</a:t>
            </a:r>
            <a:r>
              <a:rPr lang="fr-FR" dirty="0"/>
              <a:t>. Le quatrième traite la validation ou le rejet du projet par l'expert puis l'administrateur. Le cinquième couvre la saisie des coordonnées bancaires avec chiffrement AES-256-GCM et génération de factures PDF. Le sixième permet à l'administrateur d'approuver un retrait avec déchiffrement du RIB et application d'une commission de 5%. Le septième gère la suspension et la réactivation d'un projet avec journalisation complète dans l'</a:t>
            </a:r>
            <a:r>
              <a:rPr lang="fr-FR" dirty="0" err="1"/>
              <a:t>AuditLog</a:t>
            </a:r>
            <a:r>
              <a:rPr lang="fr-FR" dirty="0"/>
              <a:t>.</a:t>
            </a:r>
          </a:p>
          <a:p>
            <a:endParaRPr lang="fr-FR"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conclure, ce projet nous a permis de concevoir et réaliser une plateforme de financement collaboratif complète, couvrant l'ensemble du cycle de vie d'un projet — de sa création jusqu'au retrait des fonds.</a:t>
            </a:r>
          </a:p>
          <a:p>
            <a:endParaRPr lang="fr-FR" dirty="0"/>
          </a:p>
          <a:p>
            <a:r>
              <a:rPr lang="fr-FR" dirty="0"/>
              <a:t>Parmi les travaux réalisés, on trouve le parcours complet du porteur, le parcours complet de l'investisseur avec gestion des remboursements, des outils d'aide à la décision basés sur l'IA, une gouvernance solide avec audit et notifications, et une sécurité conforme aux standards OWASP.</a:t>
            </a:r>
          </a:p>
          <a:p>
            <a:endParaRPr lang="fr-FR" dirty="0"/>
          </a:p>
          <a:p>
            <a:r>
              <a:rPr lang="fr-FR" dirty="0"/>
              <a:t>Nous reconnaissons deux limites importantes : Recommandations déterministes — sans historique d'apprentissage​, et les tests d'interface ne sont pas encore automatisés.</a:t>
            </a:r>
          </a:p>
          <a:p>
            <a:endParaRPr lang="fr-FR" dirty="0"/>
          </a:p>
          <a:p>
            <a:r>
              <a:rPr lang="fr-FR" dirty="0"/>
              <a:t>En perspectives, nous envisageons l'amélioration du modèle d'IA avec apprentissage progressif, la mesure de l'impact social des projets financés, et l'extension du service à la diaspora tunisienne pour permettre un soutien transfrontalier.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Ainsi s'achève ma présentation.</a:t>
            </a:r>
          </a:p>
          <a:p>
            <a:endParaRPr lang="fr-FR" dirty="0"/>
          </a:p>
          <a:p>
            <a:r>
              <a:rPr lang="fr-FR" dirty="0"/>
              <a:t>Je vous remercie sincèrement pour votre attention et l'intérêt que vous avez porté à ce travail. Je reste maintenant entièrement à votre disposition pour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C56"/>
        </a:solidFill>
        <a:effectLst/>
      </p:bgPr>
    </p:bg>
    <p:spTree>
      <p:nvGrpSpPr>
        <p:cNvPr id="1" name=""/>
        <p:cNvGrpSpPr/>
        <p:nvPr/>
      </p:nvGrpSpPr>
      <p:grpSpPr>
        <a:xfrm>
          <a:off x="0" y="0"/>
          <a:ext cx="0" cy="0"/>
          <a:chOff x="0" y="0"/>
          <a:chExt cx="0" cy="0"/>
        </a:xfrm>
      </p:grpSpPr>
      <p:sp>
        <p:nvSpPr>
          <p:cNvPr id="4" name="Text 2"/>
          <p:cNvSpPr/>
          <p:nvPr/>
        </p:nvSpPr>
        <p:spPr>
          <a:xfrm>
            <a:off x="274320" y="0"/>
            <a:ext cx="8686800" cy="621792"/>
          </a:xfrm>
          <a:prstGeom prst="rect">
            <a:avLst/>
          </a:prstGeom>
          <a:noFill/>
          <a:ln/>
        </p:spPr>
        <p:txBody>
          <a:bodyPr wrap="square" lIns="0" tIns="0" rIns="0" bIns="0" rtlCol="0" anchor="ctr"/>
          <a:lstStyle/>
          <a:p>
            <a:pPr marL="0" indent="0">
              <a:buNone/>
            </a:pPr>
            <a:endParaRPr lang="fr-FR" sz="800" noProof="0" dirty="0"/>
          </a:p>
        </p:txBody>
      </p:sp>
      <p:sp>
        <p:nvSpPr>
          <p:cNvPr id="5" name="Text 3"/>
          <p:cNvSpPr/>
          <p:nvPr/>
        </p:nvSpPr>
        <p:spPr>
          <a:xfrm>
            <a:off x="3585633" y="984001"/>
            <a:ext cx="1698413" cy="384048"/>
          </a:xfrm>
          <a:prstGeom prst="rect">
            <a:avLst/>
          </a:prstGeom>
          <a:noFill/>
          <a:ln/>
        </p:spPr>
        <p:txBody>
          <a:bodyPr wrap="square" lIns="0" tIns="0" rIns="0" bIns="0" rtlCol="0" anchor="ctr"/>
          <a:lstStyle/>
          <a:p>
            <a:pPr marL="0" indent="0" algn="ctr">
              <a:buNone/>
            </a:pPr>
            <a:r>
              <a:rPr lang="fr-FR" sz="1400" i="1" noProof="0" dirty="0">
                <a:solidFill>
                  <a:schemeClr val="accent5">
                    <a:lumMod val="20000"/>
                    <a:lumOff val="80000"/>
                  </a:schemeClr>
                </a:solidFill>
              </a:rPr>
              <a:t>Projet de Fin d'Études</a:t>
            </a:r>
            <a:endParaRPr lang="fr-FR" sz="1400" noProof="0" dirty="0">
              <a:solidFill>
                <a:schemeClr val="accent5">
                  <a:lumMod val="20000"/>
                  <a:lumOff val="80000"/>
                </a:schemeClr>
              </a:solidFill>
            </a:endParaRPr>
          </a:p>
        </p:txBody>
      </p:sp>
      <p:sp>
        <p:nvSpPr>
          <p:cNvPr id="6" name="Text 4"/>
          <p:cNvSpPr/>
          <p:nvPr/>
        </p:nvSpPr>
        <p:spPr>
          <a:xfrm>
            <a:off x="548640" y="1262845"/>
            <a:ext cx="7772400" cy="438912"/>
          </a:xfrm>
          <a:prstGeom prst="rect">
            <a:avLst/>
          </a:prstGeom>
          <a:noFill/>
          <a:ln/>
        </p:spPr>
        <p:txBody>
          <a:bodyPr wrap="square" lIns="0" tIns="0" rIns="0" bIns="0" rtlCol="0" anchor="ctr"/>
          <a:lstStyle/>
          <a:p>
            <a:pPr marL="0" indent="0" algn="ctr">
              <a:buNone/>
            </a:pPr>
            <a:r>
              <a:rPr lang="fr-FR" sz="2000" noProof="0" dirty="0">
                <a:solidFill>
                  <a:srgbClr val="B8C8D8"/>
                </a:solidFill>
              </a:rPr>
              <a:t>Conception et Réalisation d'une</a:t>
            </a:r>
            <a:endParaRPr lang="fr-FR" sz="2000" noProof="0" dirty="0"/>
          </a:p>
        </p:txBody>
      </p:sp>
      <p:sp>
        <p:nvSpPr>
          <p:cNvPr id="7" name="Text 5"/>
          <p:cNvSpPr/>
          <p:nvPr/>
        </p:nvSpPr>
        <p:spPr>
          <a:xfrm>
            <a:off x="411480" y="1574118"/>
            <a:ext cx="8046720" cy="1572768"/>
          </a:xfrm>
          <a:prstGeom prst="rect">
            <a:avLst/>
          </a:prstGeom>
          <a:noFill/>
          <a:ln/>
        </p:spPr>
        <p:txBody>
          <a:bodyPr wrap="square" lIns="0" tIns="0" rIns="0" bIns="0" rtlCol="0" anchor="ctr"/>
          <a:lstStyle/>
          <a:p>
            <a:pPr marL="0" indent="0" algn="ctr">
              <a:buNone/>
            </a:pPr>
            <a:r>
              <a:rPr lang="fr-FR" sz="4800" b="1" noProof="0" dirty="0">
                <a:solidFill>
                  <a:srgbClr val="FFFFFF"/>
                </a:solidFill>
              </a:rPr>
              <a:t>Plateforme</a:t>
            </a:r>
            <a:r>
              <a:rPr lang="fr-FR" sz="4400" b="1" noProof="0" dirty="0">
                <a:solidFill>
                  <a:srgbClr val="FFFFFF"/>
                </a:solidFill>
              </a:rPr>
              <a:t> </a:t>
            </a:r>
            <a:r>
              <a:rPr lang="fr-FR" sz="4800" b="1" noProof="0" dirty="0">
                <a:solidFill>
                  <a:srgbClr val="FFFFFF"/>
                </a:solidFill>
              </a:rPr>
              <a:t>de</a:t>
            </a:r>
            <a:endParaRPr lang="fr-FR" sz="4400" noProof="0" dirty="0"/>
          </a:p>
          <a:p>
            <a:pPr marL="0" indent="0" algn="ctr">
              <a:buNone/>
            </a:pPr>
            <a:r>
              <a:rPr lang="fr-FR" sz="4800" b="1" noProof="0" dirty="0">
                <a:solidFill>
                  <a:srgbClr val="FFFFFF"/>
                </a:solidFill>
              </a:rPr>
              <a:t>Financement</a:t>
            </a:r>
            <a:r>
              <a:rPr lang="fr-FR" sz="4400" b="1" noProof="0" dirty="0">
                <a:solidFill>
                  <a:srgbClr val="FFFFFF"/>
                </a:solidFill>
              </a:rPr>
              <a:t> </a:t>
            </a:r>
            <a:r>
              <a:rPr lang="fr-FR" sz="4800" b="1" noProof="0" dirty="0">
                <a:solidFill>
                  <a:srgbClr val="FFFFFF"/>
                </a:solidFill>
              </a:rPr>
              <a:t>Collaboratif</a:t>
            </a:r>
            <a:endParaRPr lang="fr-FR" sz="4400" noProof="0" dirty="0"/>
          </a:p>
        </p:txBody>
      </p:sp>
      <p:sp>
        <p:nvSpPr>
          <p:cNvPr id="8" name="Shape 6"/>
          <p:cNvSpPr/>
          <p:nvPr/>
        </p:nvSpPr>
        <p:spPr>
          <a:xfrm>
            <a:off x="320040" y="3310128"/>
            <a:ext cx="4114800" cy="36576"/>
          </a:xfrm>
          <a:prstGeom prst="rect">
            <a:avLst/>
          </a:prstGeom>
          <a:solidFill>
            <a:srgbClr val="0D7680"/>
          </a:solidFill>
          <a:ln w="12700">
            <a:solidFill>
              <a:srgbClr val="0D7680"/>
            </a:solidFill>
            <a:prstDash val="solid"/>
          </a:ln>
        </p:spPr>
        <p:txBody>
          <a:bodyPr/>
          <a:lstStyle/>
          <a:p>
            <a:endParaRPr lang="fr-FR" noProof="0" dirty="0"/>
          </a:p>
        </p:txBody>
      </p:sp>
      <p:sp>
        <p:nvSpPr>
          <p:cNvPr id="9" name="Text 7"/>
          <p:cNvSpPr/>
          <p:nvPr/>
        </p:nvSpPr>
        <p:spPr>
          <a:xfrm>
            <a:off x="320040" y="3419856"/>
            <a:ext cx="5303520" cy="310896"/>
          </a:xfrm>
          <a:prstGeom prst="rect">
            <a:avLst/>
          </a:prstGeom>
          <a:noFill/>
          <a:ln/>
        </p:spPr>
        <p:txBody>
          <a:bodyPr wrap="square" lIns="0" tIns="0" rIns="0" bIns="0" rtlCol="0" anchor="ctr"/>
          <a:lstStyle/>
          <a:p>
            <a:pPr marL="0" indent="0">
              <a:buNone/>
            </a:pPr>
            <a:r>
              <a:rPr lang="fr-FR" sz="1150" noProof="0" dirty="0">
                <a:solidFill>
                  <a:srgbClr val="B8C8D8"/>
                </a:solidFill>
              </a:rPr>
              <a:t>Organisme d'accueil : </a:t>
            </a:r>
            <a:r>
              <a:rPr lang="fr-FR" sz="1150" b="1" noProof="0" dirty="0" err="1">
                <a:solidFill>
                  <a:srgbClr val="FFFFFF"/>
                </a:solidFill>
              </a:rPr>
              <a:t>Aziin</a:t>
            </a:r>
            <a:r>
              <a:rPr lang="fr-FR" sz="1150" b="1" noProof="0" dirty="0">
                <a:solidFill>
                  <a:srgbClr val="FFFFFF"/>
                </a:solidFill>
              </a:rPr>
              <a:t> Engineering Solution, Sfax</a:t>
            </a:r>
            <a:endParaRPr lang="fr-FR" sz="1150" noProof="0" dirty="0"/>
          </a:p>
        </p:txBody>
      </p:sp>
      <p:sp>
        <p:nvSpPr>
          <p:cNvPr id="10" name="Text 8"/>
          <p:cNvSpPr/>
          <p:nvPr/>
        </p:nvSpPr>
        <p:spPr>
          <a:xfrm>
            <a:off x="320040" y="3749040"/>
            <a:ext cx="5303520" cy="310896"/>
          </a:xfrm>
          <a:prstGeom prst="rect">
            <a:avLst/>
          </a:prstGeom>
          <a:noFill/>
          <a:ln/>
        </p:spPr>
        <p:txBody>
          <a:bodyPr wrap="square" lIns="0" tIns="0" rIns="0" bIns="0" rtlCol="0" anchor="ctr"/>
          <a:lstStyle/>
          <a:p>
            <a:pPr marL="0" indent="0">
              <a:buNone/>
            </a:pPr>
            <a:r>
              <a:rPr lang="fr-FR" sz="1150" noProof="0" dirty="0">
                <a:solidFill>
                  <a:srgbClr val="B8C8D8"/>
                </a:solidFill>
              </a:rPr>
              <a:t>Élaboré par : </a:t>
            </a:r>
            <a:r>
              <a:rPr lang="fr-FR" sz="1150" b="1" noProof="0" dirty="0" err="1">
                <a:solidFill>
                  <a:srgbClr val="FFFFFF"/>
                </a:solidFill>
              </a:rPr>
              <a:t>Gdoura</a:t>
            </a:r>
            <a:r>
              <a:rPr lang="fr-FR" sz="1150" b="1" noProof="0" dirty="0">
                <a:solidFill>
                  <a:srgbClr val="FFFFFF"/>
                </a:solidFill>
              </a:rPr>
              <a:t> Karim</a:t>
            </a:r>
            <a:endParaRPr lang="fr-FR" sz="1150" noProof="0" dirty="0"/>
          </a:p>
        </p:txBody>
      </p:sp>
      <p:sp>
        <p:nvSpPr>
          <p:cNvPr id="11" name="Text 9"/>
          <p:cNvSpPr/>
          <p:nvPr/>
        </p:nvSpPr>
        <p:spPr>
          <a:xfrm>
            <a:off x="320040" y="4078224"/>
            <a:ext cx="5303520" cy="310896"/>
          </a:xfrm>
          <a:prstGeom prst="rect">
            <a:avLst/>
          </a:prstGeom>
          <a:noFill/>
          <a:ln/>
        </p:spPr>
        <p:txBody>
          <a:bodyPr wrap="square" lIns="0" tIns="0" rIns="0" bIns="0" rtlCol="0" anchor="ctr"/>
          <a:lstStyle/>
          <a:p>
            <a:pPr marL="0" indent="0">
              <a:buNone/>
            </a:pPr>
            <a:r>
              <a:rPr lang="fr-FR" sz="1150" noProof="0" dirty="0">
                <a:solidFill>
                  <a:srgbClr val="B8C8D8"/>
                </a:solidFill>
              </a:rPr>
              <a:t>Encadrant : </a:t>
            </a:r>
            <a:r>
              <a:rPr lang="fr-FR" sz="1150" b="1" noProof="0" dirty="0">
                <a:solidFill>
                  <a:srgbClr val="FFFFFF"/>
                </a:solidFill>
              </a:rPr>
              <a:t>M. Iskandar </a:t>
            </a:r>
            <a:r>
              <a:rPr lang="fr-FR" sz="1150" b="1" noProof="0" dirty="0" err="1">
                <a:solidFill>
                  <a:srgbClr val="FFFFFF"/>
                </a:solidFill>
              </a:rPr>
              <a:t>Keskes</a:t>
            </a:r>
            <a:endParaRPr lang="fr-FR" sz="1150" noProof="0" dirty="0"/>
          </a:p>
        </p:txBody>
      </p:sp>
      <p:sp>
        <p:nvSpPr>
          <p:cNvPr id="12" name="Text 10"/>
          <p:cNvSpPr/>
          <p:nvPr/>
        </p:nvSpPr>
        <p:spPr>
          <a:xfrm>
            <a:off x="1554480" y="4630928"/>
            <a:ext cx="5303520" cy="310896"/>
          </a:xfrm>
          <a:prstGeom prst="rect">
            <a:avLst/>
          </a:prstGeom>
          <a:noFill/>
          <a:ln/>
        </p:spPr>
        <p:txBody>
          <a:bodyPr wrap="square" lIns="0" tIns="0" rIns="0" bIns="0" rtlCol="0" anchor="ctr"/>
          <a:lstStyle/>
          <a:p>
            <a:pPr marL="0" indent="0" algn="ctr">
              <a:buNone/>
            </a:pPr>
            <a:r>
              <a:rPr lang="fr-FR" sz="1150" noProof="0" dirty="0">
                <a:solidFill>
                  <a:srgbClr val="B8C8D8"/>
                </a:solidFill>
              </a:rPr>
              <a:t>Année universitaire : </a:t>
            </a:r>
            <a:r>
              <a:rPr lang="fr-FR" sz="1150" b="1" noProof="0" dirty="0">
                <a:solidFill>
                  <a:srgbClr val="FFFFFF"/>
                </a:solidFill>
              </a:rPr>
              <a:t>2025–2026</a:t>
            </a:r>
            <a:endParaRPr lang="fr-FR" sz="1150" noProof="0" dirty="0"/>
          </a:p>
        </p:txBody>
      </p:sp>
      <p:grpSp>
        <p:nvGrpSpPr>
          <p:cNvPr id="20" name="Groupe 19">
            <a:extLst>
              <a:ext uri="{FF2B5EF4-FFF2-40B4-BE49-F238E27FC236}">
                <a16:creationId xmlns:a16="http://schemas.microsoft.com/office/drawing/2014/main" id="{EEFCFA7A-BA90-2877-A541-F4BBE1C2ED37}"/>
              </a:ext>
            </a:extLst>
          </p:cNvPr>
          <p:cNvGrpSpPr/>
          <p:nvPr/>
        </p:nvGrpSpPr>
        <p:grpSpPr>
          <a:xfrm>
            <a:off x="182880" y="172790"/>
            <a:ext cx="1158240" cy="1116246"/>
            <a:chOff x="45720" y="53557"/>
            <a:chExt cx="1158240" cy="1116246"/>
          </a:xfrm>
        </p:grpSpPr>
        <p:sp>
          <p:nvSpPr>
            <p:cNvPr id="17" name="Ellipse 16">
              <a:extLst>
                <a:ext uri="{FF2B5EF4-FFF2-40B4-BE49-F238E27FC236}">
                  <a16:creationId xmlns:a16="http://schemas.microsoft.com/office/drawing/2014/main" id="{484F6D29-7DF7-BBA7-309B-52C1A320F0F7}"/>
                </a:ext>
              </a:extLst>
            </p:cNvPr>
            <p:cNvSpPr/>
            <p:nvPr/>
          </p:nvSpPr>
          <p:spPr>
            <a:xfrm>
              <a:off x="45720" y="53557"/>
              <a:ext cx="1158240" cy="111624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pic>
          <p:nvPicPr>
            <p:cNvPr id="15" name="Image 14">
              <a:extLst>
                <a:ext uri="{FF2B5EF4-FFF2-40B4-BE49-F238E27FC236}">
                  <a16:creationId xmlns:a16="http://schemas.microsoft.com/office/drawing/2014/main" id="{80AE8344-F1C3-9E75-FE89-2BF033062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148" y="194465"/>
              <a:ext cx="799384" cy="834429"/>
            </a:xfrm>
            <a:prstGeom prst="rect">
              <a:avLst/>
            </a:prstGeom>
          </p:spPr>
        </p:pic>
      </p:grpSp>
      <p:grpSp>
        <p:nvGrpSpPr>
          <p:cNvPr id="19" name="Groupe 18">
            <a:extLst>
              <a:ext uri="{FF2B5EF4-FFF2-40B4-BE49-F238E27FC236}">
                <a16:creationId xmlns:a16="http://schemas.microsoft.com/office/drawing/2014/main" id="{5C689531-1222-47D8-652E-30A52BF0648C}"/>
              </a:ext>
            </a:extLst>
          </p:cNvPr>
          <p:cNvGrpSpPr/>
          <p:nvPr/>
        </p:nvGrpSpPr>
        <p:grpSpPr>
          <a:xfrm>
            <a:off x="7787640" y="156811"/>
            <a:ext cx="1158240" cy="1116246"/>
            <a:chOff x="7057282" y="156811"/>
            <a:chExt cx="1158240" cy="1116246"/>
          </a:xfrm>
        </p:grpSpPr>
        <p:sp>
          <p:nvSpPr>
            <p:cNvPr id="18" name="Ellipse 17">
              <a:extLst>
                <a:ext uri="{FF2B5EF4-FFF2-40B4-BE49-F238E27FC236}">
                  <a16:creationId xmlns:a16="http://schemas.microsoft.com/office/drawing/2014/main" id="{9BF74F4E-A8FE-8056-7C3D-DAB9A9E0A630}"/>
                </a:ext>
              </a:extLst>
            </p:cNvPr>
            <p:cNvSpPr/>
            <p:nvPr/>
          </p:nvSpPr>
          <p:spPr>
            <a:xfrm>
              <a:off x="7057282" y="156811"/>
              <a:ext cx="1158240" cy="111624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Freeform 6">
              <a:extLst>
                <a:ext uri="{FF2B5EF4-FFF2-40B4-BE49-F238E27FC236}">
                  <a16:creationId xmlns:a16="http://schemas.microsoft.com/office/drawing/2014/main" id="{311E8582-78BE-5990-983B-DE658DD67FBD}"/>
                </a:ext>
              </a:extLst>
            </p:cNvPr>
            <p:cNvSpPr/>
            <p:nvPr/>
          </p:nvSpPr>
          <p:spPr>
            <a:xfrm>
              <a:off x="7284156" y="340663"/>
              <a:ext cx="704492" cy="748541"/>
            </a:xfrm>
            <a:custGeom>
              <a:avLst/>
              <a:gdLst/>
              <a:ahLst/>
              <a:cxnLst/>
              <a:rect l="l" t="t" r="r" b="b"/>
              <a:pathLst>
                <a:path w="1788191" h="1812856">
                  <a:moveTo>
                    <a:pt x="0" y="0"/>
                  </a:moveTo>
                  <a:lnTo>
                    <a:pt x="1788191" y="0"/>
                  </a:lnTo>
                  <a:lnTo>
                    <a:pt x="1788191" y="1812855"/>
                  </a:lnTo>
                  <a:lnTo>
                    <a:pt x="0" y="1812855"/>
                  </a:lnTo>
                  <a:lnTo>
                    <a:pt x="0" y="0"/>
                  </a:lnTo>
                  <a:close/>
                </a:path>
              </a:pathLst>
            </a:custGeom>
            <a:blipFill>
              <a:blip r:embed="rId4"/>
              <a:stretch>
                <a:fillRect/>
              </a:stretch>
            </a:blipFill>
          </p:spPr>
          <p:txBody>
            <a:bodyPr/>
            <a:lstStyle/>
            <a:p>
              <a:endParaRPr lang="fr-FR" noProof="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800" b="1" noProof="0" dirty="0">
                <a:solidFill>
                  <a:srgbClr val="FFFFFF"/>
                </a:solidFill>
              </a:rPr>
              <a:t>PLAN DE LA PRÉSENTATION</a:t>
            </a:r>
            <a:endParaRPr lang="fr-FR" sz="1800" noProof="0" dirty="0"/>
          </a:p>
        </p:txBody>
      </p:sp>
      <p:sp>
        <p:nvSpPr>
          <p:cNvPr id="5" name="Shape 3"/>
          <p:cNvSpPr/>
          <p:nvPr/>
        </p:nvSpPr>
        <p:spPr>
          <a:xfrm>
            <a:off x="256032" y="914400"/>
            <a:ext cx="2029968" cy="2029968"/>
          </a:xfrm>
          <a:prstGeom prst="rect">
            <a:avLst/>
          </a:prstGeom>
          <a:solidFill>
            <a:srgbClr val="1A2C56"/>
          </a:solidFill>
          <a:ln w="12700">
            <a:solidFill>
              <a:srgbClr val="1A2C56"/>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6" name="Text 4"/>
          <p:cNvSpPr/>
          <p:nvPr/>
        </p:nvSpPr>
        <p:spPr>
          <a:xfrm>
            <a:off x="256032" y="969264"/>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1</a:t>
            </a:r>
            <a:endParaRPr lang="fr-FR" sz="3000" noProof="0" dirty="0">
              <a:solidFill>
                <a:schemeClr val="bg1"/>
              </a:solidFill>
            </a:endParaRPr>
          </a:p>
        </p:txBody>
      </p:sp>
      <p:sp>
        <p:nvSpPr>
          <p:cNvPr id="7" name="Shape 5"/>
          <p:cNvSpPr/>
          <p:nvPr/>
        </p:nvSpPr>
        <p:spPr>
          <a:xfrm>
            <a:off x="457200" y="1645920"/>
            <a:ext cx="1627632" cy="32918"/>
          </a:xfrm>
          <a:prstGeom prst="rect">
            <a:avLst/>
          </a:prstGeom>
          <a:solidFill>
            <a:schemeClr val="bg1"/>
          </a:solidFill>
          <a:ln w="12700">
            <a:noFill/>
            <a:prstDash val="solid"/>
          </a:ln>
        </p:spPr>
        <p:txBody>
          <a:bodyPr/>
          <a:lstStyle/>
          <a:p>
            <a:endParaRPr lang="fr-FR" noProof="0" dirty="0"/>
          </a:p>
        </p:txBody>
      </p:sp>
      <p:sp>
        <p:nvSpPr>
          <p:cNvPr id="8" name="Text 6"/>
          <p:cNvSpPr/>
          <p:nvPr/>
        </p:nvSpPr>
        <p:spPr>
          <a:xfrm>
            <a:off x="356616" y="1856232"/>
            <a:ext cx="1828800" cy="749808"/>
          </a:xfrm>
          <a:prstGeom prst="rect">
            <a:avLst/>
          </a:prstGeom>
          <a:noFill/>
          <a:ln/>
        </p:spPr>
        <p:txBody>
          <a:bodyPr wrap="square" lIns="25400" tIns="25400" rIns="25400" bIns="25400" rtlCol="0" anchor="ctr"/>
          <a:lstStyle/>
          <a:p>
            <a:pPr marL="0" indent="0" algn="ctr">
              <a:buNone/>
            </a:pPr>
            <a:r>
              <a:rPr lang="fr-FR" sz="1600" b="1" noProof="0" dirty="0">
                <a:solidFill>
                  <a:srgbClr val="FFFFFF"/>
                </a:solidFill>
              </a:rPr>
              <a:t>Mise en Contexte</a:t>
            </a:r>
          </a:p>
          <a:p>
            <a:pPr marL="0" indent="0" algn="ctr">
              <a:buNone/>
            </a:pPr>
            <a:r>
              <a:rPr lang="fr-FR" sz="1600" b="1" noProof="0" dirty="0">
                <a:solidFill>
                  <a:srgbClr val="FFFFFF"/>
                </a:solidFill>
              </a:rPr>
              <a:t>&amp; Organisme d'accueil</a:t>
            </a:r>
            <a:endParaRPr lang="fr-FR" sz="1100" noProof="0" dirty="0"/>
          </a:p>
        </p:txBody>
      </p:sp>
      <p:sp>
        <p:nvSpPr>
          <p:cNvPr id="10" name="Shape 8"/>
          <p:cNvSpPr/>
          <p:nvPr/>
        </p:nvSpPr>
        <p:spPr>
          <a:xfrm>
            <a:off x="2432304" y="914400"/>
            <a:ext cx="2029968" cy="2029968"/>
          </a:xfrm>
          <a:prstGeom prst="rect">
            <a:avLst/>
          </a:prstGeom>
          <a:solidFill>
            <a:srgbClr val="0D7680"/>
          </a:solidFill>
          <a:ln w="12700">
            <a:solidFill>
              <a:srgbClr val="0D768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1" name="Text 9"/>
          <p:cNvSpPr/>
          <p:nvPr/>
        </p:nvSpPr>
        <p:spPr>
          <a:xfrm>
            <a:off x="2432304" y="969264"/>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2</a:t>
            </a:r>
            <a:endParaRPr lang="fr-FR" sz="3000" noProof="0" dirty="0">
              <a:solidFill>
                <a:schemeClr val="bg1"/>
              </a:solidFill>
            </a:endParaRPr>
          </a:p>
        </p:txBody>
      </p:sp>
      <p:sp>
        <p:nvSpPr>
          <p:cNvPr id="15" name="Shape 13"/>
          <p:cNvSpPr/>
          <p:nvPr/>
        </p:nvSpPr>
        <p:spPr>
          <a:xfrm>
            <a:off x="4608576" y="914400"/>
            <a:ext cx="2029968" cy="2029968"/>
          </a:xfrm>
          <a:prstGeom prst="rect">
            <a:avLst/>
          </a:prstGeom>
          <a:solidFill>
            <a:srgbClr val="1A6B82"/>
          </a:solidFill>
          <a:ln w="12700">
            <a:solidFill>
              <a:srgbClr val="1A6B82"/>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2" name="Shape 10"/>
          <p:cNvSpPr/>
          <p:nvPr/>
        </p:nvSpPr>
        <p:spPr>
          <a:xfrm>
            <a:off x="2633472" y="1645920"/>
            <a:ext cx="1627632" cy="32918"/>
          </a:xfrm>
          <a:prstGeom prst="rect">
            <a:avLst/>
          </a:prstGeom>
          <a:solidFill>
            <a:schemeClr val="bg1"/>
          </a:solidFill>
          <a:ln w="12700">
            <a:noFill/>
            <a:prstDash val="solid"/>
          </a:ln>
        </p:spPr>
        <p:txBody>
          <a:bodyPr/>
          <a:lstStyle/>
          <a:p>
            <a:endParaRPr lang="fr-FR" noProof="0" dirty="0"/>
          </a:p>
        </p:txBody>
      </p:sp>
      <p:sp>
        <p:nvSpPr>
          <p:cNvPr id="13" name="Text 11"/>
          <p:cNvSpPr/>
          <p:nvPr/>
        </p:nvSpPr>
        <p:spPr>
          <a:xfrm>
            <a:off x="2432304" y="1755648"/>
            <a:ext cx="2029968" cy="749808"/>
          </a:xfrm>
          <a:prstGeom prst="rect">
            <a:avLst/>
          </a:prstGeom>
          <a:noFill/>
          <a:ln/>
        </p:spPr>
        <p:txBody>
          <a:bodyPr wrap="square" lIns="25400" tIns="25400" rIns="25400" bIns="25400" rtlCol="0" anchor="ctr"/>
          <a:lstStyle/>
          <a:p>
            <a:pPr marL="0" indent="0" algn="ctr">
              <a:buNone/>
            </a:pPr>
            <a:r>
              <a:rPr lang="fr-FR" b="1" noProof="0" dirty="0">
                <a:solidFill>
                  <a:srgbClr val="FFFFFF"/>
                </a:solidFill>
              </a:rPr>
              <a:t>Problématique</a:t>
            </a:r>
            <a:endParaRPr lang="fr-FR" noProof="0" dirty="0"/>
          </a:p>
        </p:txBody>
      </p:sp>
      <p:sp>
        <p:nvSpPr>
          <p:cNvPr id="16" name="Text 14"/>
          <p:cNvSpPr/>
          <p:nvPr/>
        </p:nvSpPr>
        <p:spPr>
          <a:xfrm>
            <a:off x="4608576" y="969264"/>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3</a:t>
            </a:r>
            <a:endParaRPr lang="fr-FR" sz="3000" noProof="0" dirty="0">
              <a:solidFill>
                <a:schemeClr val="bg1"/>
              </a:solidFill>
            </a:endParaRPr>
          </a:p>
        </p:txBody>
      </p:sp>
      <p:sp>
        <p:nvSpPr>
          <p:cNvPr id="17" name="Shape 15"/>
          <p:cNvSpPr/>
          <p:nvPr/>
        </p:nvSpPr>
        <p:spPr>
          <a:xfrm>
            <a:off x="4809744" y="1645920"/>
            <a:ext cx="1627632" cy="32918"/>
          </a:xfrm>
          <a:prstGeom prst="rect">
            <a:avLst/>
          </a:prstGeom>
          <a:solidFill>
            <a:schemeClr val="bg1"/>
          </a:solidFill>
          <a:ln w="12700">
            <a:noFill/>
            <a:prstDash val="solid"/>
          </a:ln>
        </p:spPr>
        <p:txBody>
          <a:bodyPr/>
          <a:lstStyle/>
          <a:p>
            <a:endParaRPr lang="fr-FR" noProof="0" dirty="0"/>
          </a:p>
        </p:txBody>
      </p:sp>
      <p:sp>
        <p:nvSpPr>
          <p:cNvPr id="18" name="Text 16"/>
          <p:cNvSpPr/>
          <p:nvPr/>
        </p:nvSpPr>
        <p:spPr>
          <a:xfrm>
            <a:off x="4608576" y="1740950"/>
            <a:ext cx="2029968" cy="749808"/>
          </a:xfrm>
          <a:prstGeom prst="rect">
            <a:avLst/>
          </a:prstGeom>
          <a:noFill/>
          <a:ln/>
        </p:spPr>
        <p:txBody>
          <a:bodyPr wrap="square" lIns="25400" tIns="25400" rIns="25400" bIns="25400" rtlCol="0" anchor="ctr"/>
          <a:lstStyle/>
          <a:p>
            <a:pPr marL="0" indent="0" algn="ctr">
              <a:buNone/>
            </a:pPr>
            <a:r>
              <a:rPr lang="fr-FR" sz="1600" b="1" noProof="0" dirty="0">
                <a:solidFill>
                  <a:srgbClr val="FFFFFF"/>
                </a:solidFill>
              </a:rPr>
              <a:t>Solution Proposée</a:t>
            </a:r>
            <a:endParaRPr lang="fr-FR" sz="1600" noProof="0" dirty="0"/>
          </a:p>
          <a:p>
            <a:pPr marL="0" indent="0" algn="ctr">
              <a:buNone/>
            </a:pPr>
            <a:r>
              <a:rPr lang="fr-FR" sz="1600" b="1" noProof="0" dirty="0">
                <a:solidFill>
                  <a:srgbClr val="FFFFFF"/>
                </a:solidFill>
              </a:rPr>
              <a:t>&amp; Avantages</a:t>
            </a:r>
            <a:endParaRPr lang="fr-FR" sz="1600" noProof="0" dirty="0"/>
          </a:p>
        </p:txBody>
      </p:sp>
      <p:sp>
        <p:nvSpPr>
          <p:cNvPr id="20" name="Shape 18"/>
          <p:cNvSpPr/>
          <p:nvPr/>
        </p:nvSpPr>
        <p:spPr>
          <a:xfrm>
            <a:off x="6784848" y="914400"/>
            <a:ext cx="2029968" cy="2029968"/>
          </a:xfrm>
          <a:prstGeom prst="rect">
            <a:avLst/>
          </a:prstGeom>
          <a:solidFill>
            <a:srgbClr val="145F70"/>
          </a:solidFill>
          <a:ln w="12700">
            <a:solidFill>
              <a:srgbClr val="145F7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1" name="Text 19"/>
          <p:cNvSpPr/>
          <p:nvPr/>
        </p:nvSpPr>
        <p:spPr>
          <a:xfrm>
            <a:off x="6784848" y="969264"/>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4</a:t>
            </a:r>
            <a:endParaRPr lang="fr-FR" sz="3000" noProof="0" dirty="0">
              <a:solidFill>
                <a:schemeClr val="bg1"/>
              </a:solidFill>
            </a:endParaRPr>
          </a:p>
        </p:txBody>
      </p:sp>
      <p:sp>
        <p:nvSpPr>
          <p:cNvPr id="22" name="Shape 20"/>
          <p:cNvSpPr/>
          <p:nvPr/>
        </p:nvSpPr>
        <p:spPr>
          <a:xfrm>
            <a:off x="6986016" y="1645920"/>
            <a:ext cx="1627632" cy="32918"/>
          </a:xfrm>
          <a:prstGeom prst="rect">
            <a:avLst/>
          </a:prstGeom>
          <a:solidFill>
            <a:schemeClr val="bg1"/>
          </a:solidFill>
          <a:ln w="12700">
            <a:noFill/>
            <a:prstDash val="solid"/>
          </a:ln>
        </p:spPr>
        <p:txBody>
          <a:bodyPr/>
          <a:lstStyle/>
          <a:p>
            <a:endParaRPr lang="fr-FR" noProof="0" dirty="0"/>
          </a:p>
        </p:txBody>
      </p:sp>
      <p:sp>
        <p:nvSpPr>
          <p:cNvPr id="23" name="Text 21"/>
          <p:cNvSpPr/>
          <p:nvPr/>
        </p:nvSpPr>
        <p:spPr>
          <a:xfrm>
            <a:off x="6784848" y="1700784"/>
            <a:ext cx="2029968" cy="749808"/>
          </a:xfrm>
          <a:prstGeom prst="rect">
            <a:avLst/>
          </a:prstGeom>
          <a:noFill/>
          <a:ln/>
        </p:spPr>
        <p:txBody>
          <a:bodyPr wrap="square" lIns="25400" tIns="25400" rIns="25400" bIns="25400" rtlCol="0" anchor="ctr"/>
          <a:lstStyle/>
          <a:p>
            <a:pPr marL="0" indent="0" algn="ctr">
              <a:buNone/>
            </a:pPr>
            <a:r>
              <a:rPr lang="fr-FR" b="1" noProof="0" dirty="0">
                <a:solidFill>
                  <a:srgbClr val="FFFFFF"/>
                </a:solidFill>
              </a:rPr>
              <a:t>Cas d'Utilisation</a:t>
            </a:r>
            <a:endParaRPr lang="fr-FR" noProof="0" dirty="0"/>
          </a:p>
        </p:txBody>
      </p:sp>
      <p:sp>
        <p:nvSpPr>
          <p:cNvPr id="25" name="Shape 23"/>
          <p:cNvSpPr/>
          <p:nvPr/>
        </p:nvSpPr>
        <p:spPr>
          <a:xfrm>
            <a:off x="256032" y="3053283"/>
            <a:ext cx="2029968" cy="2029968"/>
          </a:xfrm>
          <a:prstGeom prst="rect">
            <a:avLst/>
          </a:prstGeom>
          <a:solidFill>
            <a:srgbClr val="0A4F5E"/>
          </a:solidFill>
          <a:ln w="12700">
            <a:solidFill>
              <a:srgbClr val="0A4F5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6" name="Text 24"/>
          <p:cNvSpPr/>
          <p:nvPr/>
        </p:nvSpPr>
        <p:spPr>
          <a:xfrm>
            <a:off x="256032" y="3108147"/>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5</a:t>
            </a:r>
            <a:endParaRPr lang="fr-FR" sz="3000" noProof="0" dirty="0">
              <a:solidFill>
                <a:schemeClr val="bg1"/>
              </a:solidFill>
            </a:endParaRPr>
          </a:p>
        </p:txBody>
      </p:sp>
      <p:sp>
        <p:nvSpPr>
          <p:cNvPr id="27" name="Shape 25"/>
          <p:cNvSpPr/>
          <p:nvPr/>
        </p:nvSpPr>
        <p:spPr>
          <a:xfrm>
            <a:off x="256032" y="3784803"/>
            <a:ext cx="1627632" cy="32918"/>
          </a:xfrm>
          <a:prstGeom prst="rect">
            <a:avLst/>
          </a:prstGeom>
          <a:solidFill>
            <a:schemeClr val="bg1"/>
          </a:solidFill>
          <a:ln w="12700">
            <a:noFill/>
            <a:prstDash val="solid"/>
          </a:ln>
        </p:spPr>
        <p:txBody>
          <a:bodyPr/>
          <a:lstStyle/>
          <a:p>
            <a:endParaRPr lang="fr-FR" noProof="0" dirty="0"/>
          </a:p>
        </p:txBody>
      </p:sp>
      <p:sp>
        <p:nvSpPr>
          <p:cNvPr id="28" name="Text 26"/>
          <p:cNvSpPr/>
          <p:nvPr/>
        </p:nvSpPr>
        <p:spPr>
          <a:xfrm>
            <a:off x="256032" y="3839667"/>
            <a:ext cx="2029968" cy="749808"/>
          </a:xfrm>
          <a:prstGeom prst="rect">
            <a:avLst/>
          </a:prstGeom>
          <a:noFill/>
          <a:ln/>
        </p:spPr>
        <p:txBody>
          <a:bodyPr wrap="square" lIns="25400" tIns="25400" rIns="25400" bIns="25400" rtlCol="0" anchor="ctr"/>
          <a:lstStyle/>
          <a:p>
            <a:pPr marL="0" indent="0" algn="ctr">
              <a:buNone/>
            </a:pPr>
            <a:r>
              <a:rPr lang="fr-FR" sz="1600" b="1" noProof="0" dirty="0">
                <a:solidFill>
                  <a:srgbClr val="FFFFFF"/>
                </a:solidFill>
              </a:rPr>
              <a:t>Modèle du Domaine</a:t>
            </a:r>
            <a:endParaRPr lang="fr-FR" sz="1600" noProof="0" dirty="0"/>
          </a:p>
        </p:txBody>
      </p:sp>
      <p:sp>
        <p:nvSpPr>
          <p:cNvPr id="30" name="Shape 28"/>
          <p:cNvSpPr/>
          <p:nvPr/>
        </p:nvSpPr>
        <p:spPr>
          <a:xfrm>
            <a:off x="2432304" y="3053283"/>
            <a:ext cx="2029968" cy="2029968"/>
          </a:xfrm>
          <a:prstGeom prst="rect">
            <a:avLst/>
          </a:prstGeom>
          <a:solidFill>
            <a:schemeClr val="accent5">
              <a:lumMod val="50000"/>
            </a:schemeClr>
          </a:solidFill>
          <a:ln w="12700">
            <a:solidFill>
              <a:srgbClr val="7D3C98"/>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31" name="Text 29"/>
          <p:cNvSpPr/>
          <p:nvPr/>
        </p:nvSpPr>
        <p:spPr>
          <a:xfrm>
            <a:off x="2432304" y="3108147"/>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6</a:t>
            </a:r>
            <a:endParaRPr lang="fr-FR" sz="3000" noProof="0" dirty="0">
              <a:solidFill>
                <a:schemeClr val="bg1"/>
              </a:solidFill>
            </a:endParaRPr>
          </a:p>
        </p:txBody>
      </p:sp>
      <p:sp>
        <p:nvSpPr>
          <p:cNvPr id="32" name="Shape 30"/>
          <p:cNvSpPr/>
          <p:nvPr/>
        </p:nvSpPr>
        <p:spPr>
          <a:xfrm>
            <a:off x="2432304" y="3784803"/>
            <a:ext cx="1627632" cy="32918"/>
          </a:xfrm>
          <a:prstGeom prst="rect">
            <a:avLst/>
          </a:prstGeom>
          <a:solidFill>
            <a:schemeClr val="bg1"/>
          </a:solidFill>
          <a:ln w="12700">
            <a:noFill/>
            <a:prstDash val="solid"/>
          </a:ln>
        </p:spPr>
        <p:txBody>
          <a:bodyPr/>
          <a:lstStyle/>
          <a:p>
            <a:endParaRPr lang="fr-FR" noProof="0" dirty="0"/>
          </a:p>
        </p:txBody>
      </p:sp>
      <p:sp>
        <p:nvSpPr>
          <p:cNvPr id="33" name="Text 31"/>
          <p:cNvSpPr/>
          <p:nvPr/>
        </p:nvSpPr>
        <p:spPr>
          <a:xfrm>
            <a:off x="2432304" y="3839667"/>
            <a:ext cx="2029968" cy="749808"/>
          </a:xfrm>
          <a:prstGeom prst="rect">
            <a:avLst/>
          </a:prstGeom>
          <a:noFill/>
          <a:ln/>
        </p:spPr>
        <p:txBody>
          <a:bodyPr wrap="square" lIns="25400" tIns="25400" rIns="25400" bIns="25400" rtlCol="0" anchor="ctr"/>
          <a:lstStyle/>
          <a:p>
            <a:pPr marL="0" indent="0" algn="ctr">
              <a:buNone/>
            </a:pPr>
            <a:r>
              <a:rPr lang="fr-FR" b="1" noProof="0" dirty="0">
                <a:solidFill>
                  <a:srgbClr val="FFFFFF"/>
                </a:solidFill>
              </a:rPr>
              <a:t>Architecture</a:t>
            </a:r>
            <a:endParaRPr lang="fr-FR" noProof="0" dirty="0"/>
          </a:p>
          <a:p>
            <a:pPr marL="0" indent="0" algn="ctr">
              <a:buNone/>
            </a:pPr>
            <a:r>
              <a:rPr lang="fr-FR" b="1" noProof="0" dirty="0">
                <a:solidFill>
                  <a:srgbClr val="FFFFFF"/>
                </a:solidFill>
              </a:rPr>
              <a:t>&amp; Technologies</a:t>
            </a:r>
            <a:endParaRPr lang="fr-FR" noProof="0" dirty="0"/>
          </a:p>
        </p:txBody>
      </p:sp>
      <p:sp>
        <p:nvSpPr>
          <p:cNvPr id="35" name="Shape 33"/>
          <p:cNvSpPr/>
          <p:nvPr/>
        </p:nvSpPr>
        <p:spPr>
          <a:xfrm>
            <a:off x="4608576" y="3053283"/>
            <a:ext cx="2029968" cy="2029968"/>
          </a:xfrm>
          <a:prstGeom prst="rect">
            <a:avLst/>
          </a:prstGeom>
          <a:solidFill>
            <a:srgbClr val="2C3E50"/>
          </a:solidFill>
          <a:ln w="12700">
            <a:solidFill>
              <a:srgbClr val="2C3E5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36" name="Text 34"/>
          <p:cNvSpPr/>
          <p:nvPr/>
        </p:nvSpPr>
        <p:spPr>
          <a:xfrm>
            <a:off x="4608576" y="3108147"/>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7</a:t>
            </a:r>
            <a:endParaRPr lang="fr-FR" sz="3000" noProof="0" dirty="0">
              <a:solidFill>
                <a:schemeClr val="bg1"/>
              </a:solidFill>
            </a:endParaRPr>
          </a:p>
        </p:txBody>
      </p:sp>
      <p:sp>
        <p:nvSpPr>
          <p:cNvPr id="37" name="Shape 35"/>
          <p:cNvSpPr/>
          <p:nvPr/>
        </p:nvSpPr>
        <p:spPr>
          <a:xfrm>
            <a:off x="4608576" y="3784803"/>
            <a:ext cx="1627632" cy="32918"/>
          </a:xfrm>
          <a:prstGeom prst="rect">
            <a:avLst/>
          </a:prstGeom>
          <a:solidFill>
            <a:schemeClr val="bg1"/>
          </a:solidFill>
          <a:ln w="12700">
            <a:noFill/>
            <a:prstDash val="solid"/>
          </a:ln>
        </p:spPr>
        <p:txBody>
          <a:bodyPr/>
          <a:lstStyle/>
          <a:p>
            <a:endParaRPr lang="fr-FR" noProof="0" dirty="0"/>
          </a:p>
        </p:txBody>
      </p:sp>
      <p:sp>
        <p:nvSpPr>
          <p:cNvPr id="38" name="Text 36"/>
          <p:cNvSpPr/>
          <p:nvPr/>
        </p:nvSpPr>
        <p:spPr>
          <a:xfrm>
            <a:off x="4608576" y="3839667"/>
            <a:ext cx="2029968" cy="749808"/>
          </a:xfrm>
          <a:prstGeom prst="rect">
            <a:avLst/>
          </a:prstGeom>
          <a:noFill/>
          <a:ln/>
        </p:spPr>
        <p:txBody>
          <a:bodyPr wrap="square" lIns="25400" tIns="25400" rIns="25400" bIns="25400" rtlCol="0" anchor="ctr"/>
          <a:lstStyle/>
          <a:p>
            <a:pPr marL="0" indent="0" algn="ctr">
              <a:buNone/>
            </a:pPr>
            <a:r>
              <a:rPr lang="fr-FR" b="1" noProof="0" dirty="0">
                <a:solidFill>
                  <a:srgbClr val="FFFFFF"/>
                </a:solidFill>
              </a:rPr>
              <a:t>Réalisation</a:t>
            </a:r>
            <a:endParaRPr lang="fr-FR" noProof="0" dirty="0"/>
          </a:p>
        </p:txBody>
      </p:sp>
      <p:sp>
        <p:nvSpPr>
          <p:cNvPr id="9" name="Shape 33"/>
          <p:cNvSpPr/>
          <p:nvPr/>
        </p:nvSpPr>
        <p:spPr>
          <a:xfrm>
            <a:off x="6784848" y="3053283"/>
            <a:ext cx="2029968" cy="2029968"/>
          </a:xfrm>
          <a:prstGeom prst="rect">
            <a:avLst/>
          </a:prstGeom>
          <a:solidFill>
            <a:srgbClr val="2C3E50"/>
          </a:solidFill>
          <a:ln w="12700">
            <a:solidFill>
              <a:srgbClr val="2C3E5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4" name="Text 34"/>
          <p:cNvSpPr/>
          <p:nvPr/>
        </p:nvSpPr>
        <p:spPr>
          <a:xfrm>
            <a:off x="6784848" y="3108147"/>
            <a:ext cx="2029968" cy="658368"/>
          </a:xfrm>
          <a:prstGeom prst="rect">
            <a:avLst/>
          </a:prstGeom>
          <a:noFill/>
          <a:ln/>
        </p:spPr>
        <p:txBody>
          <a:bodyPr wrap="square" lIns="0" tIns="0" rIns="0" bIns="0" rtlCol="0" anchor="ctr"/>
          <a:lstStyle/>
          <a:p>
            <a:pPr marL="0" indent="0" algn="ctr">
              <a:buNone/>
            </a:pPr>
            <a:r>
              <a:rPr lang="fr-FR" sz="3000" b="1" noProof="0" dirty="0">
                <a:solidFill>
                  <a:schemeClr val="bg1"/>
                </a:solidFill>
              </a:rPr>
              <a:t>8</a:t>
            </a:r>
            <a:endParaRPr lang="fr-FR" sz="3000" noProof="0" dirty="0">
              <a:solidFill>
                <a:schemeClr val="bg1"/>
              </a:solidFill>
            </a:endParaRPr>
          </a:p>
        </p:txBody>
      </p:sp>
      <p:sp>
        <p:nvSpPr>
          <p:cNvPr id="19" name="Shape 35"/>
          <p:cNvSpPr/>
          <p:nvPr/>
        </p:nvSpPr>
        <p:spPr>
          <a:xfrm>
            <a:off x="6784848" y="3784803"/>
            <a:ext cx="1627632" cy="32918"/>
          </a:xfrm>
          <a:prstGeom prst="rect">
            <a:avLst/>
          </a:prstGeom>
          <a:solidFill>
            <a:schemeClr val="bg1"/>
          </a:solidFill>
          <a:ln w="12700">
            <a:noFill/>
            <a:prstDash val="solid"/>
          </a:ln>
        </p:spPr>
        <p:txBody>
          <a:bodyPr/>
          <a:lstStyle/>
          <a:p>
            <a:endParaRPr lang="fr-FR" noProof="0" dirty="0"/>
          </a:p>
        </p:txBody>
      </p:sp>
      <p:sp>
        <p:nvSpPr>
          <p:cNvPr id="24" name="Text 36"/>
          <p:cNvSpPr/>
          <p:nvPr/>
        </p:nvSpPr>
        <p:spPr>
          <a:xfrm>
            <a:off x="6784848" y="3839667"/>
            <a:ext cx="2029968" cy="749808"/>
          </a:xfrm>
          <a:prstGeom prst="rect">
            <a:avLst/>
          </a:prstGeom>
          <a:noFill/>
          <a:ln/>
        </p:spPr>
        <p:txBody>
          <a:bodyPr wrap="square" lIns="25400" tIns="25400" rIns="25400" bIns="25400" rtlCol="0" anchor="ctr"/>
          <a:lstStyle/>
          <a:p>
            <a:pPr marL="0" indent="0" algn="ctr">
              <a:buNone/>
            </a:pPr>
            <a:r>
              <a:rPr lang="fr-FR" b="1" noProof="0" dirty="0">
                <a:solidFill>
                  <a:srgbClr val="FFFFFF"/>
                </a:solidFill>
              </a:rPr>
              <a:t>Conclusion</a:t>
            </a:r>
            <a:endParaRPr lang="fr-FR" noProof="0" dirty="0"/>
          </a:p>
        </p:txBody>
      </p:sp>
      <p:sp>
        <p:nvSpPr>
          <p:cNvPr id="9001" name="PageNum1"/>
          <p:cNvSpPr txBox="1"/>
          <p:nvPr/>
        </p:nvSpPr>
        <p:spPr>
          <a:xfrm>
            <a:off x="8423960" y="4956403"/>
            <a:ext cx="800000" cy="200000"/>
          </a:xfrm>
          <a:prstGeom prst="rect">
            <a:avLst/>
          </a:prstGeom>
          <a:noFill/>
        </p:spPr>
        <p:txBody>
          <a:bodyPr anchor="ctr">
            <a:noAutofit/>
          </a:bodyPr>
          <a:lstStyle/>
          <a:p>
            <a:pPr algn="r"/>
            <a:r>
              <a:rPr lang="fr-FR" sz="1000" b="0" dirty="0">
                <a:solidFill>
                  <a:srgbClr val="1A2C56"/>
                </a:solidFill>
              </a:rPr>
              <a:t>1 / 13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BF011-8AAC-EF07-9E87-68BABA7FC4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BAC3927-5119-D723-2922-570DFC92E196}"/>
              </a:ext>
            </a:extLst>
          </p:cNvPr>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a:extLst>
              <a:ext uri="{FF2B5EF4-FFF2-40B4-BE49-F238E27FC236}">
                <a16:creationId xmlns:a16="http://schemas.microsoft.com/office/drawing/2014/main" id="{405510FF-7DF2-ACA5-38D6-32ACE73E3969}"/>
              </a:ext>
            </a:extLst>
          </p:cNvPr>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a:extLst>
              <a:ext uri="{FF2B5EF4-FFF2-40B4-BE49-F238E27FC236}">
                <a16:creationId xmlns:a16="http://schemas.microsoft.com/office/drawing/2014/main" id="{A2D57397-04DA-3D0F-E1D8-8007B707CEEC}"/>
              </a:ext>
            </a:extLst>
          </p:cNvPr>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1  —  MISE EN CONTEXTE &amp; ORGANISME D'ACCUEIL</a:t>
            </a:r>
          </a:p>
        </p:txBody>
      </p:sp>
      <p:sp>
        <p:nvSpPr>
          <p:cNvPr id="5" name="TextBox 4"/>
          <p:cNvSpPr txBox="1"/>
          <p:nvPr/>
        </p:nvSpPr>
        <p:spPr>
          <a:xfrm>
            <a:off x="320040" y="868680"/>
            <a:ext cx="8503920" cy="307777"/>
          </a:xfrm>
          <a:prstGeom prst="rect">
            <a:avLst/>
          </a:prstGeom>
          <a:noFill/>
        </p:spPr>
        <p:txBody>
          <a:bodyPr wrap="square" lIns="91440" tIns="45720" rIns="91440" bIns="45720" anchor="t">
            <a:spAutoFit/>
          </a:bodyPr>
          <a:lstStyle/>
          <a:p>
            <a:pPr algn="l"/>
            <a:r>
              <a:rPr sz="1400" b="1" i="0" dirty="0" err="1">
                <a:solidFill>
                  <a:srgbClr val="1A2C56"/>
                </a:solidFill>
                <a:latin typeface="Calibri"/>
              </a:rPr>
              <a:t>Organisme</a:t>
            </a:r>
            <a:r>
              <a:rPr sz="1400" b="1" i="0" dirty="0">
                <a:solidFill>
                  <a:srgbClr val="1A2C56"/>
                </a:solidFill>
                <a:latin typeface="Calibri"/>
              </a:rPr>
              <a:t> </a:t>
            </a:r>
            <a:r>
              <a:rPr sz="1400" b="1" i="0" dirty="0" err="1">
                <a:solidFill>
                  <a:srgbClr val="1A2C56"/>
                </a:solidFill>
                <a:latin typeface="Calibri"/>
              </a:rPr>
              <a:t>d'accueil</a:t>
            </a:r>
            <a:endParaRPr lang="en-US" sz="1400" b="1" i="0" dirty="0" err="1">
              <a:solidFill>
                <a:srgbClr val="1A2C56"/>
              </a:solidFill>
              <a:latin typeface="Calibri"/>
              <a:ea typeface="Calibri"/>
              <a:cs typeface="Calibri"/>
            </a:endParaRPr>
          </a:p>
        </p:txBody>
      </p:sp>
      <p:sp>
        <p:nvSpPr>
          <p:cNvPr id="6" name="Rectangle 5"/>
          <p:cNvSpPr/>
          <p:nvPr/>
        </p:nvSpPr>
        <p:spPr>
          <a:xfrm>
            <a:off x="320040" y="1261872"/>
            <a:ext cx="4572000" cy="3520440"/>
          </a:xfrm>
          <a:prstGeom prst="rect">
            <a:avLst/>
          </a:prstGeom>
          <a:solidFill>
            <a:srgbClr val="162240"/>
          </a:solidFill>
          <a:ln w="12700">
            <a:solidFill>
              <a:srgbClr val="0D76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261872"/>
            <a:ext cx="4572000" cy="54864"/>
          </a:xfrm>
          <a:prstGeom prst="rect">
            <a:avLst/>
          </a:prstGeom>
          <a:solidFill>
            <a:srgbClr val="0D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353312"/>
            <a:ext cx="4297680" cy="457200"/>
          </a:xfrm>
          <a:prstGeom prst="rect">
            <a:avLst/>
          </a:prstGeom>
          <a:noFill/>
        </p:spPr>
        <p:txBody>
          <a:bodyPr wrap="square">
            <a:spAutoFit/>
          </a:bodyPr>
          <a:lstStyle/>
          <a:p>
            <a:pPr algn="l"/>
            <a:r>
              <a:rPr sz="1500" b="1" i="0">
                <a:solidFill>
                  <a:srgbClr val="16A899"/>
                </a:solidFill>
                <a:latin typeface="Calibri"/>
              </a:rPr>
              <a:t>Aziin Engineering Solution</a:t>
            </a:r>
          </a:p>
        </p:txBody>
      </p:sp>
      <p:sp>
        <p:nvSpPr>
          <p:cNvPr id="9" name="TextBox 8"/>
          <p:cNvSpPr txBox="1"/>
          <p:nvPr/>
        </p:nvSpPr>
        <p:spPr>
          <a:xfrm>
            <a:off x="475488" y="1783080"/>
            <a:ext cx="4297680" cy="276999"/>
          </a:xfrm>
          <a:prstGeom prst="rect">
            <a:avLst/>
          </a:prstGeom>
          <a:noFill/>
        </p:spPr>
        <p:txBody>
          <a:bodyPr wrap="square" lIns="91440" tIns="45720" rIns="91440" bIns="45720" anchor="t">
            <a:spAutoFit/>
          </a:bodyPr>
          <a:lstStyle/>
          <a:p>
            <a:pPr algn="l"/>
            <a:r>
              <a:rPr sz="1200" b="0" i="0" dirty="0">
                <a:solidFill>
                  <a:srgbClr val="B8C8D8"/>
                </a:solidFill>
                <a:latin typeface="Calibri"/>
              </a:rPr>
              <a:t>Sfax, </a:t>
            </a:r>
            <a:r>
              <a:rPr sz="1200" b="0" i="0" dirty="0" err="1">
                <a:solidFill>
                  <a:srgbClr val="B8C8D8"/>
                </a:solidFill>
                <a:latin typeface="Calibri"/>
              </a:rPr>
              <a:t>Tunisie</a:t>
            </a:r>
            <a:endParaRPr lang="en-US" sz="1200" b="0" i="0" dirty="0" err="1">
              <a:solidFill>
                <a:srgbClr val="B8C8D8"/>
              </a:solidFill>
              <a:latin typeface="Calibri"/>
              <a:ea typeface="Calibri"/>
              <a:cs typeface="Calibri"/>
            </a:endParaRPr>
          </a:p>
        </p:txBody>
      </p:sp>
      <p:sp>
        <p:nvSpPr>
          <p:cNvPr id="10" name="TextBox 9"/>
          <p:cNvSpPr txBox="1"/>
          <p:nvPr/>
        </p:nvSpPr>
        <p:spPr>
          <a:xfrm>
            <a:off x="475488" y="2212848"/>
            <a:ext cx="1097280" cy="276999"/>
          </a:xfrm>
          <a:prstGeom prst="rect">
            <a:avLst/>
          </a:prstGeom>
          <a:noFill/>
        </p:spPr>
        <p:txBody>
          <a:bodyPr wrap="square" lIns="91440" tIns="45720" rIns="91440" bIns="45720" anchor="t">
            <a:spAutoFit/>
          </a:bodyPr>
          <a:lstStyle/>
          <a:p>
            <a:pPr algn="l"/>
            <a:r>
              <a:rPr sz="1200" b="1" i="0" dirty="0" err="1">
                <a:solidFill>
                  <a:srgbClr val="16A899"/>
                </a:solidFill>
                <a:latin typeface="Calibri"/>
              </a:rPr>
              <a:t>Activité</a:t>
            </a:r>
            <a:r>
              <a:rPr sz="1200" b="1" i="0" dirty="0">
                <a:solidFill>
                  <a:srgbClr val="16A899"/>
                </a:solidFill>
                <a:latin typeface="Calibri"/>
              </a:rPr>
              <a:t> :</a:t>
            </a:r>
            <a:endParaRPr lang="en-US" sz="1200" b="1" i="0" dirty="0">
              <a:solidFill>
                <a:srgbClr val="16A899"/>
              </a:solidFill>
              <a:latin typeface="Calibri"/>
              <a:ea typeface="Calibri"/>
              <a:cs typeface="Calibri"/>
            </a:endParaRPr>
          </a:p>
        </p:txBody>
      </p:sp>
      <p:sp>
        <p:nvSpPr>
          <p:cNvPr id="11" name="TextBox 10"/>
          <p:cNvSpPr txBox="1"/>
          <p:nvPr/>
        </p:nvSpPr>
        <p:spPr>
          <a:xfrm>
            <a:off x="1627632" y="2212848"/>
            <a:ext cx="3154680" cy="461665"/>
          </a:xfrm>
          <a:prstGeom prst="rect">
            <a:avLst/>
          </a:prstGeom>
          <a:noFill/>
        </p:spPr>
        <p:txBody>
          <a:bodyPr wrap="square" lIns="91440" tIns="45720" rIns="91440" bIns="45720" anchor="t">
            <a:spAutoFit/>
          </a:bodyPr>
          <a:lstStyle/>
          <a:p>
            <a:pPr algn="l"/>
            <a:r>
              <a:rPr sz="1200" b="0" i="0" dirty="0">
                <a:solidFill>
                  <a:srgbClr val="FFFFFF"/>
                </a:solidFill>
                <a:latin typeface="Calibri"/>
              </a:rPr>
              <a:t>Conception et </a:t>
            </a:r>
            <a:r>
              <a:rPr sz="1200" b="0" i="0" dirty="0" err="1">
                <a:solidFill>
                  <a:srgbClr val="FFFFFF"/>
                </a:solidFill>
                <a:latin typeface="Calibri"/>
              </a:rPr>
              <a:t>développement</a:t>
            </a:r>
            <a:r>
              <a:rPr sz="1200" b="0" i="0" dirty="0">
                <a:solidFill>
                  <a:srgbClr val="FFFFFF"/>
                </a:solidFill>
                <a:latin typeface="Calibri"/>
              </a:rPr>
              <a:t> de solutions </a:t>
            </a:r>
            <a:r>
              <a:rPr sz="1200" b="0" i="0" dirty="0" err="1">
                <a:solidFill>
                  <a:srgbClr val="FFFFFF"/>
                </a:solidFill>
                <a:latin typeface="Calibri"/>
              </a:rPr>
              <a:t>informatiques</a:t>
            </a:r>
            <a:r>
              <a:rPr sz="1200" b="0" i="0" dirty="0">
                <a:solidFill>
                  <a:srgbClr val="FFFFFF"/>
                </a:solidFill>
                <a:latin typeface="Calibri"/>
              </a:rPr>
              <a:t> sur </a:t>
            </a:r>
            <a:r>
              <a:rPr sz="1200" b="0" i="0" dirty="0" err="1">
                <a:solidFill>
                  <a:srgbClr val="FFFFFF"/>
                </a:solidFill>
                <a:latin typeface="Calibri"/>
              </a:rPr>
              <a:t>mesure</a:t>
            </a:r>
            <a:endParaRPr lang="en-US" sz="1200" b="0" i="0" dirty="0" err="1">
              <a:solidFill>
                <a:srgbClr val="FFFFFF"/>
              </a:solidFill>
              <a:latin typeface="Calibri"/>
              <a:ea typeface="Calibri"/>
              <a:cs typeface="Calibri"/>
            </a:endParaRPr>
          </a:p>
        </p:txBody>
      </p:sp>
      <p:sp>
        <p:nvSpPr>
          <p:cNvPr id="12" name="TextBox 11"/>
          <p:cNvSpPr txBox="1"/>
          <p:nvPr/>
        </p:nvSpPr>
        <p:spPr>
          <a:xfrm>
            <a:off x="475488" y="2926080"/>
            <a:ext cx="1097280" cy="276999"/>
          </a:xfrm>
          <a:prstGeom prst="rect">
            <a:avLst/>
          </a:prstGeom>
          <a:noFill/>
        </p:spPr>
        <p:txBody>
          <a:bodyPr wrap="square" lIns="91440" tIns="45720" rIns="91440" bIns="45720" anchor="t">
            <a:spAutoFit/>
          </a:bodyPr>
          <a:lstStyle/>
          <a:p>
            <a:pPr algn="l"/>
            <a:r>
              <a:rPr sz="1200" b="1" i="0">
                <a:solidFill>
                  <a:srgbClr val="16A899"/>
                </a:solidFill>
                <a:latin typeface="Calibri"/>
              </a:rPr>
              <a:t>Nature :</a:t>
            </a:r>
            <a:endParaRPr lang="en-US" sz="1200" b="1" i="0">
              <a:solidFill>
                <a:srgbClr val="16A899"/>
              </a:solidFill>
              <a:latin typeface="Calibri"/>
              <a:ea typeface="Calibri"/>
              <a:cs typeface="Calibri"/>
            </a:endParaRPr>
          </a:p>
        </p:txBody>
      </p:sp>
      <p:sp>
        <p:nvSpPr>
          <p:cNvPr id="13" name="TextBox 12"/>
          <p:cNvSpPr txBox="1"/>
          <p:nvPr/>
        </p:nvSpPr>
        <p:spPr>
          <a:xfrm>
            <a:off x="1627632" y="2926080"/>
            <a:ext cx="3154680" cy="461665"/>
          </a:xfrm>
          <a:prstGeom prst="rect">
            <a:avLst/>
          </a:prstGeom>
          <a:noFill/>
        </p:spPr>
        <p:txBody>
          <a:bodyPr wrap="square" lIns="91440" tIns="45720" rIns="91440" bIns="45720" anchor="t">
            <a:spAutoFit/>
          </a:bodyPr>
          <a:lstStyle/>
          <a:p>
            <a:pPr algn="l"/>
            <a:r>
              <a:rPr sz="1200" b="0" i="0" dirty="0">
                <a:solidFill>
                  <a:srgbClr val="FFFFFF"/>
                </a:solidFill>
                <a:latin typeface="Calibri"/>
              </a:rPr>
              <a:t>Société </a:t>
            </a:r>
            <a:r>
              <a:rPr sz="1200" b="0" i="0" dirty="0" err="1">
                <a:solidFill>
                  <a:srgbClr val="FFFFFF"/>
                </a:solidFill>
                <a:latin typeface="Calibri"/>
              </a:rPr>
              <a:t>privée</a:t>
            </a:r>
            <a:r>
              <a:rPr sz="1200" b="0" i="0" dirty="0">
                <a:solidFill>
                  <a:srgbClr val="FFFFFF"/>
                </a:solidFill>
                <a:latin typeface="Calibri"/>
              </a:rPr>
              <a:t> — équipe agile, communication </a:t>
            </a:r>
            <a:r>
              <a:rPr sz="1200" b="0" i="0" dirty="0" err="1">
                <a:solidFill>
                  <a:srgbClr val="FFFFFF"/>
                </a:solidFill>
                <a:latin typeface="Calibri"/>
              </a:rPr>
              <a:t>directe</a:t>
            </a:r>
            <a:endParaRPr lang="en-US" sz="1200" b="0" i="0" dirty="0" err="1">
              <a:solidFill>
                <a:srgbClr val="FFFFFF"/>
              </a:solidFill>
              <a:latin typeface="Calibri"/>
              <a:ea typeface="Calibri"/>
              <a:cs typeface="Calibri"/>
            </a:endParaRPr>
          </a:p>
        </p:txBody>
      </p:sp>
      <p:sp>
        <p:nvSpPr>
          <p:cNvPr id="14" name="TextBox 13"/>
          <p:cNvSpPr txBox="1"/>
          <p:nvPr/>
        </p:nvSpPr>
        <p:spPr>
          <a:xfrm>
            <a:off x="475488" y="3639312"/>
            <a:ext cx="1097280" cy="276999"/>
          </a:xfrm>
          <a:prstGeom prst="rect">
            <a:avLst/>
          </a:prstGeom>
          <a:noFill/>
        </p:spPr>
        <p:txBody>
          <a:bodyPr wrap="square" lIns="91440" tIns="45720" rIns="91440" bIns="45720" anchor="t">
            <a:spAutoFit/>
          </a:bodyPr>
          <a:lstStyle/>
          <a:p>
            <a:pPr algn="l"/>
            <a:r>
              <a:rPr sz="1200" b="1" i="0">
                <a:solidFill>
                  <a:srgbClr val="16A899"/>
                </a:solidFill>
                <a:latin typeface="Calibri"/>
              </a:rPr>
              <a:t>Mission :</a:t>
            </a:r>
            <a:endParaRPr lang="en-US" sz="1200" b="1" i="0">
              <a:solidFill>
                <a:srgbClr val="16A899"/>
              </a:solidFill>
              <a:latin typeface="Calibri"/>
              <a:ea typeface="Calibri"/>
              <a:cs typeface="Calibri"/>
            </a:endParaRPr>
          </a:p>
        </p:txBody>
      </p:sp>
      <p:sp>
        <p:nvSpPr>
          <p:cNvPr id="15" name="TextBox 14"/>
          <p:cNvSpPr txBox="1"/>
          <p:nvPr/>
        </p:nvSpPr>
        <p:spPr>
          <a:xfrm>
            <a:off x="1627632" y="3639312"/>
            <a:ext cx="3154680" cy="461665"/>
          </a:xfrm>
          <a:prstGeom prst="rect">
            <a:avLst/>
          </a:prstGeom>
          <a:noFill/>
        </p:spPr>
        <p:txBody>
          <a:bodyPr wrap="square" lIns="91440" tIns="45720" rIns="91440" bIns="45720" anchor="t">
            <a:spAutoFit/>
          </a:bodyPr>
          <a:lstStyle/>
          <a:p>
            <a:pPr algn="l"/>
            <a:r>
              <a:rPr sz="1200" b="0" i="0" dirty="0">
                <a:solidFill>
                  <a:srgbClr val="FFFFFF"/>
                </a:solidFill>
                <a:latin typeface="Calibri"/>
              </a:rPr>
              <a:t>Porter la </a:t>
            </a:r>
            <a:r>
              <a:rPr sz="1200" b="0" i="0" dirty="0" err="1">
                <a:solidFill>
                  <a:srgbClr val="FFFFFF"/>
                </a:solidFill>
                <a:latin typeface="Calibri"/>
              </a:rPr>
              <a:t>plateforme</a:t>
            </a:r>
            <a:r>
              <a:rPr sz="1200" b="0" i="0" dirty="0">
                <a:solidFill>
                  <a:srgbClr val="FFFFFF"/>
                </a:solidFill>
                <a:latin typeface="Calibri"/>
              </a:rPr>
              <a:t> de </a:t>
            </a:r>
            <a:r>
              <a:rPr sz="1200" b="0" i="0" dirty="0" err="1">
                <a:solidFill>
                  <a:srgbClr val="FFFFFF"/>
                </a:solidFill>
                <a:latin typeface="Calibri"/>
              </a:rPr>
              <a:t>l'expression</a:t>
            </a:r>
            <a:r>
              <a:rPr sz="1200" b="0" i="0" dirty="0">
                <a:solidFill>
                  <a:srgbClr val="FFFFFF"/>
                </a:solidFill>
                <a:latin typeface="Calibri"/>
              </a:rPr>
              <a:t> du </a:t>
            </a:r>
            <a:r>
              <a:rPr sz="1200" b="0" i="0" dirty="0" err="1">
                <a:solidFill>
                  <a:srgbClr val="FFFFFF"/>
                </a:solidFill>
                <a:latin typeface="Calibri"/>
              </a:rPr>
              <a:t>besoin</a:t>
            </a:r>
            <a:r>
              <a:rPr sz="1200" b="0" i="0" dirty="0">
                <a:solidFill>
                  <a:srgbClr val="FFFFFF"/>
                </a:solidFill>
                <a:latin typeface="Calibri"/>
              </a:rPr>
              <a:t> </a:t>
            </a:r>
            <a:r>
              <a:rPr sz="1200" b="0" i="0" dirty="0" err="1">
                <a:solidFill>
                  <a:srgbClr val="FFFFFF"/>
                </a:solidFill>
                <a:latin typeface="Calibri"/>
              </a:rPr>
              <a:t>jusqu'au</a:t>
            </a:r>
            <a:r>
              <a:rPr sz="1200" b="0" i="0" dirty="0">
                <a:solidFill>
                  <a:srgbClr val="FFFFFF"/>
                </a:solidFill>
                <a:latin typeface="Calibri"/>
              </a:rPr>
              <a:t> </a:t>
            </a:r>
            <a:r>
              <a:rPr sz="1200" b="0" i="0" dirty="0" err="1">
                <a:solidFill>
                  <a:srgbClr val="FFFFFF"/>
                </a:solidFill>
                <a:latin typeface="Calibri"/>
              </a:rPr>
              <a:t>produit</a:t>
            </a:r>
            <a:r>
              <a:rPr sz="1200" b="0" i="0" dirty="0">
                <a:solidFill>
                  <a:srgbClr val="FFFFFF"/>
                </a:solidFill>
                <a:latin typeface="Calibri"/>
              </a:rPr>
              <a:t> final </a:t>
            </a:r>
            <a:r>
              <a:rPr sz="1200" b="0" i="0" dirty="0" err="1">
                <a:solidFill>
                  <a:srgbClr val="FFFFFF"/>
                </a:solidFill>
                <a:latin typeface="Calibri"/>
              </a:rPr>
              <a:t>opérationnel</a:t>
            </a:r>
            <a:endParaRPr lang="en-US" sz="1200" b="0" i="0" dirty="0" err="1">
              <a:solidFill>
                <a:srgbClr val="FFFFFF"/>
              </a:solidFill>
              <a:latin typeface="Calibri"/>
              <a:ea typeface="Calibri"/>
              <a:cs typeface="Calibri"/>
            </a:endParaRPr>
          </a:p>
        </p:txBody>
      </p:sp>
      <p:sp>
        <p:nvSpPr>
          <p:cNvPr id="16" name="Rectangle 15"/>
          <p:cNvSpPr/>
          <p:nvPr/>
        </p:nvSpPr>
        <p:spPr>
          <a:xfrm>
            <a:off x="5120640" y="1278680"/>
            <a:ext cx="3715422" cy="3510221"/>
          </a:xfrm>
          <a:prstGeom prst="rect">
            <a:avLst/>
          </a:prstGeom>
          <a:solidFill>
            <a:srgbClr val="0D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120640" y="1261872"/>
            <a:ext cx="3749039" cy="54864"/>
          </a:xfrm>
          <a:prstGeom prst="rect">
            <a:avLst/>
          </a:prstGeom>
          <a:solidFill>
            <a:srgbClr val="16A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57800" y="1335024"/>
            <a:ext cx="3474720" cy="338554"/>
          </a:xfrm>
          <a:prstGeom prst="rect">
            <a:avLst/>
          </a:prstGeom>
          <a:noFill/>
        </p:spPr>
        <p:txBody>
          <a:bodyPr wrap="square" lIns="91440" tIns="45720" rIns="91440" bIns="45720" anchor="t">
            <a:spAutoFit/>
          </a:bodyPr>
          <a:lstStyle/>
          <a:p>
            <a:pPr algn="l"/>
            <a:r>
              <a:rPr sz="1600" b="1" i="0" dirty="0" err="1">
                <a:solidFill>
                  <a:srgbClr val="FFFFFF"/>
                </a:solidFill>
                <a:latin typeface="Calibri"/>
              </a:rPr>
              <a:t>Rôle</a:t>
            </a:r>
            <a:r>
              <a:rPr sz="1600" b="1" i="0" dirty="0">
                <a:solidFill>
                  <a:srgbClr val="FFFFFF"/>
                </a:solidFill>
                <a:latin typeface="Calibri"/>
              </a:rPr>
              <a:t> dans le </a:t>
            </a:r>
            <a:r>
              <a:rPr sz="1600" b="1" i="0" dirty="0" err="1">
                <a:solidFill>
                  <a:srgbClr val="FFFFFF"/>
                </a:solidFill>
                <a:latin typeface="Calibri"/>
              </a:rPr>
              <a:t>projet</a:t>
            </a:r>
            <a:endParaRPr lang="en-US" sz="1600" b="1" i="0" dirty="0" err="1">
              <a:solidFill>
                <a:srgbClr val="FFFFFF"/>
              </a:solidFill>
              <a:latin typeface="Calibri"/>
              <a:ea typeface="Calibri"/>
              <a:cs typeface="Calibri"/>
            </a:endParaRPr>
          </a:p>
        </p:txBody>
      </p:sp>
      <p:sp>
        <p:nvSpPr>
          <p:cNvPr id="19" name="TextBox 18"/>
          <p:cNvSpPr txBox="1"/>
          <p:nvPr/>
        </p:nvSpPr>
        <p:spPr>
          <a:xfrm>
            <a:off x="5255581" y="1703743"/>
            <a:ext cx="3480637" cy="1077218"/>
          </a:xfrm>
          <a:prstGeom prst="rect">
            <a:avLst/>
          </a:prstGeom>
          <a:noFill/>
        </p:spPr>
        <p:txBody>
          <a:bodyPr wrap="square" lIns="91440" tIns="45720" rIns="91440" bIns="45720" anchor="t">
            <a:spAutoFit/>
          </a:bodyPr>
          <a:lstStyle/>
          <a:p>
            <a:pPr algn="l"/>
            <a:r>
              <a:rPr sz="1600" b="0" i="0" dirty="0" err="1">
                <a:solidFill>
                  <a:srgbClr val="FFFFFF"/>
                </a:solidFill>
                <a:latin typeface="Calibri"/>
              </a:rPr>
              <a:t>Encadrement</a:t>
            </a:r>
            <a:r>
              <a:rPr sz="1600" b="0" i="0" dirty="0">
                <a:solidFill>
                  <a:srgbClr val="FFFFFF"/>
                </a:solidFill>
                <a:latin typeface="Calibri"/>
              </a:rPr>
              <a:t> et </a:t>
            </a:r>
            <a:r>
              <a:rPr sz="1600" b="0" i="0" dirty="0" err="1">
                <a:solidFill>
                  <a:srgbClr val="FFFFFF"/>
                </a:solidFill>
                <a:latin typeface="Calibri"/>
              </a:rPr>
              <a:t>accompagnement</a:t>
            </a:r>
            <a:r>
              <a:rPr sz="1600" b="0" i="0" dirty="0">
                <a:solidFill>
                  <a:srgbClr val="FFFFFF"/>
                </a:solidFill>
                <a:latin typeface="Calibri"/>
              </a:rPr>
              <a:t> du </a:t>
            </a:r>
            <a:r>
              <a:rPr sz="1600" b="0" i="0" dirty="0" err="1">
                <a:solidFill>
                  <a:srgbClr val="FFFFFF"/>
                </a:solidFill>
                <a:latin typeface="Calibri"/>
              </a:rPr>
              <a:t>développement</a:t>
            </a:r>
            <a:r>
              <a:rPr sz="1600" b="0" i="0" dirty="0">
                <a:solidFill>
                  <a:srgbClr val="FFFFFF"/>
                </a:solidFill>
                <a:latin typeface="Calibri"/>
              </a:rPr>
              <a:t> — de la </a:t>
            </a:r>
            <a:r>
              <a:rPr sz="1600" b="0" i="0" dirty="0" err="1">
                <a:solidFill>
                  <a:srgbClr val="FFFFFF"/>
                </a:solidFill>
                <a:latin typeface="Calibri"/>
              </a:rPr>
              <a:t>définition</a:t>
            </a:r>
            <a:r>
              <a:rPr sz="1600" b="0" i="0" dirty="0">
                <a:solidFill>
                  <a:srgbClr val="FFFFFF"/>
                </a:solidFill>
                <a:latin typeface="Calibri"/>
              </a:rPr>
              <a:t> du </a:t>
            </a:r>
            <a:r>
              <a:rPr sz="1600" b="0" i="0" dirty="0" err="1">
                <a:solidFill>
                  <a:srgbClr val="FFFFFF"/>
                </a:solidFill>
                <a:latin typeface="Calibri"/>
              </a:rPr>
              <a:t>besoin</a:t>
            </a:r>
            <a:r>
              <a:rPr sz="1600" b="0" i="0" dirty="0">
                <a:solidFill>
                  <a:srgbClr val="FFFFFF"/>
                </a:solidFill>
                <a:latin typeface="Calibri"/>
              </a:rPr>
              <a:t> </a:t>
            </a:r>
            <a:r>
              <a:rPr sz="1600" b="0" i="0" dirty="0" err="1">
                <a:solidFill>
                  <a:srgbClr val="FFFFFF"/>
                </a:solidFill>
                <a:latin typeface="Calibri"/>
              </a:rPr>
              <a:t>fonctionnel</a:t>
            </a:r>
            <a:r>
              <a:rPr sz="1600" b="0" i="0" dirty="0">
                <a:solidFill>
                  <a:srgbClr val="FFFFFF"/>
                </a:solidFill>
                <a:latin typeface="Calibri"/>
              </a:rPr>
              <a:t> </a:t>
            </a:r>
            <a:r>
              <a:rPr sz="1600" b="0" i="0" dirty="0" err="1">
                <a:solidFill>
                  <a:srgbClr val="FFFFFF"/>
                </a:solidFill>
                <a:latin typeface="Calibri"/>
              </a:rPr>
              <a:t>jusqu'à</a:t>
            </a:r>
            <a:r>
              <a:rPr sz="1600" b="0" i="0" dirty="0">
                <a:solidFill>
                  <a:srgbClr val="FFFFFF"/>
                </a:solidFill>
                <a:latin typeface="Calibri"/>
              </a:rPr>
              <a:t> la livraison du </a:t>
            </a:r>
            <a:r>
              <a:rPr sz="1600" b="0" i="0" dirty="0" err="1">
                <a:solidFill>
                  <a:srgbClr val="FFFFFF"/>
                </a:solidFill>
                <a:latin typeface="Calibri"/>
              </a:rPr>
              <a:t>produit</a:t>
            </a:r>
            <a:r>
              <a:rPr sz="1600" b="0" i="0" dirty="0">
                <a:solidFill>
                  <a:srgbClr val="FFFFFF"/>
                </a:solidFill>
                <a:latin typeface="Calibri"/>
              </a:rPr>
              <a:t> final.</a:t>
            </a:r>
          </a:p>
        </p:txBody>
      </p:sp>
      <p:sp>
        <p:nvSpPr>
          <p:cNvPr id="9001" name="PageNum2"/>
          <p:cNvSpPr txBox="1"/>
          <p:nvPr/>
        </p:nvSpPr>
        <p:spPr>
          <a:xfrm>
            <a:off x="8200000" y="4900000"/>
            <a:ext cx="800000" cy="200000"/>
          </a:xfrm>
          <a:prstGeom prst="rect">
            <a:avLst/>
          </a:prstGeom>
          <a:noFill/>
        </p:spPr>
        <p:txBody>
          <a:bodyPr anchor="ctr">
            <a:noAutofit/>
          </a:bodyPr>
          <a:lstStyle/>
          <a:p>
            <a:pPr algn="r"/>
            <a:r>
              <a:rPr lang="fr-FR" sz="1000" b="0" dirty="0">
                <a:solidFill>
                  <a:srgbClr val="1A2C56"/>
                </a:solidFill>
              </a:rPr>
              <a:t>2 / 13</a:t>
            </a:r>
          </a:p>
        </p:txBody>
      </p:sp>
    </p:spTree>
    <p:extLst>
      <p:ext uri="{BB962C8B-B14F-4D97-AF65-F5344CB8AC3E}">
        <p14:creationId xmlns:p14="http://schemas.microsoft.com/office/powerpoint/2010/main" val="930308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1  —  </a:t>
            </a:r>
            <a:r>
              <a:rPr lang="fr-FR" sz="1650" b="1" noProof="0" dirty="0">
                <a:solidFill>
                  <a:srgbClr val="FFFFFF"/>
                </a:solidFill>
              </a:rPr>
              <a:t>MISE EN CONTEXTE &amp; ORGANISME D'ACCUEIL</a:t>
            </a:r>
            <a:endParaRPr lang="fr-FR" sz="1650" noProof="0" dirty="0"/>
          </a:p>
        </p:txBody>
      </p:sp>
      <p:sp>
        <p:nvSpPr>
          <p:cNvPr id="5" name="Text 3"/>
          <p:cNvSpPr/>
          <p:nvPr/>
        </p:nvSpPr>
        <p:spPr>
          <a:xfrm>
            <a:off x="274320" y="868680"/>
            <a:ext cx="5074920" cy="329184"/>
          </a:xfrm>
          <a:prstGeom prst="rect">
            <a:avLst/>
          </a:prstGeom>
          <a:noFill/>
          <a:ln/>
        </p:spPr>
        <p:txBody>
          <a:bodyPr wrap="square" lIns="0" tIns="0" rIns="0" bIns="0" rtlCol="0" anchor="ctr"/>
          <a:lstStyle/>
          <a:p>
            <a:pPr marL="0" indent="0">
              <a:buNone/>
            </a:pPr>
            <a:r>
              <a:rPr lang="fr-FR" sz="1200" b="1" noProof="0" dirty="0">
                <a:solidFill>
                  <a:schemeClr val="tx2">
                    <a:lumMod val="40000"/>
                    <a:lumOff val="60000"/>
                  </a:schemeClr>
                </a:solidFill>
              </a:rPr>
              <a:t>Contexte du projet</a:t>
            </a:r>
            <a:endParaRPr lang="fr-FR" sz="1200" noProof="0" dirty="0">
              <a:solidFill>
                <a:schemeClr val="tx2">
                  <a:lumMod val="40000"/>
                  <a:lumOff val="60000"/>
                </a:schemeClr>
              </a:solidFill>
            </a:endParaRPr>
          </a:p>
        </p:txBody>
      </p:sp>
      <p:sp>
        <p:nvSpPr>
          <p:cNvPr id="6" name="Shape 4"/>
          <p:cNvSpPr/>
          <p:nvPr/>
        </p:nvSpPr>
        <p:spPr>
          <a:xfrm>
            <a:off x="1750909" y="1303087"/>
            <a:ext cx="6142396" cy="113385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7" name="Shape 5"/>
          <p:cNvSpPr/>
          <p:nvPr/>
        </p:nvSpPr>
        <p:spPr>
          <a:xfrm>
            <a:off x="1750910" y="1303087"/>
            <a:ext cx="64008" cy="1133856"/>
          </a:xfrm>
          <a:prstGeom prst="rect">
            <a:avLst/>
          </a:prstGeom>
          <a:solidFill>
            <a:srgbClr val="0D7680"/>
          </a:solidFill>
          <a:ln w="12700">
            <a:solidFill>
              <a:srgbClr val="0D7680"/>
            </a:solidFill>
            <a:prstDash val="solid"/>
          </a:ln>
        </p:spPr>
        <p:txBody>
          <a:bodyPr/>
          <a:lstStyle/>
          <a:p>
            <a:endParaRPr lang="fr-FR" noProof="0" dirty="0">
              <a:solidFill>
                <a:srgbClr val="0D7680"/>
              </a:solidFill>
            </a:endParaRPr>
          </a:p>
        </p:txBody>
      </p:sp>
      <p:sp>
        <p:nvSpPr>
          <p:cNvPr id="8" name="Text 6"/>
          <p:cNvSpPr/>
          <p:nvPr/>
        </p:nvSpPr>
        <p:spPr>
          <a:xfrm>
            <a:off x="1915502" y="1391381"/>
            <a:ext cx="4754880" cy="329184"/>
          </a:xfrm>
          <a:prstGeom prst="rect">
            <a:avLst/>
          </a:prstGeom>
          <a:noFill/>
          <a:ln/>
        </p:spPr>
        <p:txBody>
          <a:bodyPr wrap="square" lIns="0" tIns="0" rIns="0" bIns="0" rtlCol="0" anchor="ctr"/>
          <a:lstStyle/>
          <a:p>
            <a:pPr marL="0" indent="0">
              <a:buNone/>
            </a:pPr>
            <a:r>
              <a:rPr lang="fr-FR" b="1" noProof="0" dirty="0">
                <a:solidFill>
                  <a:srgbClr val="1A2C56"/>
                </a:solidFill>
              </a:rPr>
              <a:t>Un financement solidaire, sans retour financier</a:t>
            </a:r>
            <a:endParaRPr lang="fr-FR" noProof="0" dirty="0"/>
          </a:p>
        </p:txBody>
      </p:sp>
      <p:sp>
        <p:nvSpPr>
          <p:cNvPr id="9" name="Text 7"/>
          <p:cNvSpPr/>
          <p:nvPr/>
        </p:nvSpPr>
        <p:spPr>
          <a:xfrm>
            <a:off x="1915502" y="1713928"/>
            <a:ext cx="5433568" cy="640080"/>
          </a:xfrm>
          <a:prstGeom prst="rect">
            <a:avLst/>
          </a:prstGeom>
          <a:noFill/>
          <a:ln/>
        </p:spPr>
        <p:txBody>
          <a:bodyPr wrap="square" lIns="0" tIns="0" rIns="0" bIns="0" rtlCol="0" anchor="ctr"/>
          <a:lstStyle/>
          <a:p>
            <a:pPr marL="0" indent="0">
              <a:buNone/>
            </a:pPr>
            <a:r>
              <a:rPr lang="fr-FR" sz="1400" noProof="0" dirty="0">
                <a:solidFill>
                  <a:srgbClr val="64748B"/>
                </a:solidFill>
              </a:rPr>
              <a:t>Don participative, soutien des projets par conviction et solidarité sans attendre de retour financier. (Opérations encadrées par la loi n°2020-37 (BCT, 2020)).</a:t>
            </a:r>
            <a:endParaRPr lang="fr-FR" sz="1400" noProof="0" dirty="0"/>
          </a:p>
        </p:txBody>
      </p:sp>
      <p:sp>
        <p:nvSpPr>
          <p:cNvPr id="10" name="Shape 8"/>
          <p:cNvSpPr/>
          <p:nvPr/>
        </p:nvSpPr>
        <p:spPr>
          <a:xfrm>
            <a:off x="1750910" y="2551921"/>
            <a:ext cx="6142396" cy="113385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1" name="Shape 9"/>
          <p:cNvSpPr/>
          <p:nvPr/>
        </p:nvSpPr>
        <p:spPr>
          <a:xfrm>
            <a:off x="1750910" y="2537527"/>
            <a:ext cx="64008" cy="1133856"/>
          </a:xfrm>
          <a:prstGeom prst="rect">
            <a:avLst/>
          </a:prstGeom>
          <a:solidFill>
            <a:srgbClr val="0D7680"/>
          </a:solidFill>
          <a:ln w="12700">
            <a:solidFill>
              <a:srgbClr val="0D7680"/>
            </a:solidFill>
            <a:prstDash val="solid"/>
          </a:ln>
        </p:spPr>
        <p:txBody>
          <a:bodyPr/>
          <a:lstStyle/>
          <a:p>
            <a:endParaRPr lang="fr-FR" noProof="0" dirty="0"/>
          </a:p>
        </p:txBody>
      </p:sp>
      <p:sp>
        <p:nvSpPr>
          <p:cNvPr id="12" name="Text 10"/>
          <p:cNvSpPr/>
          <p:nvPr/>
        </p:nvSpPr>
        <p:spPr>
          <a:xfrm>
            <a:off x="1915502" y="2589196"/>
            <a:ext cx="4754880" cy="329184"/>
          </a:xfrm>
          <a:prstGeom prst="rect">
            <a:avLst/>
          </a:prstGeom>
          <a:noFill/>
          <a:ln/>
        </p:spPr>
        <p:txBody>
          <a:bodyPr wrap="square" lIns="0" tIns="0" rIns="0" bIns="0" rtlCol="0" anchor="ctr"/>
          <a:lstStyle/>
          <a:p>
            <a:pPr marL="0" indent="0">
              <a:buNone/>
            </a:pPr>
            <a:r>
              <a:rPr lang="fr-FR" b="1" noProof="0" dirty="0">
                <a:solidFill>
                  <a:srgbClr val="1A2C56"/>
                </a:solidFill>
              </a:rPr>
              <a:t>Aider chacun à réaliser son projet</a:t>
            </a:r>
            <a:endParaRPr lang="fr-FR" noProof="0" dirty="0"/>
          </a:p>
        </p:txBody>
      </p:sp>
      <p:sp>
        <p:nvSpPr>
          <p:cNvPr id="13" name="Text 11"/>
          <p:cNvSpPr/>
          <p:nvPr/>
        </p:nvSpPr>
        <p:spPr>
          <a:xfrm>
            <a:off x="1915502" y="2893504"/>
            <a:ext cx="5629994" cy="640080"/>
          </a:xfrm>
          <a:prstGeom prst="rect">
            <a:avLst/>
          </a:prstGeom>
          <a:noFill/>
          <a:ln/>
        </p:spPr>
        <p:txBody>
          <a:bodyPr wrap="square" lIns="0" tIns="0" rIns="0" bIns="0" rtlCol="0" anchor="ctr"/>
          <a:lstStyle/>
          <a:p>
            <a:pPr marL="0" indent="0">
              <a:buNone/>
            </a:pPr>
            <a:r>
              <a:rPr lang="fr-FR" sz="1400" noProof="0" dirty="0">
                <a:solidFill>
                  <a:srgbClr val="64748B"/>
                </a:solidFill>
              </a:rPr>
              <a:t>Mission : Permettre la concrétisation de projets porteurs de sens, créateurs d'emplois et moteurs de croissance économique.</a:t>
            </a:r>
            <a:endParaRPr lang="fr-FR" sz="1400" noProof="0" dirty="0"/>
          </a:p>
        </p:txBody>
      </p:sp>
      <p:sp>
        <p:nvSpPr>
          <p:cNvPr id="14" name="Shape 12"/>
          <p:cNvSpPr/>
          <p:nvPr/>
        </p:nvSpPr>
        <p:spPr>
          <a:xfrm>
            <a:off x="1750910" y="3771967"/>
            <a:ext cx="6142396" cy="113385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5" name="Shape 13"/>
          <p:cNvSpPr/>
          <p:nvPr/>
        </p:nvSpPr>
        <p:spPr>
          <a:xfrm>
            <a:off x="1750910" y="3771967"/>
            <a:ext cx="64008" cy="1133856"/>
          </a:xfrm>
          <a:prstGeom prst="rect">
            <a:avLst/>
          </a:prstGeom>
          <a:solidFill>
            <a:srgbClr val="0D7680"/>
          </a:solidFill>
          <a:ln w="12700">
            <a:solidFill>
              <a:srgbClr val="0D7680"/>
            </a:solidFill>
            <a:prstDash val="solid"/>
          </a:ln>
        </p:spPr>
        <p:txBody>
          <a:bodyPr/>
          <a:lstStyle/>
          <a:p>
            <a:endParaRPr lang="fr-FR" noProof="0" dirty="0"/>
          </a:p>
        </p:txBody>
      </p:sp>
      <p:sp>
        <p:nvSpPr>
          <p:cNvPr id="16" name="Text 14"/>
          <p:cNvSpPr/>
          <p:nvPr/>
        </p:nvSpPr>
        <p:spPr>
          <a:xfrm>
            <a:off x="1915500" y="3905233"/>
            <a:ext cx="5264234" cy="329184"/>
          </a:xfrm>
          <a:prstGeom prst="rect">
            <a:avLst/>
          </a:prstGeom>
          <a:noFill/>
          <a:ln/>
        </p:spPr>
        <p:txBody>
          <a:bodyPr wrap="square" lIns="0" tIns="0" rIns="0" bIns="0" rtlCol="0" anchor="ctr"/>
          <a:lstStyle/>
          <a:p>
            <a:pPr marL="0" indent="0">
              <a:buNone/>
            </a:pPr>
            <a:r>
              <a:rPr lang="fr-FR" b="1" noProof="0" dirty="0">
                <a:solidFill>
                  <a:srgbClr val="1A2C56"/>
                </a:solidFill>
              </a:rPr>
              <a:t>Les entreprises communautaires au cœur du projet</a:t>
            </a:r>
            <a:endParaRPr lang="fr-FR" noProof="0" dirty="0"/>
          </a:p>
        </p:txBody>
      </p:sp>
      <p:sp>
        <p:nvSpPr>
          <p:cNvPr id="17" name="Text 15"/>
          <p:cNvSpPr/>
          <p:nvPr/>
        </p:nvSpPr>
        <p:spPr>
          <a:xfrm>
            <a:off x="1915502" y="4210879"/>
            <a:ext cx="6142396" cy="640080"/>
          </a:xfrm>
          <a:prstGeom prst="rect">
            <a:avLst/>
          </a:prstGeom>
          <a:noFill/>
          <a:ln/>
        </p:spPr>
        <p:txBody>
          <a:bodyPr wrap="square" lIns="0" tIns="0" rIns="0" bIns="0" rtlCol="0" anchor="ctr"/>
          <a:lstStyle/>
          <a:p>
            <a:pPr marL="0" indent="0">
              <a:buNone/>
            </a:pPr>
            <a:r>
              <a:rPr lang="fr-FR" sz="1300" noProof="0" dirty="0">
                <a:solidFill>
                  <a:srgbClr val="64748B"/>
                </a:solidFill>
              </a:rPr>
              <a:t>Obligation légale de réinvestir ~35% de leurs bénéfices dans leur communauté. </a:t>
            </a:r>
          </a:p>
          <a:p>
            <a:r>
              <a:rPr lang="fr-FR" sz="1300" noProof="0" dirty="0">
                <a:solidFill>
                  <a:srgbClr val="64748B"/>
                </a:solidFill>
              </a:rPr>
              <a:t>Les financer </a:t>
            </a:r>
            <a:r>
              <a:rPr lang="fr-FR" sz="1300" noProof="0" dirty="0">
                <a:solidFill>
                  <a:srgbClr val="64748B"/>
                </a:solidFill>
                <a:sym typeface="Wingdings" panose="05000000000000000000" pitchFamily="2" charset="2"/>
              </a:rPr>
              <a:t></a:t>
            </a:r>
            <a:r>
              <a:rPr lang="fr-FR" sz="1300" noProof="0" dirty="0">
                <a:solidFill>
                  <a:srgbClr val="64748B"/>
                </a:solidFill>
              </a:rPr>
              <a:t> Créer un </a:t>
            </a:r>
            <a:r>
              <a:rPr lang="fr-FR" sz="1300" dirty="0">
                <a:solidFill>
                  <a:srgbClr val="64748B"/>
                </a:solidFill>
              </a:rPr>
              <a:t>cercle vertueux (Emplois locaux, services de proximité, développement territorial durable).</a:t>
            </a:r>
            <a:endParaRPr lang="fr-FR" sz="1300" noProof="0" dirty="0"/>
          </a:p>
        </p:txBody>
      </p:sp>
      <p:pic>
        <p:nvPicPr>
          <p:cNvPr id="19" name="Image 18">
            <a:extLst>
              <a:ext uri="{FF2B5EF4-FFF2-40B4-BE49-F238E27FC236}">
                <a16:creationId xmlns:a16="http://schemas.microsoft.com/office/drawing/2014/main" id="{D0F85F15-AAA8-F445-6C0A-F5D7685C8CBA}"/>
              </a:ext>
            </a:extLst>
          </p:cNvPr>
          <p:cNvPicPr>
            <a:picLocks noChangeAspect="1"/>
          </p:cNvPicPr>
          <p:nvPr/>
        </p:nvPicPr>
        <p:blipFill>
          <a:blip r:embed="rId3"/>
          <a:stretch>
            <a:fillRect/>
          </a:stretch>
        </p:blipFill>
        <p:spPr>
          <a:xfrm>
            <a:off x="470792" y="3805460"/>
            <a:ext cx="1090848" cy="1090848"/>
          </a:xfrm>
          <a:prstGeom prst="rect">
            <a:avLst/>
          </a:prstGeom>
        </p:spPr>
      </p:pic>
      <p:pic>
        <p:nvPicPr>
          <p:cNvPr id="21" name="Image 20">
            <a:extLst>
              <a:ext uri="{FF2B5EF4-FFF2-40B4-BE49-F238E27FC236}">
                <a16:creationId xmlns:a16="http://schemas.microsoft.com/office/drawing/2014/main" id="{367547EA-8079-B127-4AF2-BCF8D1984E98}"/>
              </a:ext>
            </a:extLst>
          </p:cNvPr>
          <p:cNvPicPr>
            <a:picLocks noChangeAspect="1"/>
          </p:cNvPicPr>
          <p:nvPr/>
        </p:nvPicPr>
        <p:blipFill>
          <a:blip r:embed="rId4"/>
          <a:stretch>
            <a:fillRect/>
          </a:stretch>
        </p:blipFill>
        <p:spPr>
          <a:xfrm>
            <a:off x="540639" y="2628877"/>
            <a:ext cx="951155" cy="951155"/>
          </a:xfrm>
          <a:prstGeom prst="rect">
            <a:avLst/>
          </a:prstGeom>
        </p:spPr>
      </p:pic>
      <p:pic>
        <p:nvPicPr>
          <p:cNvPr id="23" name="Image 22">
            <a:extLst>
              <a:ext uri="{FF2B5EF4-FFF2-40B4-BE49-F238E27FC236}">
                <a16:creationId xmlns:a16="http://schemas.microsoft.com/office/drawing/2014/main" id="{BEF5EC34-55DA-D66C-747A-F166B1A7C4A1}"/>
              </a:ext>
            </a:extLst>
          </p:cNvPr>
          <p:cNvPicPr>
            <a:picLocks noChangeAspect="1"/>
          </p:cNvPicPr>
          <p:nvPr/>
        </p:nvPicPr>
        <p:blipFill>
          <a:blip r:embed="rId5"/>
          <a:stretch>
            <a:fillRect/>
          </a:stretch>
        </p:blipFill>
        <p:spPr>
          <a:xfrm>
            <a:off x="596643" y="1423292"/>
            <a:ext cx="951155" cy="951155"/>
          </a:xfrm>
          <a:prstGeom prst="rect">
            <a:avLst/>
          </a:prstGeom>
        </p:spPr>
      </p:pic>
      <p:sp>
        <p:nvSpPr>
          <p:cNvPr id="9001" name="PageNum3"/>
          <p:cNvSpPr txBox="1"/>
          <p:nvPr/>
        </p:nvSpPr>
        <p:spPr>
          <a:xfrm>
            <a:off x="8200000" y="4900000"/>
            <a:ext cx="800000" cy="200000"/>
          </a:xfrm>
          <a:prstGeom prst="rect">
            <a:avLst/>
          </a:prstGeom>
          <a:noFill/>
        </p:spPr>
        <p:txBody>
          <a:bodyPr anchor="ctr">
            <a:noAutofit/>
          </a:bodyPr>
          <a:lstStyle/>
          <a:p>
            <a:pPr algn="r"/>
            <a:r>
              <a:rPr lang="fr-FR" sz="1000" b="0" dirty="0">
                <a:solidFill>
                  <a:srgbClr val="1A2C56"/>
                </a:solidFill>
              </a:rPr>
              <a:t>3 / 13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2  —  PROBLÉMATIQUE</a:t>
            </a:r>
          </a:p>
        </p:txBody>
      </p:sp>
      <p:sp>
        <p:nvSpPr>
          <p:cNvPr id="6" name="Text 4"/>
          <p:cNvSpPr/>
          <p:nvPr/>
        </p:nvSpPr>
        <p:spPr>
          <a:xfrm>
            <a:off x="2344858" y="913173"/>
            <a:ext cx="6200000" cy="1168388"/>
          </a:xfrm>
          <a:prstGeom prst="rect">
            <a:avLst/>
          </a:prstGeom>
          <a:noFill/>
          <a:ln/>
        </p:spPr>
        <p:txBody>
          <a:bodyPr wrap="square" lIns="50800" tIns="30000" rIns="50800" bIns="30000" rtlCol="0" anchor="t"/>
          <a:lstStyle/>
          <a:p>
            <a:r>
              <a:rPr lang="fr-FR" sz="1400" b="1" noProof="0" dirty="0">
                <a:solidFill>
                  <a:srgbClr val="0D7680"/>
                </a:solidFill>
              </a:rPr>
              <a:t>• </a:t>
            </a:r>
            <a:r>
              <a:rPr lang="fr-FR" sz="1400" b="1" dirty="0">
                <a:solidFill>
                  <a:srgbClr val="0D7680"/>
                </a:solidFill>
              </a:rPr>
              <a:t> </a:t>
            </a:r>
            <a:r>
              <a:rPr lang="fr-FR" sz="1400" b="1" dirty="0">
                <a:solidFill>
                  <a:srgbClr val="0D7680"/>
                </a:solidFill>
                <a:ea typeface="+mn-lt"/>
                <a:cs typeface="+mn-lt"/>
              </a:rPr>
              <a:t>le</a:t>
            </a:r>
            <a:r>
              <a:rPr lang="fr-FR" sz="1400" b="1" noProof="0" dirty="0">
                <a:solidFill>
                  <a:srgbClr val="0D7680"/>
                </a:solidFill>
                <a:ea typeface="+mn-lt"/>
                <a:cs typeface="+mn-lt"/>
              </a:rPr>
              <a:t> potentiel </a:t>
            </a:r>
            <a:r>
              <a:rPr lang="fr-FR" sz="1400" b="1" dirty="0">
                <a:solidFill>
                  <a:srgbClr val="0D7680"/>
                </a:solidFill>
                <a:ea typeface="+mn-lt"/>
                <a:cs typeface="+mn-lt"/>
              </a:rPr>
              <a:t>des entreprises communautaires</a:t>
            </a:r>
            <a:r>
              <a:rPr lang="fr-FR" sz="1400" b="1" dirty="0">
                <a:solidFill>
                  <a:srgbClr val="0D7680"/>
                </a:solidFill>
              </a:rPr>
              <a:t> </a:t>
            </a:r>
            <a:r>
              <a:rPr lang="fr-FR" sz="1400" b="1" noProof="0" dirty="0">
                <a:solidFill>
                  <a:srgbClr val="0D7680"/>
                </a:solidFill>
              </a:rPr>
              <a:t>économique reste sous-exploité : elles manquent d’accès au financement participatif et de visibilité auprès du grand public.</a:t>
            </a:r>
            <a:endParaRPr lang="fr-FR" sz="1400" b="1" noProof="0" dirty="0">
              <a:solidFill>
                <a:srgbClr val="0D7680"/>
              </a:solidFill>
              <a:ea typeface="Calibri"/>
              <a:cs typeface="Calibri"/>
            </a:endParaRPr>
          </a:p>
          <a:p>
            <a:pPr marL="0" indent="0" algn="l">
              <a:buNone/>
            </a:pPr>
            <a:r>
              <a:rPr lang="fr-FR" sz="1400" b="1" noProof="0" dirty="0">
                <a:solidFill>
                  <a:srgbClr val="0D7680"/>
                </a:solidFill>
              </a:rPr>
              <a:t>•  Il n’existe aucune plateforme conforme au cadre BCT 2020 couvrant l’ensemble du cycle : collecte, validation, retrait et traçabilité.</a:t>
            </a:r>
            <a:endParaRPr lang="fr-FR" sz="1400" b="1" noProof="0" dirty="0">
              <a:solidFill>
                <a:srgbClr val="0D7680"/>
              </a:solidFill>
              <a:ea typeface="Calibri"/>
              <a:cs typeface="Calibri"/>
            </a:endParaRPr>
          </a:p>
        </p:txBody>
      </p:sp>
      <p:sp>
        <p:nvSpPr>
          <p:cNvPr id="16" name="Text 14"/>
          <p:cNvSpPr/>
          <p:nvPr/>
        </p:nvSpPr>
        <p:spPr>
          <a:xfrm>
            <a:off x="3246120" y="2450592"/>
            <a:ext cx="475488" cy="475488"/>
          </a:xfrm>
          <a:prstGeom prst="rect">
            <a:avLst/>
          </a:prstGeom>
          <a:noFill/>
          <a:ln/>
        </p:spPr>
        <p:txBody>
          <a:bodyPr wrap="square" lIns="0" tIns="0" rIns="0" bIns="0" rtlCol="0" anchor="ctr"/>
          <a:lstStyle/>
          <a:p>
            <a:pPr marL="0" indent="0" algn="ctr">
              <a:buNone/>
            </a:pPr>
            <a:r>
              <a:rPr lang="fr-FR" sz="1400" b="1" noProof="0" dirty="0">
                <a:solidFill>
                  <a:srgbClr val="FFFFFF"/>
                </a:solidFill>
              </a:rPr>
              <a:t>2</a:t>
            </a:r>
            <a:endParaRPr lang="fr-FR" sz="1400" noProof="0" dirty="0"/>
          </a:p>
        </p:txBody>
      </p:sp>
      <p:sp>
        <p:nvSpPr>
          <p:cNvPr id="22" name="Text 20"/>
          <p:cNvSpPr/>
          <p:nvPr/>
        </p:nvSpPr>
        <p:spPr>
          <a:xfrm>
            <a:off x="6126480" y="2450592"/>
            <a:ext cx="475488" cy="475488"/>
          </a:xfrm>
          <a:prstGeom prst="rect">
            <a:avLst/>
          </a:prstGeom>
          <a:noFill/>
          <a:ln/>
        </p:spPr>
        <p:txBody>
          <a:bodyPr wrap="square" lIns="0" tIns="0" rIns="0" bIns="0" rtlCol="0" anchor="ctr"/>
          <a:lstStyle/>
          <a:p>
            <a:pPr marL="0" indent="0" algn="ctr">
              <a:buNone/>
            </a:pPr>
            <a:r>
              <a:rPr lang="fr-FR" sz="1400" b="1" noProof="0" dirty="0">
                <a:solidFill>
                  <a:srgbClr val="FFFFFF"/>
                </a:solidFill>
              </a:rPr>
              <a:t>3</a:t>
            </a:r>
            <a:endParaRPr lang="fr-FR" sz="1400" noProof="0" dirty="0"/>
          </a:p>
        </p:txBody>
      </p:sp>
      <p:pic>
        <p:nvPicPr>
          <p:cNvPr id="42" name="Image 41">
            <a:extLst>
              <a:ext uri="{FF2B5EF4-FFF2-40B4-BE49-F238E27FC236}">
                <a16:creationId xmlns:a16="http://schemas.microsoft.com/office/drawing/2014/main" id="{842D08C0-79DB-2392-FFCB-B23C2B86F7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098" y="1462192"/>
            <a:ext cx="2674956" cy="2931500"/>
          </a:xfrm>
          <a:prstGeom prst="rect">
            <a:avLst/>
          </a:prstGeom>
        </p:spPr>
      </p:pic>
      <p:sp>
        <p:nvSpPr>
          <p:cNvPr id="44" name="ZoneTexte 43">
            <a:extLst>
              <a:ext uri="{FF2B5EF4-FFF2-40B4-BE49-F238E27FC236}">
                <a16:creationId xmlns:a16="http://schemas.microsoft.com/office/drawing/2014/main" id="{ADBF6363-396E-522F-543F-9E8E19974375}"/>
              </a:ext>
            </a:extLst>
          </p:cNvPr>
          <p:cNvSpPr txBox="1"/>
          <p:nvPr/>
        </p:nvSpPr>
        <p:spPr>
          <a:xfrm>
            <a:off x="2027972" y="2179221"/>
            <a:ext cx="6516886" cy="2462213"/>
          </a:xfrm>
          <a:prstGeom prst="rect">
            <a:avLst/>
          </a:prstGeom>
          <a:noFill/>
        </p:spPr>
        <p:txBody>
          <a:bodyPr wrap="square">
            <a:spAutoFit/>
          </a:bodyPr>
          <a:lstStyle/>
          <a:p>
            <a:pPr marL="0" indent="0" algn="ctr">
              <a:buNone/>
            </a:pPr>
            <a:r>
              <a:rPr lang="fr-FR" sz="2200" b="1" i="1" noProof="0" dirty="0">
                <a:solidFill>
                  <a:srgbClr val="162240"/>
                </a:solidFill>
              </a:rPr>
              <a:t>Comment concevoir une plateforme de financement participatif qui catalyse l’essor des entreprises communautaires tunisiennes, stimule la création d’emplois locaux et le réinvestissement économique territorial — tout en garantissant la confiance des contributeurs, la transparence des fonds collectés et la conformité au cadre réglementaire BCT ?</a:t>
            </a:r>
            <a:endParaRPr lang="fr-FR" sz="2200" noProof="0" dirty="0">
              <a:solidFill>
                <a:srgbClr val="162240"/>
              </a:solidFill>
            </a:endParaRPr>
          </a:p>
        </p:txBody>
      </p:sp>
      <p:sp>
        <p:nvSpPr>
          <p:cNvPr id="9001" name="PageNum4"/>
          <p:cNvSpPr txBox="1"/>
          <p:nvPr/>
        </p:nvSpPr>
        <p:spPr>
          <a:xfrm>
            <a:off x="8200000" y="4900000"/>
            <a:ext cx="800000" cy="200000"/>
          </a:xfrm>
          <a:prstGeom prst="rect">
            <a:avLst/>
          </a:prstGeom>
          <a:noFill/>
        </p:spPr>
        <p:txBody>
          <a:bodyPr anchor="ctr">
            <a:noAutofit/>
          </a:bodyPr>
          <a:lstStyle/>
          <a:p>
            <a:pPr algn="r"/>
            <a:r>
              <a:rPr lang="fr-FR" sz="1000" b="0" dirty="0">
                <a:solidFill>
                  <a:srgbClr val="1A2C56"/>
                </a:solidFill>
              </a:rPr>
              <a:t>4 / 13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3  —  SOLUTION PROPOSÉE &amp; AVANTAGES</a:t>
            </a:r>
          </a:p>
        </p:txBody>
      </p:sp>
      <p:sp>
        <p:nvSpPr>
          <p:cNvPr id="5" name="Shape 3"/>
          <p:cNvSpPr/>
          <p:nvPr/>
        </p:nvSpPr>
        <p:spPr>
          <a:xfrm>
            <a:off x="274320" y="859535"/>
            <a:ext cx="8595360" cy="91480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6" name="Shape 4"/>
          <p:cNvSpPr/>
          <p:nvPr/>
        </p:nvSpPr>
        <p:spPr>
          <a:xfrm>
            <a:off x="274320" y="859535"/>
            <a:ext cx="54864" cy="914806"/>
          </a:xfrm>
          <a:prstGeom prst="rect">
            <a:avLst/>
          </a:prstGeom>
          <a:solidFill>
            <a:srgbClr val="1A2C56"/>
          </a:solidFill>
          <a:ln w="12700">
            <a:solidFill>
              <a:srgbClr val="1A2C56"/>
            </a:solidFill>
            <a:prstDash val="solid"/>
          </a:ln>
        </p:spPr>
        <p:txBody>
          <a:bodyPr/>
          <a:lstStyle/>
          <a:p>
            <a:endParaRPr lang="fr-FR" noProof="0" dirty="0"/>
          </a:p>
        </p:txBody>
      </p:sp>
      <p:sp>
        <p:nvSpPr>
          <p:cNvPr id="7" name="Text 5"/>
          <p:cNvSpPr/>
          <p:nvPr/>
        </p:nvSpPr>
        <p:spPr>
          <a:xfrm>
            <a:off x="438912" y="859535"/>
            <a:ext cx="8430768" cy="914805"/>
          </a:xfrm>
          <a:prstGeom prst="rect">
            <a:avLst/>
          </a:prstGeom>
          <a:noFill/>
          <a:ln/>
        </p:spPr>
        <p:txBody>
          <a:bodyPr wrap="square" lIns="0" tIns="0" rIns="0" bIns="0" rtlCol="0" anchor="ctr"/>
          <a:lstStyle/>
          <a:p>
            <a:r>
              <a:rPr lang="fr-FR" sz="1600" b="1" noProof="0">
                <a:solidFill>
                  <a:srgbClr val="C00000"/>
                </a:solidFill>
              </a:rPr>
              <a:t>Plateforme web</a:t>
            </a:r>
            <a:r>
              <a:rPr lang="fr-FR" sz="1600" b="1">
                <a:solidFill>
                  <a:srgbClr val="C00000"/>
                </a:solidFill>
              </a:rPr>
              <a:t> </a:t>
            </a:r>
            <a:r>
              <a:rPr lang="fr-FR" sz="1600" noProof="0">
                <a:solidFill>
                  <a:srgbClr val="1E2D3D"/>
                </a:solidFill>
              </a:rPr>
              <a:t>mettant en relation porteurs de projet, investisseurs, experts et </a:t>
            </a:r>
            <a:r>
              <a:rPr lang="fr-FR" sz="1600" noProof="0" dirty="0">
                <a:solidFill>
                  <a:srgbClr val="1E2D3D"/>
                </a:solidFill>
              </a:rPr>
              <a:t>administrateurs, combinant crowdfunding, analyse IA, assistant conversationnel, consultation expert et gouvernance explicite du cycle de vie, conforme au cadre BCT.</a:t>
            </a:r>
            <a:endParaRPr lang="fr-FR" sz="1600" noProof="0" dirty="0"/>
          </a:p>
        </p:txBody>
      </p:sp>
      <p:graphicFrame>
        <p:nvGraphicFramePr>
          <p:cNvPr id="8" name="Table 0"/>
          <p:cNvGraphicFramePr>
            <a:graphicFrameLocks noGrp="1"/>
          </p:cNvGraphicFramePr>
          <p:nvPr>
            <p:extLst>
              <p:ext uri="{D42A27DB-BD31-4B8C-83A1-F6EECF244321}">
                <p14:modId xmlns:p14="http://schemas.microsoft.com/office/powerpoint/2010/main" val="3857555027"/>
              </p:ext>
            </p:extLst>
          </p:nvPr>
        </p:nvGraphicFramePr>
        <p:xfrm>
          <a:off x="301752" y="1851151"/>
          <a:ext cx="8595360" cy="2974848"/>
        </p:xfrm>
        <a:graphic>
          <a:graphicData uri="http://schemas.openxmlformats.org/drawingml/2006/table">
            <a:tbl>
              <a:tblPr/>
              <a:tblGrid>
                <a:gridCol w="1920240">
                  <a:extLst>
                    <a:ext uri="{9D8B030D-6E8A-4147-A177-3AD203B41FA5}">
                      <a16:colId xmlns:a16="http://schemas.microsoft.com/office/drawing/2014/main" val="20000"/>
                    </a:ext>
                  </a:extLst>
                </a:gridCol>
                <a:gridCol w="1078992">
                  <a:extLst>
                    <a:ext uri="{9D8B030D-6E8A-4147-A177-3AD203B41FA5}">
                      <a16:colId xmlns:a16="http://schemas.microsoft.com/office/drawing/2014/main" val="20001"/>
                    </a:ext>
                  </a:extLst>
                </a:gridCol>
                <a:gridCol w="952669">
                  <a:extLst>
                    <a:ext uri="{9D8B030D-6E8A-4147-A177-3AD203B41FA5}">
                      <a16:colId xmlns:a16="http://schemas.microsoft.com/office/drawing/2014/main" val="20002"/>
                    </a:ext>
                  </a:extLst>
                </a:gridCol>
                <a:gridCol w="1296755">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249424">
                  <a:extLst>
                    <a:ext uri="{9D8B030D-6E8A-4147-A177-3AD203B41FA5}">
                      <a16:colId xmlns:a16="http://schemas.microsoft.com/office/drawing/2014/main" val="20005"/>
                    </a:ext>
                  </a:extLst>
                </a:gridCol>
              </a:tblGrid>
              <a:tr h="384048">
                <a:tc>
                  <a:txBody>
                    <a:bodyPr/>
                    <a:lstStyle/>
                    <a:p>
                      <a:pPr marL="0" indent="0">
                        <a:buNone/>
                      </a:pPr>
                      <a:r>
                        <a:rPr lang="fr-FR" sz="1400" b="1" noProof="0" dirty="0">
                          <a:solidFill>
                            <a:srgbClr val="FFFFFF"/>
                          </a:solidFill>
                        </a:rPr>
                        <a:t>Critère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A2C56"/>
                    </a:solidFill>
                  </a:tcPr>
                </a:tc>
                <a:tc>
                  <a:txBody>
                    <a:bodyPr/>
                    <a:lstStyle/>
                    <a:p>
                      <a:pPr marL="0" indent="0">
                        <a:buNone/>
                      </a:pPr>
                      <a:r>
                        <a:rPr lang="fr-FR" sz="1400" b="1" noProof="0" dirty="0">
                          <a:solidFill>
                            <a:srgbClr val="FFFFFF"/>
                          </a:solidFill>
                        </a:rPr>
                        <a:t>Kickstarter</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A2C56"/>
                    </a:solidFill>
                  </a:tcPr>
                </a:tc>
                <a:tc>
                  <a:txBody>
                    <a:bodyPr/>
                    <a:lstStyle/>
                    <a:p>
                      <a:pPr marL="0" indent="0">
                        <a:buNone/>
                      </a:pPr>
                      <a:r>
                        <a:rPr lang="fr-FR" sz="1400" b="1" noProof="0" dirty="0" err="1">
                          <a:solidFill>
                            <a:srgbClr val="FFFFFF"/>
                          </a:solidFill>
                        </a:rPr>
                        <a:t>Indiegogo</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A2C56"/>
                    </a:solidFill>
                  </a:tcPr>
                </a:tc>
                <a:tc>
                  <a:txBody>
                    <a:bodyPr/>
                    <a:lstStyle/>
                    <a:p>
                      <a:pPr marL="0" indent="0">
                        <a:buNone/>
                      </a:pPr>
                      <a:r>
                        <a:rPr lang="fr-FR" sz="1400" b="1" noProof="0" dirty="0" err="1">
                          <a:solidFill>
                            <a:srgbClr val="FFFFFF"/>
                          </a:solidFill>
                        </a:rPr>
                        <a:t>CoFundy</a:t>
                      </a:r>
                      <a:r>
                        <a:rPr lang="fr-FR" sz="1400" b="1" noProof="0" dirty="0">
                          <a:solidFill>
                            <a:srgbClr val="FFFFFF"/>
                          </a:solidFill>
                        </a:rPr>
                        <a:t> (TN)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A2C56"/>
                    </a:solidFill>
                  </a:tcPr>
                </a:tc>
                <a:tc>
                  <a:txBody>
                    <a:bodyPr/>
                    <a:lstStyle/>
                    <a:p>
                      <a:pPr marL="0" indent="0">
                        <a:buNone/>
                      </a:pPr>
                      <a:r>
                        <a:rPr lang="fr-FR" sz="1400" b="1" noProof="0" dirty="0" err="1">
                          <a:solidFill>
                            <a:srgbClr val="FFFFFF"/>
                          </a:solidFill>
                        </a:rPr>
                        <a:t>Kaoun</a:t>
                      </a:r>
                      <a:r>
                        <a:rPr lang="fr-FR" sz="1400" b="1" noProof="0" dirty="0">
                          <a:solidFill>
                            <a:srgbClr val="FFFFFF"/>
                          </a:solidFill>
                        </a:rPr>
                        <a:t> (TN)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A2C56"/>
                    </a:solidFill>
                  </a:tcPr>
                </a:tc>
                <a:tc>
                  <a:txBody>
                    <a:bodyPr/>
                    <a:lstStyle/>
                    <a:p>
                      <a:pPr marL="0" indent="0">
                        <a:buNone/>
                      </a:pPr>
                      <a:r>
                        <a:rPr lang="fr-FR" sz="1400" b="1" noProof="0" dirty="0">
                          <a:solidFill>
                            <a:srgbClr val="FFFFFF"/>
                          </a:solidFill>
                        </a:rPr>
                        <a:t>Notre solution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1A2C56"/>
                    </a:solidFill>
                  </a:tcPr>
                </a:tc>
                <a:extLst>
                  <a:ext uri="{0D108BD9-81ED-4DB2-BD59-A6C34878D82A}">
                    <a16:rowId xmlns:a16="http://schemas.microsoft.com/office/drawing/2014/main" val="10000"/>
                  </a:ext>
                </a:extLst>
              </a:tr>
              <a:tr h="384048">
                <a:tc>
                  <a:txBody>
                    <a:bodyPr/>
                    <a:lstStyle/>
                    <a:p>
                      <a:pPr marL="0" indent="0">
                        <a:buNone/>
                      </a:pPr>
                      <a:r>
                        <a:rPr lang="fr-FR" sz="1400" noProof="0" dirty="0">
                          <a:solidFill>
                            <a:srgbClr val="000000"/>
                          </a:solidFill>
                        </a:rPr>
                        <a:t>Analyse de risque automatisée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b="1" noProof="0" dirty="0">
                          <a:solidFill>
                            <a:srgbClr val="FFFFFF"/>
                          </a:solidFill>
                        </a:rPr>
                        <a:t>Oui — IA + heuristiques</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0D7680"/>
                    </a:solidFill>
                  </a:tcPr>
                </a:tc>
                <a:extLst>
                  <a:ext uri="{0D108BD9-81ED-4DB2-BD59-A6C34878D82A}">
                    <a16:rowId xmlns:a16="http://schemas.microsoft.com/office/drawing/2014/main" val="10001"/>
                  </a:ext>
                </a:extLst>
              </a:tr>
              <a:tr h="384048">
                <a:tc>
                  <a:txBody>
                    <a:bodyPr/>
                    <a:lstStyle/>
                    <a:p>
                      <a:pPr marL="0" indent="0">
                        <a:buNone/>
                      </a:pPr>
                      <a:r>
                        <a:rPr lang="fr-FR" sz="1400" noProof="0" dirty="0">
                          <a:solidFill>
                            <a:srgbClr val="000000"/>
                          </a:solidFill>
                        </a:rPr>
                        <a:t>Recommandations personnalisées</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Limité</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b="1" noProof="0" dirty="0">
                          <a:solidFill>
                            <a:srgbClr val="FFFFFF"/>
                          </a:solidFill>
                        </a:rPr>
                        <a:t>Oui — score déterministe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0D7680"/>
                    </a:solidFill>
                  </a:tcPr>
                </a:tc>
                <a:extLst>
                  <a:ext uri="{0D108BD9-81ED-4DB2-BD59-A6C34878D82A}">
                    <a16:rowId xmlns:a16="http://schemas.microsoft.com/office/drawing/2014/main" val="10002"/>
                  </a:ext>
                </a:extLst>
              </a:tr>
              <a:tr h="384048">
                <a:tc>
                  <a:txBody>
                    <a:bodyPr/>
                    <a:lstStyle/>
                    <a:p>
                      <a:pPr marL="0" indent="0">
                        <a:buNone/>
                      </a:pPr>
                      <a:r>
                        <a:rPr lang="fr-FR" sz="1400" noProof="0" dirty="0">
                          <a:solidFill>
                            <a:srgbClr val="000000"/>
                          </a:solidFill>
                        </a:rPr>
                        <a:t>Assistance investisseur (IA/expert)</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Limitée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Limitée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b="1" noProof="0" dirty="0">
                          <a:solidFill>
                            <a:srgbClr val="FFFFFF"/>
                          </a:solidFill>
                        </a:rPr>
                        <a:t>Assistant + consultation ≥30%</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0D7680"/>
                    </a:solidFill>
                  </a:tcPr>
                </a:tc>
                <a:extLst>
                  <a:ext uri="{0D108BD9-81ED-4DB2-BD59-A6C34878D82A}">
                    <a16:rowId xmlns:a16="http://schemas.microsoft.com/office/drawing/2014/main" val="10003"/>
                  </a:ext>
                </a:extLst>
              </a:tr>
              <a:tr h="384048">
                <a:tc>
                  <a:txBody>
                    <a:bodyPr/>
                    <a:lstStyle/>
                    <a:p>
                      <a:pPr marL="0" indent="0">
                        <a:buNone/>
                      </a:pPr>
                      <a:r>
                        <a:rPr lang="fr-FR" sz="1400" noProof="0" dirty="0">
                          <a:solidFill>
                            <a:srgbClr val="000000"/>
                          </a:solidFill>
                        </a:rPr>
                        <a:t>Paiement &amp; retraits (contexte TN)</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Non/US</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Non/US</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Partiel</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Oui</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b="1" noProof="0" dirty="0">
                          <a:solidFill>
                            <a:srgbClr val="FFFFFF"/>
                          </a:solidFill>
                        </a:rPr>
                        <a:t>Oui</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0D7680"/>
                    </a:solidFill>
                  </a:tcPr>
                </a:tc>
                <a:extLst>
                  <a:ext uri="{0D108BD9-81ED-4DB2-BD59-A6C34878D82A}">
                    <a16:rowId xmlns:a16="http://schemas.microsoft.com/office/drawing/2014/main" val="10004"/>
                  </a:ext>
                </a:extLst>
              </a:tr>
              <a:tr h="384048">
                <a:tc>
                  <a:txBody>
                    <a:bodyPr/>
                    <a:lstStyle/>
                    <a:p>
                      <a:pPr marL="0" indent="0">
                        <a:buNone/>
                      </a:pPr>
                      <a:r>
                        <a:rPr lang="fr-FR" sz="1400" noProof="0" dirty="0">
                          <a:solidFill>
                            <a:srgbClr val="000000"/>
                          </a:solidFill>
                        </a:rPr>
                        <a:t>Gouvernance (modération, audit)</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Partielle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Partielle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Partielle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noProof="0" dirty="0">
                          <a:solidFill>
                            <a:srgbClr val="000000"/>
                          </a:solidFill>
                        </a:rPr>
                        <a:t>Limitée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tcPr>
                </a:tc>
                <a:tc>
                  <a:txBody>
                    <a:bodyPr/>
                    <a:lstStyle/>
                    <a:p>
                      <a:pPr marL="0" indent="0">
                        <a:buNone/>
                      </a:pPr>
                      <a:r>
                        <a:rPr lang="fr-FR" sz="1400" b="1" noProof="0" dirty="0">
                          <a:solidFill>
                            <a:srgbClr val="FFFFFF"/>
                          </a:solidFill>
                        </a:rPr>
                        <a:t>Complète</a:t>
                      </a:r>
                      <a:endParaRPr lang="fr-FR" sz="1400" noProof="0" dirty="0"/>
                    </a:p>
                  </a:txBody>
                  <a:tcPr>
                    <a:lnL w="6350" cap="flat" cmpd="sng" algn="ctr">
                      <a:solidFill>
                        <a:srgbClr val="E2E8EE"/>
                      </a:solidFill>
                      <a:prstDash val="solid"/>
                      <a:round/>
                      <a:headEnd type="none" w="med" len="med"/>
                      <a:tailEnd type="none" w="med" len="med"/>
                    </a:lnL>
                    <a:lnR w="6350" cap="flat" cmpd="sng" algn="ctr">
                      <a:solidFill>
                        <a:srgbClr val="E2E8EE"/>
                      </a:solidFill>
                      <a:prstDash val="solid"/>
                      <a:round/>
                      <a:headEnd type="none" w="med" len="med"/>
                      <a:tailEnd type="none" w="med" len="med"/>
                    </a:lnR>
                    <a:lnT w="6350" cap="flat" cmpd="sng" algn="ctr">
                      <a:solidFill>
                        <a:srgbClr val="E2E8EE"/>
                      </a:solidFill>
                      <a:prstDash val="solid"/>
                      <a:round/>
                      <a:headEnd type="none" w="med" len="med"/>
                      <a:tailEnd type="none" w="med" len="med"/>
                    </a:lnT>
                    <a:lnB w="6350" cap="flat" cmpd="sng" algn="ctr">
                      <a:solidFill>
                        <a:srgbClr val="E2E8EE"/>
                      </a:solidFill>
                      <a:prstDash val="solid"/>
                      <a:round/>
                      <a:headEnd type="none" w="med" len="med"/>
                      <a:tailEnd type="none" w="med" len="med"/>
                    </a:lnB>
                    <a:solidFill>
                      <a:srgbClr val="0D7680"/>
                    </a:solidFill>
                  </a:tcPr>
                </a:tc>
                <a:extLst>
                  <a:ext uri="{0D108BD9-81ED-4DB2-BD59-A6C34878D82A}">
                    <a16:rowId xmlns:a16="http://schemas.microsoft.com/office/drawing/2014/main" val="10005"/>
                  </a:ext>
                </a:extLst>
              </a:tr>
            </a:tbl>
          </a:graphicData>
        </a:graphic>
      </p:graphicFrame>
      <p:sp>
        <p:nvSpPr>
          <p:cNvPr id="9001" name="PageNum5"/>
          <p:cNvSpPr txBox="1"/>
          <p:nvPr/>
        </p:nvSpPr>
        <p:spPr>
          <a:xfrm>
            <a:off x="8200000" y="4900000"/>
            <a:ext cx="800000" cy="200000"/>
          </a:xfrm>
          <a:prstGeom prst="rect">
            <a:avLst/>
          </a:prstGeom>
          <a:noFill/>
        </p:spPr>
        <p:txBody>
          <a:bodyPr anchor="ctr">
            <a:noAutofit/>
          </a:bodyPr>
          <a:lstStyle/>
          <a:p>
            <a:pPr algn="r"/>
            <a:r>
              <a:rPr lang="fr-FR" sz="1000" b="0" dirty="0">
                <a:solidFill>
                  <a:srgbClr val="1A2C56"/>
                </a:solidFill>
              </a:rPr>
              <a:t>5 / 13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4  —  </a:t>
            </a:r>
            <a:r>
              <a:rPr lang="fr-FR" sz="1650" b="1" noProof="0" dirty="0">
                <a:solidFill>
                  <a:srgbClr val="FFFFFF"/>
                </a:solidFill>
              </a:rPr>
              <a:t>ACTEURS &amp; DIAGRAMME DES CAS D'UTILISATION</a:t>
            </a:r>
            <a:endParaRPr lang="fr-FR" sz="1650" noProof="0" dirty="0"/>
          </a:p>
        </p:txBody>
      </p:sp>
      <p:sp>
        <p:nvSpPr>
          <p:cNvPr id="5" name="Text 3"/>
          <p:cNvSpPr/>
          <p:nvPr/>
        </p:nvSpPr>
        <p:spPr>
          <a:xfrm>
            <a:off x="144000" y="868680"/>
            <a:ext cx="2514600" cy="329184"/>
          </a:xfrm>
          <a:prstGeom prst="rect">
            <a:avLst/>
          </a:prstGeom>
          <a:noFill/>
          <a:ln/>
        </p:spPr>
        <p:txBody>
          <a:bodyPr wrap="square" lIns="0" tIns="0" rIns="0" bIns="0" rtlCol="0" anchor="ctr"/>
          <a:lstStyle/>
          <a:p>
            <a:pPr marL="0" indent="0">
              <a:buNone/>
            </a:pPr>
            <a:r>
              <a:rPr lang="fr-FR" sz="1100" b="1" noProof="0" dirty="0">
                <a:solidFill>
                  <a:srgbClr val="1A2C56"/>
                </a:solidFill>
              </a:rPr>
              <a:t>Acteurs (2.2)</a:t>
            </a:r>
            <a:endParaRPr lang="fr-FR" sz="1100" noProof="0" dirty="0"/>
          </a:p>
        </p:txBody>
      </p:sp>
      <p:sp>
        <p:nvSpPr>
          <p:cNvPr id="6" name="Shape 4"/>
          <p:cNvSpPr/>
          <p:nvPr/>
        </p:nvSpPr>
        <p:spPr>
          <a:xfrm>
            <a:off x="144000" y="1202890"/>
            <a:ext cx="2514600" cy="76809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7" name="Shape 5"/>
          <p:cNvSpPr/>
          <p:nvPr/>
        </p:nvSpPr>
        <p:spPr>
          <a:xfrm>
            <a:off x="13680" y="1188720"/>
            <a:ext cx="64008" cy="768096"/>
          </a:xfrm>
          <a:prstGeom prst="rect">
            <a:avLst/>
          </a:prstGeom>
          <a:solidFill>
            <a:srgbClr val="1A2C56"/>
          </a:solidFill>
          <a:ln w="12700">
            <a:solidFill>
              <a:srgbClr val="1A2C56"/>
            </a:solidFill>
            <a:prstDash val="solid"/>
          </a:ln>
        </p:spPr>
        <p:txBody>
          <a:bodyPr/>
          <a:lstStyle/>
          <a:p>
            <a:endParaRPr lang="fr-FR" noProof="0" dirty="0"/>
          </a:p>
        </p:txBody>
      </p:sp>
      <p:sp>
        <p:nvSpPr>
          <p:cNvPr id="8" name="Text 6"/>
          <p:cNvSpPr/>
          <p:nvPr/>
        </p:nvSpPr>
        <p:spPr>
          <a:xfrm>
            <a:off x="159984" y="1243584"/>
            <a:ext cx="2286000" cy="274320"/>
          </a:xfrm>
          <a:prstGeom prst="rect">
            <a:avLst/>
          </a:prstGeom>
          <a:noFill/>
          <a:ln/>
        </p:spPr>
        <p:txBody>
          <a:bodyPr wrap="square" lIns="0" tIns="0" rIns="0" bIns="0" rtlCol="0" anchor="ctr"/>
          <a:lstStyle/>
          <a:p>
            <a:pPr marL="0" indent="0">
              <a:buNone/>
            </a:pPr>
            <a:r>
              <a:rPr lang="fr-FR" sz="1100" b="1" noProof="0" dirty="0">
                <a:solidFill>
                  <a:srgbClr val="1A2C56"/>
                </a:solidFill>
              </a:rPr>
              <a:t>Visiteur</a:t>
            </a:r>
            <a:endParaRPr lang="fr-FR" sz="1100" noProof="0" dirty="0"/>
          </a:p>
        </p:txBody>
      </p:sp>
      <p:sp>
        <p:nvSpPr>
          <p:cNvPr id="9" name="Text 7"/>
          <p:cNvSpPr/>
          <p:nvPr/>
        </p:nvSpPr>
        <p:spPr>
          <a:xfrm>
            <a:off x="159984" y="1554480"/>
            <a:ext cx="2286000" cy="347472"/>
          </a:xfrm>
          <a:prstGeom prst="rect">
            <a:avLst/>
          </a:prstGeom>
          <a:noFill/>
          <a:ln/>
        </p:spPr>
        <p:txBody>
          <a:bodyPr wrap="square" lIns="0" tIns="0" rIns="0" bIns="0" rtlCol="0" anchor="ctr"/>
          <a:lstStyle/>
          <a:p>
            <a:pPr marL="0" indent="0">
              <a:buNone/>
            </a:pPr>
            <a:r>
              <a:rPr lang="fr-FR" sz="1050" noProof="0" dirty="0">
                <a:solidFill>
                  <a:srgbClr val="64748B"/>
                </a:solidFill>
              </a:rPr>
              <a:t>Consulte les projets publics et peut s'inscrire sur la plateforme</a:t>
            </a:r>
            <a:endParaRPr lang="fr-FR" sz="1050" noProof="0" dirty="0"/>
          </a:p>
        </p:txBody>
      </p:sp>
      <p:sp>
        <p:nvSpPr>
          <p:cNvPr id="10" name="Shape 8"/>
          <p:cNvSpPr/>
          <p:nvPr/>
        </p:nvSpPr>
        <p:spPr>
          <a:xfrm>
            <a:off x="13680" y="2029968"/>
            <a:ext cx="2644920" cy="76809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1" name="Shape 9"/>
          <p:cNvSpPr/>
          <p:nvPr/>
        </p:nvSpPr>
        <p:spPr>
          <a:xfrm>
            <a:off x="13680" y="2029968"/>
            <a:ext cx="64008" cy="768096"/>
          </a:xfrm>
          <a:prstGeom prst="rect">
            <a:avLst/>
          </a:prstGeom>
          <a:solidFill>
            <a:srgbClr val="0D7680"/>
          </a:solidFill>
          <a:ln w="12700">
            <a:solidFill>
              <a:srgbClr val="0D7680"/>
            </a:solidFill>
            <a:prstDash val="solid"/>
          </a:ln>
        </p:spPr>
        <p:txBody>
          <a:bodyPr/>
          <a:lstStyle/>
          <a:p>
            <a:endParaRPr lang="fr-FR" noProof="0" dirty="0"/>
          </a:p>
        </p:txBody>
      </p:sp>
      <p:sp>
        <p:nvSpPr>
          <p:cNvPr id="12" name="Text 10"/>
          <p:cNvSpPr/>
          <p:nvPr/>
        </p:nvSpPr>
        <p:spPr>
          <a:xfrm>
            <a:off x="159984" y="2084832"/>
            <a:ext cx="2286000" cy="274320"/>
          </a:xfrm>
          <a:prstGeom prst="rect">
            <a:avLst/>
          </a:prstGeom>
          <a:noFill/>
          <a:ln/>
        </p:spPr>
        <p:txBody>
          <a:bodyPr wrap="square" lIns="0" tIns="0" rIns="0" bIns="0" rtlCol="0" anchor="ctr"/>
          <a:lstStyle/>
          <a:p>
            <a:pPr marL="0" indent="0">
              <a:buNone/>
            </a:pPr>
            <a:r>
              <a:rPr lang="fr-FR" sz="1100" b="1" noProof="0" dirty="0">
                <a:solidFill>
                  <a:srgbClr val="1A2C56"/>
                </a:solidFill>
              </a:rPr>
              <a:t>Utilisateur</a:t>
            </a:r>
            <a:endParaRPr lang="fr-FR" sz="1100" noProof="0" dirty="0"/>
          </a:p>
        </p:txBody>
      </p:sp>
      <p:sp>
        <p:nvSpPr>
          <p:cNvPr id="13" name="Text 11"/>
          <p:cNvSpPr/>
          <p:nvPr/>
        </p:nvSpPr>
        <p:spPr>
          <a:xfrm>
            <a:off x="159984" y="2395728"/>
            <a:ext cx="2286000" cy="347472"/>
          </a:xfrm>
          <a:prstGeom prst="rect">
            <a:avLst/>
          </a:prstGeom>
          <a:noFill/>
          <a:ln/>
        </p:spPr>
        <p:txBody>
          <a:bodyPr wrap="square" lIns="0" tIns="0" rIns="0" bIns="0" rtlCol="0" anchor="ctr"/>
          <a:lstStyle/>
          <a:p>
            <a:pPr marL="0" indent="0">
              <a:buNone/>
            </a:pPr>
            <a:r>
              <a:rPr lang="fr-FR" sz="1050" noProof="0" dirty="0">
                <a:solidFill>
                  <a:srgbClr val="64748B"/>
                </a:solidFill>
              </a:rPr>
              <a:t>Porteur de projet (crée, soumet) et/ou Investisseur (contribue)</a:t>
            </a:r>
            <a:endParaRPr lang="fr-FR" sz="1050" noProof="0" dirty="0"/>
          </a:p>
        </p:txBody>
      </p:sp>
      <p:sp>
        <p:nvSpPr>
          <p:cNvPr id="14" name="Shape 12"/>
          <p:cNvSpPr/>
          <p:nvPr/>
        </p:nvSpPr>
        <p:spPr>
          <a:xfrm>
            <a:off x="144000" y="2871216"/>
            <a:ext cx="2514600" cy="76809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5" name="Shape 13"/>
          <p:cNvSpPr/>
          <p:nvPr/>
        </p:nvSpPr>
        <p:spPr>
          <a:xfrm>
            <a:off x="13680" y="2871216"/>
            <a:ext cx="64008" cy="768096"/>
          </a:xfrm>
          <a:prstGeom prst="rect">
            <a:avLst/>
          </a:prstGeom>
          <a:solidFill>
            <a:srgbClr val="1A6B82"/>
          </a:solidFill>
          <a:ln w="12700">
            <a:solidFill>
              <a:srgbClr val="1A6B82"/>
            </a:solidFill>
            <a:prstDash val="solid"/>
          </a:ln>
        </p:spPr>
        <p:txBody>
          <a:bodyPr/>
          <a:lstStyle/>
          <a:p>
            <a:endParaRPr lang="fr-FR" noProof="0" dirty="0"/>
          </a:p>
        </p:txBody>
      </p:sp>
      <p:sp>
        <p:nvSpPr>
          <p:cNvPr id="16" name="Text 14"/>
          <p:cNvSpPr/>
          <p:nvPr/>
        </p:nvSpPr>
        <p:spPr>
          <a:xfrm>
            <a:off x="159984" y="2926080"/>
            <a:ext cx="2286000" cy="274320"/>
          </a:xfrm>
          <a:prstGeom prst="rect">
            <a:avLst/>
          </a:prstGeom>
          <a:noFill/>
          <a:ln/>
        </p:spPr>
        <p:txBody>
          <a:bodyPr wrap="square" lIns="0" tIns="0" rIns="0" bIns="0" rtlCol="0" anchor="ctr"/>
          <a:lstStyle/>
          <a:p>
            <a:pPr marL="0" indent="0">
              <a:buNone/>
            </a:pPr>
            <a:r>
              <a:rPr lang="fr-FR" sz="1100" b="1" noProof="0" dirty="0">
                <a:solidFill>
                  <a:srgbClr val="1A2C56"/>
                </a:solidFill>
              </a:rPr>
              <a:t>Expert en finance</a:t>
            </a:r>
            <a:endParaRPr lang="fr-FR" sz="1100" noProof="0" dirty="0"/>
          </a:p>
        </p:txBody>
      </p:sp>
      <p:sp>
        <p:nvSpPr>
          <p:cNvPr id="17" name="Text 15"/>
          <p:cNvSpPr/>
          <p:nvPr/>
        </p:nvSpPr>
        <p:spPr>
          <a:xfrm>
            <a:off x="159984" y="3236976"/>
            <a:ext cx="2286000" cy="347472"/>
          </a:xfrm>
          <a:prstGeom prst="rect">
            <a:avLst/>
          </a:prstGeom>
          <a:noFill/>
          <a:ln/>
        </p:spPr>
        <p:txBody>
          <a:bodyPr wrap="square" lIns="0" tIns="0" rIns="0" bIns="0" rtlCol="0" anchor="ctr"/>
          <a:lstStyle/>
          <a:p>
            <a:pPr marL="0" indent="0">
              <a:buNone/>
            </a:pPr>
            <a:r>
              <a:rPr lang="fr-FR" sz="1050" noProof="0" dirty="0">
                <a:solidFill>
                  <a:srgbClr val="64748B"/>
                </a:solidFill>
              </a:rPr>
              <a:t>Évalue les projets soumis et accompagne les consultations ≥ 30%</a:t>
            </a:r>
            <a:endParaRPr lang="fr-FR" sz="1050" noProof="0" dirty="0"/>
          </a:p>
        </p:txBody>
      </p:sp>
      <p:sp>
        <p:nvSpPr>
          <p:cNvPr id="18" name="Shape 16"/>
          <p:cNvSpPr/>
          <p:nvPr/>
        </p:nvSpPr>
        <p:spPr>
          <a:xfrm>
            <a:off x="144000" y="3712464"/>
            <a:ext cx="2514600" cy="76809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9" name="Shape 17"/>
          <p:cNvSpPr/>
          <p:nvPr/>
        </p:nvSpPr>
        <p:spPr>
          <a:xfrm>
            <a:off x="13680" y="3712464"/>
            <a:ext cx="64008" cy="768096"/>
          </a:xfrm>
          <a:prstGeom prst="rect">
            <a:avLst/>
          </a:prstGeom>
          <a:solidFill>
            <a:srgbClr val="145F70"/>
          </a:solidFill>
          <a:ln w="12700">
            <a:solidFill>
              <a:srgbClr val="145F70"/>
            </a:solidFill>
            <a:prstDash val="solid"/>
          </a:ln>
        </p:spPr>
        <p:txBody>
          <a:bodyPr/>
          <a:lstStyle/>
          <a:p>
            <a:endParaRPr lang="fr-FR" noProof="0" dirty="0"/>
          </a:p>
        </p:txBody>
      </p:sp>
      <p:sp>
        <p:nvSpPr>
          <p:cNvPr id="20" name="Text 18"/>
          <p:cNvSpPr/>
          <p:nvPr/>
        </p:nvSpPr>
        <p:spPr>
          <a:xfrm>
            <a:off x="159984" y="3767328"/>
            <a:ext cx="2286000" cy="274320"/>
          </a:xfrm>
          <a:prstGeom prst="rect">
            <a:avLst/>
          </a:prstGeom>
          <a:noFill/>
          <a:ln/>
        </p:spPr>
        <p:txBody>
          <a:bodyPr wrap="square" lIns="0" tIns="0" rIns="0" bIns="0" rtlCol="0" anchor="ctr"/>
          <a:lstStyle/>
          <a:p>
            <a:pPr marL="0" indent="0">
              <a:buNone/>
            </a:pPr>
            <a:r>
              <a:rPr lang="fr-FR" sz="1100" b="1" noProof="0" dirty="0">
                <a:solidFill>
                  <a:srgbClr val="1A2C56"/>
                </a:solidFill>
              </a:rPr>
              <a:t>Administrateur</a:t>
            </a:r>
            <a:endParaRPr lang="fr-FR" sz="1100" noProof="0" dirty="0"/>
          </a:p>
        </p:txBody>
      </p:sp>
      <p:sp>
        <p:nvSpPr>
          <p:cNvPr id="21" name="Text 19"/>
          <p:cNvSpPr/>
          <p:nvPr/>
        </p:nvSpPr>
        <p:spPr>
          <a:xfrm>
            <a:off x="159984" y="4078224"/>
            <a:ext cx="2286000" cy="347472"/>
          </a:xfrm>
          <a:prstGeom prst="rect">
            <a:avLst/>
          </a:prstGeom>
          <a:noFill/>
          <a:ln/>
        </p:spPr>
        <p:txBody>
          <a:bodyPr wrap="square" lIns="0" tIns="0" rIns="0" bIns="0" rtlCol="0" anchor="ctr"/>
          <a:lstStyle/>
          <a:p>
            <a:pPr marL="0" indent="0">
              <a:buNone/>
            </a:pPr>
            <a:r>
              <a:rPr lang="fr-FR" sz="1050" noProof="0" dirty="0">
                <a:solidFill>
                  <a:srgbClr val="64748B"/>
                </a:solidFill>
              </a:rPr>
              <a:t>Gère la gouvernance globale : publication, modération, retraits</a:t>
            </a:r>
            <a:endParaRPr lang="fr-FR" sz="1050" noProof="0" dirty="0"/>
          </a:p>
        </p:txBody>
      </p:sp>
      <p:pic>
        <p:nvPicPr>
          <p:cNvPr id="22" name="Image 0" descr="preencoded.png"/>
          <p:cNvPicPr>
            <a:picLocks noChangeAspect="1"/>
          </p:cNvPicPr>
          <p:nvPr/>
        </p:nvPicPr>
        <p:blipFill>
          <a:blip r:embed="rId3"/>
          <a:srcRect/>
          <a:stretch/>
        </p:blipFill>
        <p:spPr>
          <a:xfrm>
            <a:off x="2658600" y="868680"/>
            <a:ext cx="6441911" cy="4114800"/>
          </a:xfrm>
          <a:prstGeom prst="rect">
            <a:avLst/>
          </a:prstGeom>
        </p:spPr>
      </p:pic>
      <p:sp>
        <p:nvSpPr>
          <p:cNvPr id="23" name="Text 20"/>
          <p:cNvSpPr/>
          <p:nvPr/>
        </p:nvSpPr>
        <p:spPr>
          <a:xfrm>
            <a:off x="2658600" y="4964611"/>
            <a:ext cx="1809322" cy="177129"/>
          </a:xfrm>
          <a:prstGeom prst="rect">
            <a:avLst/>
          </a:prstGeom>
          <a:noFill/>
          <a:ln/>
        </p:spPr>
        <p:txBody>
          <a:bodyPr wrap="square" lIns="0" tIns="0" rIns="0" bIns="0" rtlCol="0" anchor="ctr"/>
          <a:lstStyle/>
          <a:p>
            <a:r>
              <a:rPr lang="fr-FR" sz="800" i="1" dirty="0">
                <a:solidFill>
                  <a:srgbClr val="64748B"/>
                </a:solidFill>
              </a:rPr>
              <a:t> </a:t>
            </a:r>
            <a:r>
              <a:rPr lang="fr-FR" sz="1050" i="1" noProof="0" dirty="0">
                <a:solidFill>
                  <a:srgbClr val="64748B"/>
                </a:solidFill>
              </a:rPr>
              <a:t>Diagramme des cas d'utilisation</a:t>
            </a:r>
            <a:endParaRPr lang="fr-FR" sz="1050" noProof="0" dirty="0"/>
          </a:p>
        </p:txBody>
      </p:sp>
      <p:sp>
        <p:nvSpPr>
          <p:cNvPr id="9001" name="PageNum6"/>
          <p:cNvSpPr txBox="1"/>
          <p:nvPr/>
        </p:nvSpPr>
        <p:spPr>
          <a:xfrm>
            <a:off x="8200000" y="4941740"/>
            <a:ext cx="800000" cy="200000"/>
          </a:xfrm>
          <a:prstGeom prst="rect">
            <a:avLst/>
          </a:prstGeom>
          <a:noFill/>
        </p:spPr>
        <p:txBody>
          <a:bodyPr anchor="ctr">
            <a:noAutofit/>
          </a:bodyPr>
          <a:lstStyle/>
          <a:p>
            <a:pPr algn="r"/>
            <a:r>
              <a:rPr lang="fr-FR" sz="1000" b="0" dirty="0">
                <a:solidFill>
                  <a:srgbClr val="1A2C56"/>
                </a:solidFill>
              </a:rPr>
              <a:t>6 / 13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4  —  </a:t>
            </a:r>
            <a:r>
              <a:rPr lang="fr-FR" sz="1650" b="1" noProof="0" dirty="0">
                <a:solidFill>
                  <a:srgbClr val="FFFFFF"/>
                </a:solidFill>
              </a:rPr>
              <a:t>CYCLE DE VIE D'UN PROJET — 9 ÉTATS (1.2.2)</a:t>
            </a:r>
            <a:endParaRPr lang="fr-FR" sz="1650" noProof="0" dirty="0"/>
          </a:p>
        </p:txBody>
      </p:sp>
      <p:sp>
        <p:nvSpPr>
          <p:cNvPr id="5" name="Shape 3"/>
          <p:cNvSpPr/>
          <p:nvPr/>
        </p:nvSpPr>
        <p:spPr>
          <a:xfrm>
            <a:off x="256032" y="987552"/>
            <a:ext cx="1536192" cy="530352"/>
          </a:xfrm>
          <a:prstGeom prst="rect">
            <a:avLst/>
          </a:prstGeom>
          <a:solidFill>
            <a:srgbClr val="64748B"/>
          </a:solidFill>
          <a:ln w="12700">
            <a:solidFill>
              <a:srgbClr val="64748B"/>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6" name="Text 4"/>
          <p:cNvSpPr/>
          <p:nvPr/>
        </p:nvSpPr>
        <p:spPr>
          <a:xfrm>
            <a:off x="256032" y="987552"/>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DRAFT</a:t>
            </a:r>
            <a:endParaRPr lang="fr-FR" sz="1050" noProof="0" dirty="0"/>
          </a:p>
        </p:txBody>
      </p:sp>
      <p:sp>
        <p:nvSpPr>
          <p:cNvPr id="7" name="Shape 5"/>
          <p:cNvSpPr/>
          <p:nvPr/>
        </p:nvSpPr>
        <p:spPr>
          <a:xfrm>
            <a:off x="1938528" y="987552"/>
            <a:ext cx="1536192" cy="530352"/>
          </a:xfrm>
          <a:prstGeom prst="rect">
            <a:avLst/>
          </a:prstGeom>
          <a:solidFill>
            <a:srgbClr val="1A6B82"/>
          </a:solidFill>
          <a:ln w="12700">
            <a:solidFill>
              <a:srgbClr val="1A6B82"/>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8" name="Text 6"/>
          <p:cNvSpPr/>
          <p:nvPr/>
        </p:nvSpPr>
        <p:spPr>
          <a:xfrm>
            <a:off x="1938528" y="987552"/>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AWAITING_AI</a:t>
            </a:r>
            <a:endParaRPr lang="fr-FR" sz="1050" noProof="0" dirty="0"/>
          </a:p>
        </p:txBody>
      </p:sp>
      <p:sp>
        <p:nvSpPr>
          <p:cNvPr id="9" name="Shape 7"/>
          <p:cNvSpPr/>
          <p:nvPr/>
        </p:nvSpPr>
        <p:spPr>
          <a:xfrm>
            <a:off x="3621024" y="987552"/>
            <a:ext cx="1536192" cy="530352"/>
          </a:xfrm>
          <a:prstGeom prst="rect">
            <a:avLst/>
          </a:prstGeom>
          <a:solidFill>
            <a:srgbClr val="0D7680"/>
          </a:solidFill>
          <a:ln w="12700">
            <a:solidFill>
              <a:srgbClr val="0D768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0" name="Text 8"/>
          <p:cNvSpPr/>
          <p:nvPr/>
        </p:nvSpPr>
        <p:spPr>
          <a:xfrm>
            <a:off x="3621024" y="987552"/>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UNDER_REVIEW</a:t>
            </a:r>
            <a:endParaRPr lang="fr-FR" sz="1050" noProof="0" dirty="0"/>
          </a:p>
        </p:txBody>
      </p:sp>
      <p:sp>
        <p:nvSpPr>
          <p:cNvPr id="11" name="Shape 9"/>
          <p:cNvSpPr/>
          <p:nvPr/>
        </p:nvSpPr>
        <p:spPr>
          <a:xfrm>
            <a:off x="5303520" y="987552"/>
            <a:ext cx="1536192" cy="530352"/>
          </a:xfrm>
          <a:prstGeom prst="rect">
            <a:avLst/>
          </a:prstGeom>
          <a:solidFill>
            <a:srgbClr val="0A7A48"/>
          </a:solidFill>
          <a:ln w="12700">
            <a:solidFill>
              <a:srgbClr val="0A7A48"/>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2" name="Text 10"/>
          <p:cNvSpPr/>
          <p:nvPr/>
        </p:nvSpPr>
        <p:spPr>
          <a:xfrm>
            <a:off x="5303520" y="987552"/>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APPROVED</a:t>
            </a:r>
            <a:endParaRPr lang="fr-FR" sz="1050" noProof="0" dirty="0"/>
          </a:p>
        </p:txBody>
      </p:sp>
      <p:sp>
        <p:nvSpPr>
          <p:cNvPr id="13" name="Shape 11"/>
          <p:cNvSpPr/>
          <p:nvPr/>
        </p:nvSpPr>
        <p:spPr>
          <a:xfrm>
            <a:off x="6986016" y="987552"/>
            <a:ext cx="1536192" cy="530352"/>
          </a:xfrm>
          <a:prstGeom prst="rect">
            <a:avLst/>
          </a:prstGeom>
          <a:solidFill>
            <a:srgbClr val="1A8C50"/>
          </a:solidFill>
          <a:ln w="12700">
            <a:solidFill>
              <a:srgbClr val="1A8C5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4" name="Text 12"/>
          <p:cNvSpPr/>
          <p:nvPr/>
        </p:nvSpPr>
        <p:spPr>
          <a:xfrm>
            <a:off x="6986016" y="987552"/>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ACTIVE</a:t>
            </a:r>
            <a:endParaRPr lang="fr-FR" sz="1050" noProof="0" dirty="0"/>
          </a:p>
        </p:txBody>
      </p:sp>
      <p:sp>
        <p:nvSpPr>
          <p:cNvPr id="15" name="Shape 13"/>
          <p:cNvSpPr/>
          <p:nvPr/>
        </p:nvSpPr>
        <p:spPr>
          <a:xfrm>
            <a:off x="3621024" y="2197504"/>
            <a:ext cx="1536192" cy="530352"/>
          </a:xfrm>
          <a:prstGeom prst="rect">
            <a:avLst/>
          </a:prstGeom>
          <a:solidFill>
            <a:srgbClr val="B03A2E"/>
          </a:solidFill>
          <a:ln w="12700">
            <a:solidFill>
              <a:srgbClr val="B03A2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6" name="Text 14"/>
          <p:cNvSpPr/>
          <p:nvPr/>
        </p:nvSpPr>
        <p:spPr>
          <a:xfrm>
            <a:off x="3621025" y="2197504"/>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REJECTED</a:t>
            </a:r>
            <a:endParaRPr lang="fr-FR" sz="1050" noProof="0" dirty="0"/>
          </a:p>
        </p:txBody>
      </p:sp>
      <p:sp>
        <p:nvSpPr>
          <p:cNvPr id="17" name="Shape 15"/>
          <p:cNvSpPr/>
          <p:nvPr/>
        </p:nvSpPr>
        <p:spPr>
          <a:xfrm>
            <a:off x="5295691" y="2197504"/>
            <a:ext cx="1536192" cy="530352"/>
          </a:xfrm>
          <a:prstGeom prst="rect">
            <a:avLst/>
          </a:prstGeom>
          <a:solidFill>
            <a:srgbClr val="1A5C82"/>
          </a:solidFill>
          <a:ln w="12700">
            <a:solidFill>
              <a:srgbClr val="1A5C82"/>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8" name="Text 16"/>
          <p:cNvSpPr/>
          <p:nvPr/>
        </p:nvSpPr>
        <p:spPr>
          <a:xfrm>
            <a:off x="5303520" y="2197504"/>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FUNDED</a:t>
            </a:r>
            <a:endParaRPr lang="fr-FR" sz="1050" noProof="0" dirty="0"/>
          </a:p>
        </p:txBody>
      </p:sp>
      <p:sp>
        <p:nvSpPr>
          <p:cNvPr id="19" name="Shape 17"/>
          <p:cNvSpPr/>
          <p:nvPr/>
        </p:nvSpPr>
        <p:spPr>
          <a:xfrm>
            <a:off x="5295691" y="2939921"/>
            <a:ext cx="1536192" cy="530352"/>
          </a:xfrm>
          <a:prstGeom prst="rect">
            <a:avLst/>
          </a:prstGeom>
          <a:solidFill>
            <a:srgbClr val="2C3E50"/>
          </a:solidFill>
          <a:ln w="12700">
            <a:solidFill>
              <a:srgbClr val="2C3E5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0" name="Text 18"/>
          <p:cNvSpPr/>
          <p:nvPr/>
        </p:nvSpPr>
        <p:spPr>
          <a:xfrm>
            <a:off x="5295691" y="2939921"/>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CLOSED</a:t>
            </a:r>
            <a:endParaRPr lang="fr-FR" sz="1050" noProof="0" dirty="0"/>
          </a:p>
        </p:txBody>
      </p:sp>
      <p:sp>
        <p:nvSpPr>
          <p:cNvPr id="23" name="Shape 21"/>
          <p:cNvSpPr/>
          <p:nvPr/>
        </p:nvSpPr>
        <p:spPr>
          <a:xfrm>
            <a:off x="6986016" y="2189675"/>
            <a:ext cx="1536192" cy="530352"/>
          </a:xfrm>
          <a:prstGeom prst="rect">
            <a:avLst/>
          </a:prstGeom>
          <a:solidFill>
            <a:srgbClr val="7D3C98"/>
          </a:solidFill>
          <a:ln w="12700">
            <a:solidFill>
              <a:srgbClr val="7D3C98"/>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4" name="Text 22"/>
          <p:cNvSpPr/>
          <p:nvPr/>
        </p:nvSpPr>
        <p:spPr>
          <a:xfrm>
            <a:off x="6986016" y="2189675"/>
            <a:ext cx="1536192" cy="530352"/>
          </a:xfrm>
          <a:prstGeom prst="rect">
            <a:avLst/>
          </a:prstGeom>
          <a:noFill/>
          <a:ln/>
        </p:spPr>
        <p:txBody>
          <a:bodyPr wrap="square" lIns="12700" tIns="12700" rIns="12700" bIns="12700" rtlCol="0" anchor="ctr"/>
          <a:lstStyle/>
          <a:p>
            <a:pPr marL="0" indent="0" algn="ctr">
              <a:buNone/>
            </a:pPr>
            <a:r>
              <a:rPr lang="fr-FR" sz="1050" b="1" noProof="0" dirty="0">
                <a:solidFill>
                  <a:srgbClr val="FFFFFF"/>
                </a:solidFill>
              </a:rPr>
              <a:t>SUSPENDED</a:t>
            </a:r>
            <a:endParaRPr lang="fr-FR" sz="1050" noProof="0" dirty="0"/>
          </a:p>
        </p:txBody>
      </p:sp>
      <p:sp>
        <p:nvSpPr>
          <p:cNvPr id="25" name="Shape 23"/>
          <p:cNvSpPr/>
          <p:nvPr/>
        </p:nvSpPr>
        <p:spPr>
          <a:xfrm>
            <a:off x="1792224" y="1252728"/>
            <a:ext cx="146304" cy="0"/>
          </a:xfrm>
          <a:prstGeom prst="line">
            <a:avLst/>
          </a:prstGeom>
          <a:noFill/>
          <a:ln w="20320">
            <a:solidFill>
              <a:srgbClr val="999999"/>
            </a:solidFill>
            <a:prstDash val="solid"/>
            <a:tailEnd type="none"/>
          </a:ln>
        </p:spPr>
        <p:txBody>
          <a:bodyPr/>
          <a:lstStyle/>
          <a:p>
            <a:endParaRPr lang="fr-FR" noProof="0" dirty="0"/>
          </a:p>
        </p:txBody>
      </p:sp>
      <p:sp>
        <p:nvSpPr>
          <p:cNvPr id="26" name="Shape 24"/>
          <p:cNvSpPr/>
          <p:nvPr/>
        </p:nvSpPr>
        <p:spPr>
          <a:xfrm>
            <a:off x="3474720" y="1252728"/>
            <a:ext cx="146304" cy="0"/>
          </a:xfrm>
          <a:prstGeom prst="line">
            <a:avLst/>
          </a:prstGeom>
          <a:noFill/>
          <a:ln w="20320">
            <a:solidFill>
              <a:srgbClr val="999999"/>
            </a:solidFill>
            <a:prstDash val="solid"/>
            <a:tailEnd type="none"/>
          </a:ln>
        </p:spPr>
        <p:txBody>
          <a:bodyPr/>
          <a:lstStyle/>
          <a:p>
            <a:endParaRPr lang="fr-FR" noProof="0" dirty="0"/>
          </a:p>
        </p:txBody>
      </p:sp>
      <p:sp>
        <p:nvSpPr>
          <p:cNvPr id="27" name="Shape 25"/>
          <p:cNvSpPr/>
          <p:nvPr/>
        </p:nvSpPr>
        <p:spPr>
          <a:xfrm>
            <a:off x="5157216" y="1252728"/>
            <a:ext cx="146304" cy="0"/>
          </a:xfrm>
          <a:prstGeom prst="line">
            <a:avLst/>
          </a:prstGeom>
          <a:noFill/>
          <a:ln w="20320">
            <a:solidFill>
              <a:srgbClr val="999999"/>
            </a:solidFill>
            <a:prstDash val="solid"/>
            <a:tailEnd type="none"/>
          </a:ln>
        </p:spPr>
        <p:txBody>
          <a:bodyPr/>
          <a:lstStyle/>
          <a:p>
            <a:endParaRPr lang="fr-FR" noProof="0" dirty="0"/>
          </a:p>
        </p:txBody>
      </p:sp>
      <p:sp>
        <p:nvSpPr>
          <p:cNvPr id="28" name="Shape 26"/>
          <p:cNvSpPr/>
          <p:nvPr/>
        </p:nvSpPr>
        <p:spPr>
          <a:xfrm>
            <a:off x="6839712" y="1252728"/>
            <a:ext cx="146304" cy="0"/>
          </a:xfrm>
          <a:prstGeom prst="line">
            <a:avLst/>
          </a:prstGeom>
          <a:noFill/>
          <a:ln w="20320">
            <a:solidFill>
              <a:srgbClr val="999999"/>
            </a:solidFill>
            <a:prstDash val="solid"/>
            <a:tailEnd type="none"/>
          </a:ln>
        </p:spPr>
        <p:txBody>
          <a:bodyPr/>
          <a:lstStyle/>
          <a:p>
            <a:endParaRPr lang="fr-FR" noProof="0" dirty="0"/>
          </a:p>
        </p:txBody>
      </p:sp>
      <p:sp>
        <p:nvSpPr>
          <p:cNvPr id="29" name="Shape 27"/>
          <p:cNvSpPr/>
          <p:nvPr/>
        </p:nvSpPr>
        <p:spPr>
          <a:xfrm flipH="1">
            <a:off x="4412605" y="1517904"/>
            <a:ext cx="1" cy="663942"/>
          </a:xfrm>
          <a:prstGeom prst="line">
            <a:avLst/>
          </a:prstGeom>
          <a:noFill/>
          <a:ln w="17780">
            <a:solidFill>
              <a:srgbClr val="999999"/>
            </a:solidFill>
            <a:prstDash val="solid"/>
            <a:tailEnd type="none"/>
          </a:ln>
        </p:spPr>
        <p:txBody>
          <a:bodyPr/>
          <a:lstStyle/>
          <a:p>
            <a:endParaRPr lang="fr-FR" noProof="0" dirty="0"/>
          </a:p>
        </p:txBody>
      </p:sp>
      <p:sp>
        <p:nvSpPr>
          <p:cNvPr id="30" name="Shape 28"/>
          <p:cNvSpPr/>
          <p:nvPr/>
        </p:nvSpPr>
        <p:spPr>
          <a:xfrm>
            <a:off x="7754112" y="1517904"/>
            <a:ext cx="0" cy="671771"/>
          </a:xfrm>
          <a:prstGeom prst="line">
            <a:avLst/>
          </a:prstGeom>
          <a:noFill/>
          <a:ln w="17780">
            <a:solidFill>
              <a:srgbClr val="999999"/>
            </a:solidFill>
            <a:prstDash val="solid"/>
            <a:tailEnd type="none"/>
          </a:ln>
        </p:spPr>
        <p:txBody>
          <a:bodyPr/>
          <a:lstStyle/>
          <a:p>
            <a:endParaRPr lang="fr-FR" noProof="0" dirty="0"/>
          </a:p>
        </p:txBody>
      </p:sp>
      <p:sp>
        <p:nvSpPr>
          <p:cNvPr id="31" name="Shape 29"/>
          <p:cNvSpPr/>
          <p:nvPr/>
        </p:nvSpPr>
        <p:spPr>
          <a:xfrm>
            <a:off x="6071616" y="1517904"/>
            <a:ext cx="0" cy="671771"/>
          </a:xfrm>
          <a:prstGeom prst="line">
            <a:avLst/>
          </a:prstGeom>
          <a:noFill/>
          <a:ln w="17780">
            <a:solidFill>
              <a:srgbClr val="999999"/>
            </a:solidFill>
            <a:prstDash val="solid"/>
            <a:tailEnd type="none"/>
          </a:ln>
        </p:spPr>
        <p:txBody>
          <a:bodyPr/>
          <a:lstStyle/>
          <a:p>
            <a:endParaRPr lang="fr-FR" noProof="0" dirty="0"/>
          </a:p>
        </p:txBody>
      </p:sp>
      <p:sp>
        <p:nvSpPr>
          <p:cNvPr id="32" name="Shape 30"/>
          <p:cNvSpPr/>
          <p:nvPr/>
        </p:nvSpPr>
        <p:spPr>
          <a:xfrm>
            <a:off x="6071616" y="2712198"/>
            <a:ext cx="0" cy="219894"/>
          </a:xfrm>
          <a:prstGeom prst="line">
            <a:avLst/>
          </a:prstGeom>
          <a:noFill/>
          <a:ln w="20320">
            <a:solidFill>
              <a:srgbClr val="999999"/>
            </a:solidFill>
            <a:prstDash val="solid"/>
            <a:tailEnd type="none"/>
          </a:ln>
        </p:spPr>
        <p:txBody>
          <a:bodyPr/>
          <a:lstStyle/>
          <a:p>
            <a:endParaRPr lang="fr-FR" noProof="0" dirty="0"/>
          </a:p>
        </p:txBody>
      </p:sp>
      <p:sp>
        <p:nvSpPr>
          <p:cNvPr id="33" name="Shape 31"/>
          <p:cNvSpPr/>
          <p:nvPr/>
        </p:nvSpPr>
        <p:spPr>
          <a:xfrm>
            <a:off x="7754112" y="1517904"/>
            <a:ext cx="0" cy="671771"/>
          </a:xfrm>
          <a:prstGeom prst="line">
            <a:avLst/>
          </a:prstGeom>
          <a:noFill/>
          <a:ln w="15240">
            <a:solidFill>
              <a:srgbClr val="999999"/>
            </a:solidFill>
            <a:prstDash val="solid"/>
            <a:tailEnd type="none"/>
          </a:ln>
        </p:spPr>
        <p:txBody>
          <a:bodyPr/>
          <a:lstStyle/>
          <a:p>
            <a:endParaRPr lang="fr-FR" noProof="0" dirty="0"/>
          </a:p>
        </p:txBody>
      </p:sp>
      <p:sp>
        <p:nvSpPr>
          <p:cNvPr id="34" name="Shape 32"/>
          <p:cNvSpPr/>
          <p:nvPr/>
        </p:nvSpPr>
        <p:spPr>
          <a:xfrm>
            <a:off x="256032" y="4315968"/>
            <a:ext cx="8631936" cy="566928"/>
          </a:xfrm>
          <a:prstGeom prst="rect">
            <a:avLst/>
          </a:prstGeom>
          <a:solidFill>
            <a:srgbClr val="162240"/>
          </a:solidFill>
          <a:ln w="12700">
            <a:solidFill>
              <a:srgbClr val="162240"/>
            </a:solidFill>
            <a:prstDash val="solid"/>
          </a:ln>
        </p:spPr>
        <p:txBody>
          <a:bodyPr/>
          <a:lstStyle/>
          <a:p>
            <a:endParaRPr lang="fr-FR" noProof="0" dirty="0"/>
          </a:p>
        </p:txBody>
      </p:sp>
      <p:sp>
        <p:nvSpPr>
          <p:cNvPr id="35" name="Text 33"/>
          <p:cNvSpPr/>
          <p:nvPr/>
        </p:nvSpPr>
        <p:spPr>
          <a:xfrm>
            <a:off x="384048" y="4352544"/>
            <a:ext cx="8366760" cy="493776"/>
          </a:xfrm>
          <a:prstGeom prst="rect">
            <a:avLst/>
          </a:prstGeom>
          <a:noFill/>
          <a:ln/>
        </p:spPr>
        <p:txBody>
          <a:bodyPr wrap="square" lIns="0" tIns="0" rIns="0" bIns="0" rtlCol="0" anchor="ctr"/>
          <a:lstStyle/>
          <a:p>
            <a:r>
              <a:rPr lang="fr-FR" sz="1100" i="1" noProof="0" dirty="0">
                <a:solidFill>
                  <a:srgbClr val="B8C8D8"/>
                </a:solidFill>
              </a:rPr>
              <a:t>Chaque transition déclenche une notification personnalisée. La cohérence est garantie par des mises à jour conditionnelles atomiques MongoDB</a:t>
            </a:r>
            <a:r>
              <a:rPr lang="fr-FR" sz="950" i="1" noProof="0" dirty="0">
                <a:solidFill>
                  <a:srgbClr val="B8C8D8"/>
                </a:solidFill>
              </a:rPr>
              <a:t>.</a:t>
            </a:r>
            <a:endParaRPr lang="fr-FR" sz="950" noProof="0" dirty="0"/>
          </a:p>
        </p:txBody>
      </p:sp>
      <p:sp>
        <p:nvSpPr>
          <p:cNvPr id="36" name="Shape 27">
            <a:extLst>
              <a:ext uri="{FF2B5EF4-FFF2-40B4-BE49-F238E27FC236}">
                <a16:creationId xmlns:a16="http://schemas.microsoft.com/office/drawing/2014/main" id="{46CDB000-4477-D216-196A-DBA5ABF91F5A}"/>
              </a:ext>
            </a:extLst>
          </p:cNvPr>
          <p:cNvSpPr/>
          <p:nvPr/>
        </p:nvSpPr>
        <p:spPr>
          <a:xfrm>
            <a:off x="200" y="200"/>
            <a:ext cx="0" cy="0"/>
          </a:xfrm>
          <a:prstGeom prst="line">
            <a:avLst/>
          </a:prstGeom>
          <a:noFill/>
          <a:ln w="17780">
            <a:solidFill>
              <a:srgbClr val="999999"/>
            </a:solidFill>
            <a:prstDash val="solid"/>
            <a:tailEnd type="none"/>
          </a:ln>
        </p:spPr>
        <p:txBody>
          <a:bodyPr/>
          <a:lstStyle/>
          <a:p>
            <a:endParaRPr lang="fr-FR" noProof="0" dirty="0"/>
          </a:p>
        </p:txBody>
      </p:sp>
      <p:sp>
        <p:nvSpPr>
          <p:cNvPr id="37" name="Shape 35"/>
          <p:cNvSpPr/>
          <p:nvPr/>
        </p:nvSpPr>
        <p:spPr>
          <a:xfrm>
            <a:off x="200" y="200"/>
            <a:ext cx="0" cy="0"/>
          </a:xfrm>
          <a:prstGeom prst="line">
            <a:avLst/>
          </a:prstGeom>
          <a:noFill/>
          <a:ln w="17780">
            <a:solidFill>
              <a:srgbClr val="999999"/>
            </a:solidFill>
            <a:prstDash val="solid"/>
            <a:tailEnd type="none"/>
          </a:ln>
        </p:spPr>
        <p:txBody>
          <a:bodyPr/>
          <a:lstStyle/>
          <a:p>
            <a:endParaRPr lang="fr-FR" noProof="0" dirty="0"/>
          </a:p>
        </p:txBody>
      </p:sp>
      <p:sp>
        <p:nvSpPr>
          <p:cNvPr id="9001" name="PageNum7"/>
          <p:cNvSpPr txBox="1"/>
          <p:nvPr/>
        </p:nvSpPr>
        <p:spPr>
          <a:xfrm>
            <a:off x="8200000" y="4900000"/>
            <a:ext cx="800000" cy="200000"/>
          </a:xfrm>
          <a:prstGeom prst="rect">
            <a:avLst/>
          </a:prstGeom>
          <a:noFill/>
        </p:spPr>
        <p:txBody>
          <a:bodyPr anchor="ctr">
            <a:noAutofit/>
          </a:bodyPr>
          <a:lstStyle/>
          <a:p>
            <a:pPr algn="r"/>
            <a:r>
              <a:rPr lang="fr-FR" sz="1000" b="0" dirty="0">
                <a:solidFill>
                  <a:srgbClr val="1A2C56"/>
                </a:solidFill>
              </a:rPr>
              <a:t>7 / 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5  —  </a:t>
            </a:r>
            <a:r>
              <a:rPr lang="fr-FR" sz="1650" b="1" noProof="0" dirty="0">
                <a:solidFill>
                  <a:srgbClr val="FFFFFF"/>
                </a:solidFill>
              </a:rPr>
              <a:t>MODÈLE DU DOMAINE — CLASSES &amp; ASSOCIATIONS (3.3)</a:t>
            </a:r>
            <a:endParaRPr lang="fr-FR" sz="1650" noProof="0" dirty="0"/>
          </a:p>
        </p:txBody>
      </p:sp>
      <p:pic>
        <p:nvPicPr>
          <p:cNvPr id="5" name="Image 0" descr="preencoded.png"/>
          <p:cNvPicPr>
            <a:picLocks noChangeAspect="1"/>
          </p:cNvPicPr>
          <p:nvPr/>
        </p:nvPicPr>
        <p:blipFill>
          <a:blip r:embed="rId3"/>
          <a:srcRect/>
          <a:stretch/>
        </p:blipFill>
        <p:spPr>
          <a:xfrm>
            <a:off x="137160" y="868680"/>
            <a:ext cx="8869680" cy="4096512"/>
          </a:xfrm>
          <a:prstGeom prst="rect">
            <a:avLst/>
          </a:prstGeom>
        </p:spPr>
      </p:pic>
      <p:sp>
        <p:nvSpPr>
          <p:cNvPr id="6" name="Text 3"/>
          <p:cNvSpPr/>
          <p:nvPr/>
        </p:nvSpPr>
        <p:spPr>
          <a:xfrm>
            <a:off x="137160" y="4918060"/>
            <a:ext cx="8595360" cy="256032"/>
          </a:xfrm>
          <a:prstGeom prst="rect">
            <a:avLst/>
          </a:prstGeom>
          <a:noFill/>
          <a:ln/>
        </p:spPr>
        <p:txBody>
          <a:bodyPr wrap="square" lIns="0" tIns="0" rIns="0" bIns="0" rtlCol="0" anchor="ctr"/>
          <a:lstStyle/>
          <a:p>
            <a:pPr marL="0" indent="0">
              <a:buNone/>
            </a:pPr>
            <a:r>
              <a:rPr lang="fr-FR" sz="900" i="1" noProof="0" dirty="0">
                <a:solidFill>
                  <a:srgbClr val="64748B"/>
                </a:solidFill>
              </a:rPr>
              <a:t>15 classes métier · 10+ énumérations · Associations : Utilisateur, Projet, Investissement, Transaction, Retrait, </a:t>
            </a:r>
            <a:r>
              <a:rPr lang="fr-FR" sz="900" i="1" noProof="0" dirty="0" err="1">
                <a:solidFill>
                  <a:srgbClr val="64748B"/>
                </a:solidFill>
              </a:rPr>
              <a:t>RapportRisque</a:t>
            </a:r>
            <a:r>
              <a:rPr lang="fr-FR" sz="900" i="1" noProof="0" dirty="0">
                <a:solidFill>
                  <a:srgbClr val="64748B"/>
                </a:solidFill>
              </a:rPr>
              <a:t>, </a:t>
            </a:r>
            <a:r>
              <a:rPr lang="fr-FR" sz="900" i="1" noProof="0" dirty="0" err="1">
                <a:solidFill>
                  <a:srgbClr val="64748B"/>
                </a:solidFill>
              </a:rPr>
              <a:t>ConsultationExpert</a:t>
            </a:r>
            <a:r>
              <a:rPr lang="fr-FR" sz="900" i="1" noProof="0" dirty="0">
                <a:solidFill>
                  <a:srgbClr val="64748B"/>
                </a:solidFill>
              </a:rPr>
              <a:t>, Signalement, Notification, </a:t>
            </a:r>
            <a:r>
              <a:rPr lang="fr-FR" sz="900" i="1" noProof="0" dirty="0" err="1">
                <a:solidFill>
                  <a:srgbClr val="64748B"/>
                </a:solidFill>
              </a:rPr>
              <a:t>AuditLog</a:t>
            </a:r>
            <a:r>
              <a:rPr lang="fr-FR" sz="900" i="1" noProof="0" dirty="0">
                <a:solidFill>
                  <a:srgbClr val="64748B"/>
                </a:solidFill>
              </a:rPr>
              <a:t>…</a:t>
            </a:r>
            <a:endParaRPr lang="fr-FR" sz="900" noProof="0" dirty="0"/>
          </a:p>
        </p:txBody>
      </p:sp>
      <p:sp>
        <p:nvSpPr>
          <p:cNvPr id="9001" name="PageNum8"/>
          <p:cNvSpPr txBox="1"/>
          <p:nvPr/>
        </p:nvSpPr>
        <p:spPr>
          <a:xfrm>
            <a:off x="8325680" y="4956659"/>
            <a:ext cx="800000" cy="200000"/>
          </a:xfrm>
          <a:prstGeom prst="rect">
            <a:avLst/>
          </a:prstGeom>
          <a:noFill/>
        </p:spPr>
        <p:txBody>
          <a:bodyPr anchor="ctr">
            <a:noAutofit/>
          </a:bodyPr>
          <a:lstStyle/>
          <a:p>
            <a:pPr algn="r"/>
            <a:r>
              <a:rPr lang="fr-FR" sz="1000" b="0" dirty="0">
                <a:solidFill>
                  <a:srgbClr val="1A2C56"/>
                </a:solidFill>
              </a:rPr>
              <a:t>8 /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6  —  </a:t>
            </a:r>
            <a:r>
              <a:rPr lang="fr-FR" sz="1650" b="1" noProof="0" dirty="0">
                <a:solidFill>
                  <a:srgbClr val="FFFFFF"/>
                </a:solidFill>
              </a:rPr>
              <a:t>ARCHITECTURE SYSTÈME &amp; TECHNOLOGIES (3.4 &amp; Tableaux 14–15)</a:t>
            </a:r>
            <a:endParaRPr lang="fr-FR" sz="1650" noProof="0" dirty="0"/>
          </a:p>
        </p:txBody>
      </p:sp>
      <p:sp>
        <p:nvSpPr>
          <p:cNvPr id="5" name="Text 3"/>
          <p:cNvSpPr/>
          <p:nvPr/>
        </p:nvSpPr>
        <p:spPr>
          <a:xfrm>
            <a:off x="256032" y="877824"/>
            <a:ext cx="5074920" cy="310896"/>
          </a:xfrm>
          <a:prstGeom prst="rect">
            <a:avLst/>
          </a:prstGeom>
          <a:noFill/>
          <a:ln/>
        </p:spPr>
        <p:txBody>
          <a:bodyPr wrap="square" lIns="0" tIns="0" rIns="0" bIns="0" rtlCol="0" anchor="ctr"/>
          <a:lstStyle/>
          <a:p>
            <a:pPr marL="0" indent="0">
              <a:buNone/>
            </a:pPr>
            <a:r>
              <a:rPr lang="fr-FR" sz="1100" b="1" noProof="0" dirty="0">
                <a:solidFill>
                  <a:srgbClr val="1A2C56"/>
                </a:solidFill>
              </a:rPr>
              <a:t>Architecture client-serveur en 3 couches (3.4.1)</a:t>
            </a:r>
            <a:endParaRPr lang="fr-FR" sz="1100" noProof="0" dirty="0"/>
          </a:p>
        </p:txBody>
      </p:sp>
      <p:sp>
        <p:nvSpPr>
          <p:cNvPr id="6" name="Shape 4"/>
          <p:cNvSpPr/>
          <p:nvPr/>
        </p:nvSpPr>
        <p:spPr>
          <a:xfrm>
            <a:off x="256032" y="1243584"/>
            <a:ext cx="5074920" cy="841248"/>
          </a:xfrm>
          <a:prstGeom prst="rect">
            <a:avLst/>
          </a:prstGeom>
          <a:solidFill>
            <a:srgbClr val="1A2C56"/>
          </a:solidFill>
          <a:ln w="12700">
            <a:solidFill>
              <a:srgbClr val="1A2C56"/>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7" name="Text 5"/>
          <p:cNvSpPr/>
          <p:nvPr/>
        </p:nvSpPr>
        <p:spPr>
          <a:xfrm>
            <a:off x="347472" y="1289304"/>
            <a:ext cx="1828800" cy="329184"/>
          </a:xfrm>
          <a:prstGeom prst="rect">
            <a:avLst/>
          </a:prstGeom>
          <a:noFill/>
          <a:ln/>
        </p:spPr>
        <p:txBody>
          <a:bodyPr wrap="square" lIns="0" tIns="0" rIns="0" bIns="0" rtlCol="0" anchor="ctr"/>
          <a:lstStyle/>
          <a:p>
            <a:pPr marL="0" indent="0">
              <a:buNone/>
            </a:pPr>
            <a:r>
              <a:rPr lang="fr-FR" sz="1150" b="1" noProof="0" dirty="0">
                <a:solidFill>
                  <a:srgbClr val="FFFFFF"/>
                </a:solidFill>
              </a:rPr>
              <a:t>Couche Présentation</a:t>
            </a:r>
            <a:endParaRPr lang="fr-FR" sz="1150" noProof="0" dirty="0"/>
          </a:p>
        </p:txBody>
      </p:sp>
      <p:sp>
        <p:nvSpPr>
          <p:cNvPr id="8" name="Text 6"/>
          <p:cNvSpPr/>
          <p:nvPr/>
        </p:nvSpPr>
        <p:spPr>
          <a:xfrm>
            <a:off x="347472" y="1682496"/>
            <a:ext cx="4800600" cy="347472"/>
          </a:xfrm>
          <a:prstGeom prst="rect">
            <a:avLst/>
          </a:prstGeom>
          <a:noFill/>
          <a:ln/>
        </p:spPr>
        <p:txBody>
          <a:bodyPr wrap="square" lIns="0" tIns="0" rIns="0" bIns="0" rtlCol="0" anchor="ctr"/>
          <a:lstStyle/>
          <a:p>
            <a:pPr marL="0" indent="0">
              <a:buNone/>
            </a:pPr>
            <a:r>
              <a:rPr lang="fr-FR" sz="1100" noProof="0" dirty="0" err="1">
                <a:solidFill>
                  <a:srgbClr val="B8C8D8"/>
                </a:solidFill>
              </a:rPr>
              <a:t>React</a:t>
            </a:r>
            <a:r>
              <a:rPr lang="fr-FR" sz="1100" noProof="0" dirty="0">
                <a:solidFill>
                  <a:srgbClr val="B8C8D8"/>
                </a:solidFill>
              </a:rPr>
              <a:t> 19 + Vite + </a:t>
            </a:r>
            <a:r>
              <a:rPr lang="fr-FR" sz="1100" noProof="0" dirty="0" err="1">
                <a:solidFill>
                  <a:srgbClr val="B8C8D8"/>
                </a:solidFill>
              </a:rPr>
              <a:t>Tailwind</a:t>
            </a:r>
            <a:r>
              <a:rPr lang="fr-FR" sz="1100" noProof="0" dirty="0">
                <a:solidFill>
                  <a:srgbClr val="B8C8D8"/>
                </a:solidFill>
              </a:rPr>
              <a:t> CSS v4 + </a:t>
            </a:r>
            <a:r>
              <a:rPr lang="fr-FR" sz="1100" noProof="0" dirty="0" err="1">
                <a:solidFill>
                  <a:srgbClr val="B8C8D8"/>
                </a:solidFill>
              </a:rPr>
              <a:t>Shadcn</a:t>
            </a:r>
            <a:r>
              <a:rPr lang="fr-FR" sz="1100" noProof="0" dirty="0">
                <a:solidFill>
                  <a:srgbClr val="B8C8D8"/>
                </a:solidFill>
              </a:rPr>
              <a:t> UI</a:t>
            </a:r>
            <a:endParaRPr lang="fr-FR" sz="1100" noProof="0" dirty="0"/>
          </a:p>
        </p:txBody>
      </p:sp>
      <p:sp>
        <p:nvSpPr>
          <p:cNvPr id="9" name="Shape 7"/>
          <p:cNvSpPr/>
          <p:nvPr/>
        </p:nvSpPr>
        <p:spPr>
          <a:xfrm>
            <a:off x="256032" y="2194560"/>
            <a:ext cx="5074920" cy="841248"/>
          </a:xfrm>
          <a:prstGeom prst="rect">
            <a:avLst/>
          </a:prstGeom>
          <a:solidFill>
            <a:srgbClr val="0D7680"/>
          </a:solidFill>
          <a:ln w="12700">
            <a:solidFill>
              <a:srgbClr val="0D768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0" name="Text 8"/>
          <p:cNvSpPr/>
          <p:nvPr/>
        </p:nvSpPr>
        <p:spPr>
          <a:xfrm>
            <a:off x="347472" y="2240280"/>
            <a:ext cx="1828800" cy="329184"/>
          </a:xfrm>
          <a:prstGeom prst="rect">
            <a:avLst/>
          </a:prstGeom>
          <a:noFill/>
          <a:ln/>
        </p:spPr>
        <p:txBody>
          <a:bodyPr wrap="square" lIns="0" tIns="0" rIns="0" bIns="0" rtlCol="0" anchor="ctr"/>
          <a:lstStyle/>
          <a:p>
            <a:pPr marL="0" indent="0">
              <a:buNone/>
            </a:pPr>
            <a:r>
              <a:rPr lang="fr-FR" sz="1150" b="1" noProof="0" dirty="0">
                <a:solidFill>
                  <a:srgbClr val="FFFFFF"/>
                </a:solidFill>
              </a:rPr>
              <a:t>Couche Métier</a:t>
            </a:r>
            <a:endParaRPr lang="fr-FR" sz="1150" noProof="0" dirty="0"/>
          </a:p>
        </p:txBody>
      </p:sp>
      <p:sp>
        <p:nvSpPr>
          <p:cNvPr id="11" name="Text 9"/>
          <p:cNvSpPr/>
          <p:nvPr/>
        </p:nvSpPr>
        <p:spPr>
          <a:xfrm>
            <a:off x="347472" y="2573553"/>
            <a:ext cx="4800600" cy="347472"/>
          </a:xfrm>
          <a:prstGeom prst="rect">
            <a:avLst/>
          </a:prstGeom>
          <a:noFill/>
          <a:ln/>
        </p:spPr>
        <p:txBody>
          <a:bodyPr wrap="square" lIns="0" tIns="0" rIns="0" bIns="0" rtlCol="0" anchor="ctr"/>
          <a:lstStyle/>
          <a:p>
            <a:pPr marL="0" indent="0">
              <a:buNone/>
            </a:pPr>
            <a:r>
              <a:rPr lang="fr-FR" sz="1100" noProof="0" dirty="0">
                <a:solidFill>
                  <a:srgbClr val="B8C8D8"/>
                </a:solidFill>
              </a:rPr>
              <a:t>Node.js + Express 5 + </a:t>
            </a:r>
            <a:r>
              <a:rPr lang="fr-FR" sz="1100" noProof="0" dirty="0" err="1">
                <a:solidFill>
                  <a:srgbClr val="B8C8D8"/>
                </a:solidFill>
              </a:rPr>
              <a:t>Zod</a:t>
            </a:r>
            <a:r>
              <a:rPr lang="fr-FR" sz="1100" noProof="0" dirty="0">
                <a:solidFill>
                  <a:srgbClr val="B8C8D8"/>
                </a:solidFill>
              </a:rPr>
              <a:t> 4 + </a:t>
            </a:r>
            <a:r>
              <a:rPr lang="fr-FR" sz="1100" noProof="0" dirty="0" err="1">
                <a:solidFill>
                  <a:srgbClr val="B8C8D8"/>
                </a:solidFill>
              </a:rPr>
              <a:t>Mongoose</a:t>
            </a:r>
            <a:r>
              <a:rPr lang="fr-FR" sz="1100" noProof="0" dirty="0">
                <a:solidFill>
                  <a:srgbClr val="B8C8D8"/>
                </a:solidFill>
              </a:rPr>
              <a:t> 9 — orchestre les services internes ; </a:t>
            </a:r>
            <a:r>
              <a:rPr lang="fr-FR" sz="1100" noProof="0" dirty="0" err="1">
                <a:solidFill>
                  <a:srgbClr val="B8C8D8"/>
                </a:solidFill>
              </a:rPr>
              <a:t>BullMQ</a:t>
            </a:r>
            <a:r>
              <a:rPr lang="fr-FR" sz="1100" noProof="0" dirty="0">
                <a:solidFill>
                  <a:srgbClr val="B8C8D8"/>
                </a:solidFill>
              </a:rPr>
              <a:t>/Redis (files asynchrones) et n8n (analyse IA) sont des composants de cette couche</a:t>
            </a:r>
            <a:endParaRPr lang="fr-FR" sz="1100" noProof="0" dirty="0"/>
          </a:p>
        </p:txBody>
      </p:sp>
      <p:sp>
        <p:nvSpPr>
          <p:cNvPr id="15" name="Shape 13"/>
          <p:cNvSpPr/>
          <p:nvPr/>
        </p:nvSpPr>
        <p:spPr>
          <a:xfrm>
            <a:off x="256032" y="3151632"/>
            <a:ext cx="5074920" cy="841248"/>
          </a:xfrm>
          <a:prstGeom prst="rect">
            <a:avLst/>
          </a:prstGeom>
          <a:solidFill>
            <a:srgbClr val="145F70"/>
          </a:solidFill>
          <a:ln w="12700">
            <a:solidFill>
              <a:srgbClr val="145F7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6" name="Text 14"/>
          <p:cNvSpPr/>
          <p:nvPr/>
        </p:nvSpPr>
        <p:spPr>
          <a:xfrm>
            <a:off x="347472" y="3197352"/>
            <a:ext cx="1828800" cy="329184"/>
          </a:xfrm>
          <a:prstGeom prst="rect">
            <a:avLst/>
          </a:prstGeom>
          <a:noFill/>
          <a:ln/>
        </p:spPr>
        <p:txBody>
          <a:bodyPr wrap="square" lIns="0" tIns="0" rIns="0" bIns="0" rtlCol="0" anchor="ctr"/>
          <a:lstStyle/>
          <a:p>
            <a:pPr marL="0" indent="0">
              <a:buNone/>
            </a:pPr>
            <a:r>
              <a:rPr lang="fr-FR" sz="1150" b="1" noProof="0" dirty="0">
                <a:solidFill>
                  <a:srgbClr val="FFFFFF"/>
                </a:solidFill>
              </a:rPr>
              <a:t>Couche Données</a:t>
            </a:r>
            <a:endParaRPr lang="fr-FR" sz="1150" noProof="0" dirty="0"/>
          </a:p>
        </p:txBody>
      </p:sp>
      <p:sp>
        <p:nvSpPr>
          <p:cNvPr id="17" name="Text 15"/>
          <p:cNvSpPr/>
          <p:nvPr/>
        </p:nvSpPr>
        <p:spPr>
          <a:xfrm>
            <a:off x="347472" y="3590544"/>
            <a:ext cx="4800600" cy="347472"/>
          </a:xfrm>
          <a:prstGeom prst="rect">
            <a:avLst/>
          </a:prstGeom>
          <a:noFill/>
          <a:ln/>
        </p:spPr>
        <p:txBody>
          <a:bodyPr wrap="square" lIns="0" tIns="0" rIns="0" bIns="0" rtlCol="0" anchor="ctr"/>
          <a:lstStyle/>
          <a:p>
            <a:pPr marL="0" indent="0">
              <a:buNone/>
            </a:pPr>
            <a:r>
              <a:rPr lang="fr-FR" sz="1100" noProof="0" dirty="0">
                <a:solidFill>
                  <a:srgbClr val="B8C8D8"/>
                </a:solidFill>
              </a:rPr>
              <a:t>MongoDB — collections, index, transactions multi-documents</a:t>
            </a:r>
            <a:endParaRPr lang="fr-FR" sz="1100" noProof="0" dirty="0"/>
          </a:p>
        </p:txBody>
      </p:sp>
      <p:sp>
        <p:nvSpPr>
          <p:cNvPr id="18" name="Text 16"/>
          <p:cNvSpPr/>
          <p:nvPr/>
        </p:nvSpPr>
        <p:spPr>
          <a:xfrm>
            <a:off x="5577840" y="877824"/>
            <a:ext cx="3310128" cy="310896"/>
          </a:xfrm>
          <a:prstGeom prst="rect">
            <a:avLst/>
          </a:prstGeom>
          <a:noFill/>
          <a:ln/>
        </p:spPr>
        <p:txBody>
          <a:bodyPr wrap="square" lIns="0" tIns="0" rIns="0" bIns="0" rtlCol="0" anchor="ctr"/>
          <a:lstStyle/>
          <a:p>
            <a:pPr marL="0" indent="0">
              <a:buNone/>
            </a:pPr>
            <a:r>
              <a:rPr lang="fr-FR" sz="1100" b="1" noProof="0" dirty="0">
                <a:solidFill>
                  <a:srgbClr val="1A2C56"/>
                </a:solidFill>
              </a:rPr>
              <a:t>Technologies utilisées</a:t>
            </a:r>
            <a:endParaRPr lang="fr-FR" sz="1100" noProof="0" dirty="0"/>
          </a:p>
        </p:txBody>
      </p:sp>
      <p:sp>
        <p:nvSpPr>
          <p:cNvPr id="19" name="Shape 17"/>
          <p:cNvSpPr/>
          <p:nvPr/>
        </p:nvSpPr>
        <p:spPr>
          <a:xfrm>
            <a:off x="5577840" y="1243584"/>
            <a:ext cx="1609344" cy="1152144"/>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0" name="Shape 18"/>
          <p:cNvSpPr/>
          <p:nvPr/>
        </p:nvSpPr>
        <p:spPr>
          <a:xfrm>
            <a:off x="5577840" y="1243584"/>
            <a:ext cx="1609344" cy="329184"/>
          </a:xfrm>
          <a:prstGeom prst="rect">
            <a:avLst/>
          </a:prstGeom>
          <a:solidFill>
            <a:srgbClr val="1565A7"/>
          </a:solidFill>
          <a:ln w="12700">
            <a:solidFill>
              <a:srgbClr val="1565A7"/>
            </a:solidFill>
            <a:prstDash val="solid"/>
          </a:ln>
        </p:spPr>
        <p:txBody>
          <a:bodyPr/>
          <a:lstStyle/>
          <a:p>
            <a:endParaRPr lang="fr-FR" noProof="0" dirty="0"/>
          </a:p>
        </p:txBody>
      </p:sp>
      <p:sp>
        <p:nvSpPr>
          <p:cNvPr id="21" name="Text 19"/>
          <p:cNvSpPr/>
          <p:nvPr/>
        </p:nvSpPr>
        <p:spPr>
          <a:xfrm>
            <a:off x="5577840" y="1243584"/>
            <a:ext cx="1609344" cy="329184"/>
          </a:xfrm>
          <a:prstGeom prst="rect">
            <a:avLst/>
          </a:prstGeom>
          <a:noFill/>
          <a:ln/>
        </p:spPr>
        <p:txBody>
          <a:bodyPr wrap="square" lIns="0" tIns="0" rIns="0" bIns="0" rtlCol="0" anchor="ctr"/>
          <a:lstStyle/>
          <a:p>
            <a:pPr marL="0" indent="0" algn="ctr">
              <a:buNone/>
            </a:pPr>
            <a:r>
              <a:rPr lang="fr-FR" sz="850" b="1" noProof="0" dirty="0">
                <a:solidFill>
                  <a:srgbClr val="FFFFFF"/>
                </a:solidFill>
              </a:rPr>
              <a:t>Présentation</a:t>
            </a:r>
            <a:endParaRPr lang="fr-FR" sz="850" noProof="0" dirty="0"/>
          </a:p>
        </p:txBody>
      </p:sp>
      <p:sp>
        <p:nvSpPr>
          <p:cNvPr id="22" name="Text 20"/>
          <p:cNvSpPr/>
          <p:nvPr/>
        </p:nvSpPr>
        <p:spPr>
          <a:xfrm>
            <a:off x="5623560" y="1609344"/>
            <a:ext cx="1508760" cy="749808"/>
          </a:xfrm>
          <a:prstGeom prst="rect">
            <a:avLst/>
          </a:prstGeom>
          <a:noFill/>
          <a:ln/>
        </p:spPr>
        <p:txBody>
          <a:bodyPr wrap="square" lIns="25400" tIns="25400" rIns="25400" bIns="25400" rtlCol="0" anchor="ctr"/>
          <a:lstStyle/>
          <a:p>
            <a:pPr marL="342900" indent="-342900">
              <a:buSzPct val="100000"/>
              <a:buChar char="•"/>
            </a:pPr>
            <a:r>
              <a:rPr lang="fr-FR" sz="1000" noProof="0" dirty="0" err="1">
                <a:solidFill>
                  <a:srgbClr val="1E2D3D"/>
                </a:solidFill>
              </a:rPr>
              <a:t>React</a:t>
            </a:r>
            <a:r>
              <a:rPr lang="fr-FR" sz="1000" noProof="0" dirty="0">
                <a:solidFill>
                  <a:srgbClr val="1E2D3D"/>
                </a:solidFill>
              </a:rPr>
              <a:t> 19 + Vite</a:t>
            </a:r>
            <a:endParaRPr lang="fr-FR" sz="1000" noProof="0" dirty="0"/>
          </a:p>
          <a:p>
            <a:pPr marL="342900" indent="-342900">
              <a:buSzPct val="100000"/>
              <a:buChar char="•"/>
            </a:pPr>
            <a:r>
              <a:rPr lang="fr-FR" sz="1000" noProof="0" dirty="0" err="1">
                <a:solidFill>
                  <a:srgbClr val="1E2D3D"/>
                </a:solidFill>
              </a:rPr>
              <a:t>Tailwind</a:t>
            </a:r>
            <a:r>
              <a:rPr lang="fr-FR" sz="1000" noProof="0" dirty="0">
                <a:solidFill>
                  <a:srgbClr val="1E2D3D"/>
                </a:solidFill>
              </a:rPr>
              <a:t> CSS v4 + </a:t>
            </a:r>
            <a:r>
              <a:rPr lang="fr-FR" sz="1000" noProof="0" dirty="0" err="1">
                <a:solidFill>
                  <a:srgbClr val="1E2D3D"/>
                </a:solidFill>
              </a:rPr>
              <a:t>Shadcn</a:t>
            </a:r>
            <a:r>
              <a:rPr lang="fr-FR" sz="1000" noProof="0" dirty="0">
                <a:solidFill>
                  <a:srgbClr val="1E2D3D"/>
                </a:solidFill>
              </a:rPr>
              <a:t> UI</a:t>
            </a:r>
            <a:endParaRPr lang="fr-FR" sz="1000" noProof="0" dirty="0"/>
          </a:p>
          <a:p>
            <a:pPr marL="342900" indent="-342900">
              <a:buSzPct val="100000"/>
              <a:buChar char="•"/>
            </a:pPr>
            <a:r>
              <a:rPr lang="fr-FR" sz="1000" noProof="0" dirty="0" err="1">
                <a:solidFill>
                  <a:srgbClr val="1E2D3D"/>
                </a:solidFill>
              </a:rPr>
              <a:t>React</a:t>
            </a:r>
            <a:r>
              <a:rPr lang="fr-FR" sz="1000" noProof="0" dirty="0">
                <a:solidFill>
                  <a:srgbClr val="1E2D3D"/>
                </a:solidFill>
              </a:rPr>
              <a:t> Router + Axios</a:t>
            </a:r>
            <a:endParaRPr lang="fr-FR" sz="1000" noProof="0" dirty="0"/>
          </a:p>
        </p:txBody>
      </p:sp>
      <p:sp>
        <p:nvSpPr>
          <p:cNvPr id="23" name="Shape 21"/>
          <p:cNvSpPr/>
          <p:nvPr/>
        </p:nvSpPr>
        <p:spPr>
          <a:xfrm>
            <a:off x="7278624" y="1243584"/>
            <a:ext cx="1609344" cy="1152144"/>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4" name="Shape 22"/>
          <p:cNvSpPr/>
          <p:nvPr/>
        </p:nvSpPr>
        <p:spPr>
          <a:xfrm>
            <a:off x="7278624" y="1243584"/>
            <a:ext cx="1609344" cy="329184"/>
          </a:xfrm>
          <a:prstGeom prst="rect">
            <a:avLst/>
          </a:prstGeom>
          <a:solidFill>
            <a:srgbClr val="0D7680"/>
          </a:solidFill>
          <a:ln w="12700">
            <a:solidFill>
              <a:srgbClr val="0D7680"/>
            </a:solidFill>
            <a:prstDash val="solid"/>
          </a:ln>
        </p:spPr>
        <p:txBody>
          <a:bodyPr/>
          <a:lstStyle/>
          <a:p>
            <a:endParaRPr lang="fr-FR" noProof="0" dirty="0"/>
          </a:p>
        </p:txBody>
      </p:sp>
      <p:sp>
        <p:nvSpPr>
          <p:cNvPr id="25" name="Text 23"/>
          <p:cNvSpPr/>
          <p:nvPr/>
        </p:nvSpPr>
        <p:spPr>
          <a:xfrm>
            <a:off x="7278624" y="1243584"/>
            <a:ext cx="1609344" cy="329184"/>
          </a:xfrm>
          <a:prstGeom prst="rect">
            <a:avLst/>
          </a:prstGeom>
          <a:noFill/>
          <a:ln/>
        </p:spPr>
        <p:txBody>
          <a:bodyPr wrap="square" lIns="0" tIns="0" rIns="0" bIns="0" rtlCol="0" anchor="ctr"/>
          <a:lstStyle/>
          <a:p>
            <a:pPr marL="0" indent="0" algn="ctr">
              <a:buNone/>
            </a:pPr>
            <a:r>
              <a:rPr lang="fr-FR" sz="850" b="1" noProof="0" dirty="0">
                <a:solidFill>
                  <a:srgbClr val="FFFFFF"/>
                </a:solidFill>
              </a:rPr>
              <a:t>Métier &amp; Sécurité</a:t>
            </a:r>
            <a:endParaRPr lang="fr-FR" sz="850" noProof="0" dirty="0"/>
          </a:p>
        </p:txBody>
      </p:sp>
      <p:sp>
        <p:nvSpPr>
          <p:cNvPr id="26" name="Text 24"/>
          <p:cNvSpPr/>
          <p:nvPr/>
        </p:nvSpPr>
        <p:spPr>
          <a:xfrm>
            <a:off x="7324344" y="1609344"/>
            <a:ext cx="1508760" cy="749808"/>
          </a:xfrm>
          <a:prstGeom prst="rect">
            <a:avLst/>
          </a:prstGeom>
          <a:noFill/>
          <a:ln/>
        </p:spPr>
        <p:txBody>
          <a:bodyPr wrap="square" lIns="25400" tIns="25400" rIns="25400" bIns="25400" rtlCol="0" anchor="ctr"/>
          <a:lstStyle/>
          <a:p>
            <a:pPr marL="342900" indent="-342900">
              <a:buSzPct val="100000"/>
              <a:buChar char="•"/>
            </a:pPr>
            <a:r>
              <a:rPr lang="fr-FR" sz="1000" noProof="0" dirty="0">
                <a:solidFill>
                  <a:srgbClr val="1E2D3D"/>
                </a:solidFill>
              </a:rPr>
              <a:t>Node.js + Express 5</a:t>
            </a:r>
            <a:endParaRPr lang="fr-FR" sz="1000" noProof="0" dirty="0"/>
          </a:p>
          <a:p>
            <a:pPr marL="342900" indent="-342900">
              <a:buSzPct val="100000"/>
              <a:buChar char="•"/>
            </a:pPr>
            <a:r>
              <a:rPr lang="fr-FR" sz="1000" noProof="0" dirty="0">
                <a:solidFill>
                  <a:srgbClr val="1E2D3D"/>
                </a:solidFill>
              </a:rPr>
              <a:t>JWT </a:t>
            </a:r>
            <a:r>
              <a:rPr lang="fr-FR" sz="1000" noProof="0" dirty="0" err="1">
                <a:solidFill>
                  <a:srgbClr val="1E2D3D"/>
                </a:solidFill>
              </a:rPr>
              <a:t>HttpOnly</a:t>
            </a:r>
            <a:r>
              <a:rPr lang="fr-FR" sz="1000" noProof="0" dirty="0">
                <a:solidFill>
                  <a:srgbClr val="1E2D3D"/>
                </a:solidFill>
              </a:rPr>
              <a:t> + </a:t>
            </a:r>
            <a:r>
              <a:rPr lang="fr-FR" sz="1000" noProof="0" dirty="0" err="1">
                <a:solidFill>
                  <a:srgbClr val="1E2D3D"/>
                </a:solidFill>
              </a:rPr>
              <a:t>bcrypt</a:t>
            </a:r>
            <a:endParaRPr lang="fr-FR" sz="1000" noProof="0" dirty="0"/>
          </a:p>
          <a:p>
            <a:pPr marL="342900" indent="-342900">
              <a:buSzPct val="100000"/>
              <a:buChar char="•"/>
            </a:pPr>
            <a:r>
              <a:rPr lang="fr-FR" sz="1000" noProof="0" dirty="0">
                <a:solidFill>
                  <a:srgbClr val="1E2D3D"/>
                </a:solidFill>
              </a:rPr>
              <a:t>RBAC + Rate </a:t>
            </a:r>
            <a:r>
              <a:rPr lang="fr-FR" sz="1000" noProof="0" dirty="0" err="1">
                <a:solidFill>
                  <a:srgbClr val="1E2D3D"/>
                </a:solidFill>
              </a:rPr>
              <a:t>limiting</a:t>
            </a:r>
            <a:endParaRPr lang="fr-FR" sz="1000" noProof="0" dirty="0"/>
          </a:p>
        </p:txBody>
      </p:sp>
      <p:sp>
        <p:nvSpPr>
          <p:cNvPr id="27" name="Shape 25"/>
          <p:cNvSpPr/>
          <p:nvPr/>
        </p:nvSpPr>
        <p:spPr>
          <a:xfrm>
            <a:off x="5577840" y="2505456"/>
            <a:ext cx="1609344" cy="1152144"/>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8" name="Shape 26"/>
          <p:cNvSpPr/>
          <p:nvPr/>
        </p:nvSpPr>
        <p:spPr>
          <a:xfrm>
            <a:off x="5577840" y="2505456"/>
            <a:ext cx="1609344" cy="329184"/>
          </a:xfrm>
          <a:prstGeom prst="rect">
            <a:avLst/>
          </a:prstGeom>
          <a:solidFill>
            <a:srgbClr val="145F70"/>
          </a:solidFill>
          <a:ln w="12700">
            <a:solidFill>
              <a:srgbClr val="145F70"/>
            </a:solidFill>
            <a:prstDash val="solid"/>
          </a:ln>
        </p:spPr>
        <p:txBody>
          <a:bodyPr/>
          <a:lstStyle/>
          <a:p>
            <a:endParaRPr lang="fr-FR" noProof="0" dirty="0"/>
          </a:p>
        </p:txBody>
      </p:sp>
      <p:sp>
        <p:nvSpPr>
          <p:cNvPr id="29" name="Text 27"/>
          <p:cNvSpPr/>
          <p:nvPr/>
        </p:nvSpPr>
        <p:spPr>
          <a:xfrm>
            <a:off x="5577840" y="2505456"/>
            <a:ext cx="1609344" cy="329184"/>
          </a:xfrm>
          <a:prstGeom prst="rect">
            <a:avLst/>
          </a:prstGeom>
          <a:noFill/>
          <a:ln/>
        </p:spPr>
        <p:txBody>
          <a:bodyPr wrap="square" lIns="0" tIns="0" rIns="0" bIns="0" rtlCol="0" anchor="ctr"/>
          <a:lstStyle/>
          <a:p>
            <a:pPr marL="0" indent="0" algn="ctr">
              <a:buNone/>
            </a:pPr>
            <a:r>
              <a:rPr lang="fr-FR" sz="850" b="1" noProof="0" dirty="0">
                <a:solidFill>
                  <a:srgbClr val="FFFFFF"/>
                </a:solidFill>
              </a:rPr>
              <a:t>Données</a:t>
            </a:r>
            <a:endParaRPr lang="fr-FR" sz="850" noProof="0" dirty="0"/>
          </a:p>
        </p:txBody>
      </p:sp>
      <p:sp>
        <p:nvSpPr>
          <p:cNvPr id="30" name="Text 28"/>
          <p:cNvSpPr/>
          <p:nvPr/>
        </p:nvSpPr>
        <p:spPr>
          <a:xfrm>
            <a:off x="5623560" y="2871216"/>
            <a:ext cx="1508760" cy="749808"/>
          </a:xfrm>
          <a:prstGeom prst="rect">
            <a:avLst/>
          </a:prstGeom>
          <a:noFill/>
          <a:ln/>
        </p:spPr>
        <p:txBody>
          <a:bodyPr wrap="square" lIns="25400" tIns="25400" rIns="25400" bIns="25400" rtlCol="0" anchor="ctr"/>
          <a:lstStyle/>
          <a:p>
            <a:pPr marL="342900" indent="-342900">
              <a:buSzPct val="100000"/>
              <a:buChar char="•"/>
            </a:pPr>
            <a:r>
              <a:rPr lang="fr-FR" sz="900" noProof="0" dirty="0">
                <a:solidFill>
                  <a:srgbClr val="1E2D3D"/>
                </a:solidFill>
              </a:rPr>
              <a:t>MongoDB + </a:t>
            </a:r>
            <a:r>
              <a:rPr lang="fr-FR" sz="900" noProof="0" dirty="0" err="1">
                <a:solidFill>
                  <a:srgbClr val="1E2D3D"/>
                </a:solidFill>
              </a:rPr>
              <a:t>Mongoose</a:t>
            </a:r>
            <a:r>
              <a:rPr lang="fr-FR" sz="900" noProof="0" dirty="0">
                <a:solidFill>
                  <a:srgbClr val="1E2D3D"/>
                </a:solidFill>
              </a:rPr>
              <a:t> 9</a:t>
            </a:r>
            <a:endParaRPr lang="fr-FR" sz="900" noProof="0" dirty="0"/>
          </a:p>
          <a:p>
            <a:pPr marL="342900" indent="-342900">
              <a:buSzPct val="100000"/>
              <a:buChar char="•"/>
            </a:pPr>
            <a:r>
              <a:rPr lang="fr-FR" sz="900" noProof="0" dirty="0">
                <a:solidFill>
                  <a:srgbClr val="1E2D3D"/>
                </a:solidFill>
              </a:rPr>
              <a:t>Transactions multi-docs</a:t>
            </a:r>
            <a:endParaRPr lang="fr-FR" sz="900" noProof="0" dirty="0"/>
          </a:p>
          <a:p>
            <a:pPr marL="342900" indent="-342900">
              <a:buSzPct val="100000"/>
              <a:buChar char="•"/>
            </a:pPr>
            <a:r>
              <a:rPr lang="fr-FR" sz="900" noProof="0" dirty="0">
                <a:solidFill>
                  <a:srgbClr val="1E2D3D"/>
                </a:solidFill>
              </a:rPr>
              <a:t>Index (provider, </a:t>
            </a:r>
            <a:r>
              <a:rPr lang="fr-FR" sz="900" noProof="0" dirty="0" err="1">
                <a:solidFill>
                  <a:srgbClr val="1E2D3D"/>
                </a:solidFill>
              </a:rPr>
              <a:t>paymentId</a:t>
            </a:r>
            <a:r>
              <a:rPr lang="fr-FR" sz="900" noProof="0" dirty="0">
                <a:solidFill>
                  <a:srgbClr val="1E2D3D"/>
                </a:solidFill>
              </a:rPr>
              <a:t>)</a:t>
            </a:r>
            <a:endParaRPr lang="fr-FR" sz="900" noProof="0" dirty="0"/>
          </a:p>
        </p:txBody>
      </p:sp>
      <p:sp>
        <p:nvSpPr>
          <p:cNvPr id="31" name="Shape 29"/>
          <p:cNvSpPr/>
          <p:nvPr/>
        </p:nvSpPr>
        <p:spPr>
          <a:xfrm>
            <a:off x="7278624" y="2505456"/>
            <a:ext cx="1609344" cy="1152144"/>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32" name="Shape 30"/>
          <p:cNvSpPr/>
          <p:nvPr/>
        </p:nvSpPr>
        <p:spPr>
          <a:xfrm>
            <a:off x="7278624" y="2505456"/>
            <a:ext cx="1609344" cy="329184"/>
          </a:xfrm>
          <a:prstGeom prst="rect">
            <a:avLst/>
          </a:prstGeom>
          <a:solidFill>
            <a:srgbClr val="7D3C98"/>
          </a:solidFill>
          <a:ln w="12700">
            <a:solidFill>
              <a:srgbClr val="7D3C98"/>
            </a:solidFill>
            <a:prstDash val="solid"/>
          </a:ln>
        </p:spPr>
        <p:txBody>
          <a:bodyPr/>
          <a:lstStyle/>
          <a:p>
            <a:endParaRPr lang="fr-FR" noProof="0" dirty="0"/>
          </a:p>
        </p:txBody>
      </p:sp>
      <p:sp>
        <p:nvSpPr>
          <p:cNvPr id="33" name="Text 31"/>
          <p:cNvSpPr/>
          <p:nvPr/>
        </p:nvSpPr>
        <p:spPr>
          <a:xfrm>
            <a:off x="7278624" y="2505456"/>
            <a:ext cx="1609344" cy="329184"/>
          </a:xfrm>
          <a:prstGeom prst="rect">
            <a:avLst/>
          </a:prstGeom>
          <a:noFill/>
          <a:ln/>
        </p:spPr>
        <p:txBody>
          <a:bodyPr wrap="square" lIns="0" tIns="0" rIns="0" bIns="0" rtlCol="0" anchor="ctr"/>
          <a:lstStyle/>
          <a:p>
            <a:pPr marL="0" indent="0" algn="ctr">
              <a:buNone/>
            </a:pPr>
            <a:r>
              <a:rPr lang="fr-FR" sz="850" b="1" noProof="0" dirty="0">
                <a:solidFill>
                  <a:srgbClr val="FFFFFF"/>
                </a:solidFill>
              </a:rPr>
              <a:t>IA &amp; Orchestration</a:t>
            </a:r>
            <a:endParaRPr lang="fr-FR" sz="850" noProof="0" dirty="0"/>
          </a:p>
        </p:txBody>
      </p:sp>
      <p:sp>
        <p:nvSpPr>
          <p:cNvPr id="34" name="Text 32"/>
          <p:cNvSpPr/>
          <p:nvPr/>
        </p:nvSpPr>
        <p:spPr>
          <a:xfrm>
            <a:off x="7324344" y="2871216"/>
            <a:ext cx="1508760" cy="749808"/>
          </a:xfrm>
          <a:prstGeom prst="rect">
            <a:avLst/>
          </a:prstGeom>
          <a:noFill/>
          <a:ln/>
        </p:spPr>
        <p:txBody>
          <a:bodyPr wrap="square" lIns="25400" tIns="25400" rIns="25400" bIns="25400" rtlCol="0" anchor="ctr"/>
          <a:lstStyle/>
          <a:p>
            <a:pPr marL="342900" indent="-342900">
              <a:buSzPct val="100000"/>
              <a:buChar char="•"/>
            </a:pPr>
            <a:r>
              <a:rPr lang="fr-FR" sz="1000" noProof="0" dirty="0">
                <a:solidFill>
                  <a:srgbClr val="1E2D3D"/>
                </a:solidFill>
              </a:rPr>
              <a:t>Google Gemini API</a:t>
            </a:r>
            <a:endParaRPr lang="fr-FR" sz="1000" noProof="0" dirty="0"/>
          </a:p>
          <a:p>
            <a:pPr marL="342900" indent="-342900">
              <a:buSzPct val="100000"/>
              <a:buChar char="•"/>
            </a:pPr>
            <a:r>
              <a:rPr lang="fr-FR" sz="1000" noProof="0" dirty="0">
                <a:solidFill>
                  <a:srgbClr val="1E2D3D"/>
                </a:solidFill>
              </a:rPr>
              <a:t>n8n (Docker) + </a:t>
            </a:r>
            <a:r>
              <a:rPr lang="fr-FR" sz="1000" noProof="0" dirty="0" err="1">
                <a:solidFill>
                  <a:srgbClr val="1E2D3D"/>
                </a:solidFill>
              </a:rPr>
              <a:t>BullMQ</a:t>
            </a:r>
            <a:endParaRPr lang="fr-FR" sz="1000" noProof="0" dirty="0"/>
          </a:p>
          <a:p>
            <a:pPr marL="342900" indent="-342900">
              <a:buSzPct val="100000"/>
              <a:buChar char="•"/>
            </a:pPr>
            <a:r>
              <a:rPr lang="fr-FR" sz="1000" noProof="0" dirty="0">
                <a:solidFill>
                  <a:srgbClr val="1E2D3D"/>
                </a:solidFill>
              </a:rPr>
              <a:t>4 Dead-Letter Queues</a:t>
            </a:r>
            <a:endParaRPr lang="fr-FR" sz="1000" noProof="0" dirty="0"/>
          </a:p>
        </p:txBody>
      </p:sp>
      <p:sp>
        <p:nvSpPr>
          <p:cNvPr id="35" name="Shape 33"/>
          <p:cNvSpPr/>
          <p:nvPr/>
        </p:nvSpPr>
        <p:spPr>
          <a:xfrm>
            <a:off x="5577840" y="3767328"/>
            <a:ext cx="1609344" cy="1152144"/>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36" name="Shape 34"/>
          <p:cNvSpPr/>
          <p:nvPr/>
        </p:nvSpPr>
        <p:spPr>
          <a:xfrm>
            <a:off x="5577840" y="3767328"/>
            <a:ext cx="1609344" cy="329184"/>
          </a:xfrm>
          <a:prstGeom prst="rect">
            <a:avLst/>
          </a:prstGeom>
          <a:solidFill>
            <a:srgbClr val="1A2C56"/>
          </a:solidFill>
          <a:ln w="12700">
            <a:solidFill>
              <a:srgbClr val="1A2C56"/>
            </a:solidFill>
            <a:prstDash val="solid"/>
          </a:ln>
        </p:spPr>
        <p:txBody>
          <a:bodyPr/>
          <a:lstStyle/>
          <a:p>
            <a:endParaRPr lang="fr-FR" noProof="0" dirty="0"/>
          </a:p>
        </p:txBody>
      </p:sp>
      <p:sp>
        <p:nvSpPr>
          <p:cNvPr id="37" name="Text 35"/>
          <p:cNvSpPr/>
          <p:nvPr/>
        </p:nvSpPr>
        <p:spPr>
          <a:xfrm>
            <a:off x="5577840" y="3767328"/>
            <a:ext cx="1609344" cy="329184"/>
          </a:xfrm>
          <a:prstGeom prst="rect">
            <a:avLst/>
          </a:prstGeom>
          <a:noFill/>
          <a:ln/>
        </p:spPr>
        <p:txBody>
          <a:bodyPr wrap="square" lIns="0" tIns="0" rIns="0" bIns="0" rtlCol="0" anchor="ctr"/>
          <a:lstStyle/>
          <a:p>
            <a:pPr marL="0" indent="0" algn="ctr">
              <a:buNone/>
            </a:pPr>
            <a:r>
              <a:rPr lang="fr-FR" sz="850" b="1" noProof="0" dirty="0">
                <a:solidFill>
                  <a:srgbClr val="FFFFFF"/>
                </a:solidFill>
              </a:rPr>
              <a:t>Chiffrement</a:t>
            </a:r>
            <a:endParaRPr lang="fr-FR" sz="850" noProof="0" dirty="0"/>
          </a:p>
        </p:txBody>
      </p:sp>
      <p:sp>
        <p:nvSpPr>
          <p:cNvPr id="38" name="Text 36"/>
          <p:cNvSpPr/>
          <p:nvPr/>
        </p:nvSpPr>
        <p:spPr>
          <a:xfrm>
            <a:off x="5623560" y="4133088"/>
            <a:ext cx="1508760" cy="749808"/>
          </a:xfrm>
          <a:prstGeom prst="rect">
            <a:avLst/>
          </a:prstGeom>
          <a:noFill/>
          <a:ln/>
        </p:spPr>
        <p:txBody>
          <a:bodyPr wrap="square" lIns="25400" tIns="25400" rIns="25400" bIns="25400" rtlCol="0" anchor="ctr"/>
          <a:lstStyle/>
          <a:p>
            <a:pPr marL="342900" indent="-342900">
              <a:buSzPct val="100000"/>
              <a:buChar char="•"/>
            </a:pPr>
            <a:r>
              <a:rPr lang="fr-FR" sz="1000" noProof="0" dirty="0">
                <a:solidFill>
                  <a:srgbClr val="1E2D3D"/>
                </a:solidFill>
              </a:rPr>
              <a:t>AES-256-GCM (RIB)</a:t>
            </a:r>
            <a:endParaRPr lang="fr-FR" sz="1000" noProof="0" dirty="0"/>
          </a:p>
          <a:p>
            <a:pPr marL="342900" indent="-342900">
              <a:buSzPct val="100000"/>
              <a:buChar char="•"/>
            </a:pPr>
            <a:r>
              <a:rPr lang="fr-FR" sz="1000" noProof="0" dirty="0">
                <a:solidFill>
                  <a:srgbClr val="1E2D3D"/>
                </a:solidFill>
              </a:rPr>
              <a:t>HMAC </a:t>
            </a:r>
            <a:r>
              <a:rPr lang="fr-FR" sz="1000" noProof="0" dirty="0" err="1">
                <a:solidFill>
                  <a:srgbClr val="1E2D3D"/>
                </a:solidFill>
              </a:rPr>
              <a:t>Webhook</a:t>
            </a:r>
            <a:r>
              <a:rPr lang="fr-FR" sz="1000" noProof="0" dirty="0">
                <a:solidFill>
                  <a:srgbClr val="1E2D3D"/>
                </a:solidFill>
              </a:rPr>
              <a:t> signé</a:t>
            </a:r>
            <a:endParaRPr lang="fr-FR" sz="1000" noProof="0" dirty="0"/>
          </a:p>
          <a:p>
            <a:pPr marL="342900" indent="-342900">
              <a:buSzPct val="100000"/>
              <a:buChar char="•"/>
            </a:pPr>
            <a:r>
              <a:rPr lang="fr-FR" sz="1000" noProof="0" dirty="0">
                <a:solidFill>
                  <a:srgbClr val="1E2D3D"/>
                </a:solidFill>
              </a:rPr>
              <a:t>IV unique par enregistrement</a:t>
            </a:r>
            <a:endParaRPr lang="fr-FR" sz="1000" noProof="0" dirty="0"/>
          </a:p>
        </p:txBody>
      </p:sp>
      <p:sp>
        <p:nvSpPr>
          <p:cNvPr id="39" name="Shape 37"/>
          <p:cNvSpPr/>
          <p:nvPr/>
        </p:nvSpPr>
        <p:spPr>
          <a:xfrm>
            <a:off x="7278624" y="3767328"/>
            <a:ext cx="1609344" cy="1152144"/>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40" name="Shape 38"/>
          <p:cNvSpPr/>
          <p:nvPr/>
        </p:nvSpPr>
        <p:spPr>
          <a:xfrm>
            <a:off x="7278624" y="3767328"/>
            <a:ext cx="1609344" cy="329184"/>
          </a:xfrm>
          <a:prstGeom prst="rect">
            <a:avLst/>
          </a:prstGeom>
          <a:solidFill>
            <a:srgbClr val="2C3E50"/>
          </a:solidFill>
          <a:ln w="12700">
            <a:solidFill>
              <a:srgbClr val="2C3E50"/>
            </a:solidFill>
            <a:prstDash val="solid"/>
          </a:ln>
        </p:spPr>
        <p:txBody>
          <a:bodyPr/>
          <a:lstStyle/>
          <a:p>
            <a:endParaRPr lang="fr-FR" noProof="0" dirty="0"/>
          </a:p>
        </p:txBody>
      </p:sp>
      <p:sp>
        <p:nvSpPr>
          <p:cNvPr id="41" name="Text 39"/>
          <p:cNvSpPr/>
          <p:nvPr/>
        </p:nvSpPr>
        <p:spPr>
          <a:xfrm>
            <a:off x="7278624" y="3767328"/>
            <a:ext cx="1609344" cy="329184"/>
          </a:xfrm>
          <a:prstGeom prst="rect">
            <a:avLst/>
          </a:prstGeom>
          <a:noFill/>
          <a:ln/>
        </p:spPr>
        <p:txBody>
          <a:bodyPr wrap="square" lIns="0" tIns="0" rIns="0" bIns="0" rtlCol="0" anchor="ctr"/>
          <a:lstStyle/>
          <a:p>
            <a:pPr marL="0" indent="0" algn="ctr">
              <a:buNone/>
            </a:pPr>
            <a:r>
              <a:rPr lang="fr-FR" sz="850" b="1" noProof="0" dirty="0">
                <a:solidFill>
                  <a:srgbClr val="FFFFFF"/>
                </a:solidFill>
              </a:rPr>
              <a:t>DevOps &amp; Tests</a:t>
            </a:r>
            <a:endParaRPr lang="fr-FR" sz="850" noProof="0" dirty="0"/>
          </a:p>
        </p:txBody>
      </p:sp>
      <p:sp>
        <p:nvSpPr>
          <p:cNvPr id="42" name="Text 40"/>
          <p:cNvSpPr/>
          <p:nvPr/>
        </p:nvSpPr>
        <p:spPr>
          <a:xfrm>
            <a:off x="7324344" y="4133088"/>
            <a:ext cx="1508760" cy="749808"/>
          </a:xfrm>
          <a:prstGeom prst="rect">
            <a:avLst/>
          </a:prstGeom>
          <a:noFill/>
          <a:ln/>
        </p:spPr>
        <p:txBody>
          <a:bodyPr wrap="square" lIns="25400" tIns="25400" rIns="25400" bIns="25400" rtlCol="0" anchor="ctr"/>
          <a:lstStyle/>
          <a:p>
            <a:pPr marL="342900" indent="-342900">
              <a:buSzPct val="100000"/>
              <a:buChar char="•"/>
            </a:pPr>
            <a:r>
              <a:rPr lang="fr-FR" sz="1000" noProof="0" dirty="0">
                <a:solidFill>
                  <a:srgbClr val="1E2D3D"/>
                </a:solidFill>
              </a:rPr>
              <a:t>Docker + GitHub</a:t>
            </a:r>
            <a:endParaRPr lang="fr-FR" sz="1000" noProof="0" dirty="0"/>
          </a:p>
          <a:p>
            <a:pPr marL="342900" indent="-342900">
              <a:buSzPct val="100000"/>
              <a:buChar char="•"/>
            </a:pPr>
            <a:r>
              <a:rPr lang="fr-FR" sz="1000" noProof="0" dirty="0">
                <a:solidFill>
                  <a:srgbClr val="1E2D3D"/>
                </a:solidFill>
              </a:rPr>
              <a:t>Scripts E2E Node.js</a:t>
            </a:r>
            <a:endParaRPr lang="fr-FR" sz="1000" noProof="0" dirty="0"/>
          </a:p>
          <a:p>
            <a:pPr marL="342900" indent="-342900">
              <a:buSzPct val="100000"/>
              <a:buChar char="•"/>
            </a:pPr>
            <a:r>
              <a:rPr lang="fr-FR" sz="1000" noProof="0" dirty="0">
                <a:solidFill>
                  <a:srgbClr val="1E2D3D"/>
                </a:solidFill>
              </a:rPr>
              <a:t>Tests manuels UI</a:t>
            </a:r>
            <a:endParaRPr lang="fr-FR" sz="1000" noProof="0" dirty="0"/>
          </a:p>
        </p:txBody>
      </p:sp>
      <p:sp>
        <p:nvSpPr>
          <p:cNvPr id="9001" name="PageNum9"/>
          <p:cNvSpPr txBox="1"/>
          <p:nvPr/>
        </p:nvSpPr>
        <p:spPr>
          <a:xfrm>
            <a:off x="8200000" y="4956048"/>
            <a:ext cx="800000" cy="200000"/>
          </a:xfrm>
          <a:prstGeom prst="rect">
            <a:avLst/>
          </a:prstGeom>
          <a:noFill/>
        </p:spPr>
        <p:txBody>
          <a:bodyPr anchor="ctr">
            <a:noAutofit/>
          </a:bodyPr>
          <a:lstStyle/>
          <a:p>
            <a:pPr algn="r"/>
            <a:r>
              <a:rPr lang="fr-FR" sz="1000" b="0" dirty="0">
                <a:solidFill>
                  <a:srgbClr val="1A2C56"/>
                </a:solidFill>
              </a:rPr>
              <a:t>9 / 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6  —  </a:t>
            </a:r>
            <a:r>
              <a:rPr lang="fr-FR" sz="1650" b="1" noProof="0" dirty="0">
                <a:solidFill>
                  <a:srgbClr val="FFFFFF"/>
                </a:solidFill>
              </a:rPr>
              <a:t>DÉCISIONS D'ARCHITECTURE &amp; SÉCURITÉ (3.4.3)</a:t>
            </a:r>
            <a:endParaRPr lang="fr-FR" sz="1650" noProof="0" dirty="0"/>
          </a:p>
        </p:txBody>
      </p:sp>
      <p:sp>
        <p:nvSpPr>
          <p:cNvPr id="5" name="Shape 3"/>
          <p:cNvSpPr/>
          <p:nvPr/>
        </p:nvSpPr>
        <p:spPr>
          <a:xfrm>
            <a:off x="256032" y="914400"/>
            <a:ext cx="4251960" cy="131673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6" name="Shape 4"/>
          <p:cNvSpPr/>
          <p:nvPr/>
        </p:nvSpPr>
        <p:spPr>
          <a:xfrm>
            <a:off x="256032" y="914400"/>
            <a:ext cx="4251960" cy="54864"/>
          </a:xfrm>
          <a:prstGeom prst="rect">
            <a:avLst/>
          </a:prstGeom>
          <a:solidFill>
            <a:srgbClr val="0D7680"/>
          </a:solidFill>
          <a:ln w="12700">
            <a:solidFill>
              <a:srgbClr val="0D7680"/>
            </a:solidFill>
            <a:prstDash val="solid"/>
          </a:ln>
        </p:spPr>
        <p:txBody>
          <a:bodyPr/>
          <a:lstStyle/>
          <a:p>
            <a:endParaRPr lang="fr-FR" noProof="0" dirty="0"/>
          </a:p>
        </p:txBody>
      </p:sp>
      <p:sp>
        <p:nvSpPr>
          <p:cNvPr id="7" name="Shape 5"/>
          <p:cNvSpPr/>
          <p:nvPr/>
        </p:nvSpPr>
        <p:spPr>
          <a:xfrm>
            <a:off x="256032" y="914400"/>
            <a:ext cx="54864" cy="1316736"/>
          </a:xfrm>
          <a:prstGeom prst="rect">
            <a:avLst/>
          </a:prstGeom>
          <a:solidFill>
            <a:srgbClr val="1A2C56"/>
          </a:solidFill>
          <a:ln w="12700">
            <a:solidFill>
              <a:srgbClr val="1A2C56"/>
            </a:solidFill>
            <a:prstDash val="solid"/>
          </a:ln>
        </p:spPr>
        <p:txBody>
          <a:bodyPr/>
          <a:lstStyle/>
          <a:p>
            <a:endParaRPr lang="fr-FR" noProof="0" dirty="0"/>
          </a:p>
        </p:txBody>
      </p:sp>
      <p:sp>
        <p:nvSpPr>
          <p:cNvPr id="8" name="Shape 6"/>
          <p:cNvSpPr/>
          <p:nvPr/>
        </p:nvSpPr>
        <p:spPr>
          <a:xfrm>
            <a:off x="365760" y="1042416"/>
            <a:ext cx="457200" cy="457200"/>
          </a:xfrm>
          <a:prstGeom prst="ellipse">
            <a:avLst/>
          </a:prstGeom>
          <a:solidFill>
            <a:srgbClr val="1A2C56"/>
          </a:solidFill>
          <a:ln w="12700">
            <a:solidFill>
              <a:srgbClr val="1A2C56"/>
            </a:solidFill>
            <a:prstDash val="solid"/>
          </a:ln>
        </p:spPr>
        <p:txBody>
          <a:bodyPr/>
          <a:lstStyle/>
          <a:p>
            <a:endParaRPr lang="fr-FR" noProof="0" dirty="0"/>
          </a:p>
        </p:txBody>
      </p:sp>
      <p:sp>
        <p:nvSpPr>
          <p:cNvPr id="9" name="Text 7"/>
          <p:cNvSpPr/>
          <p:nvPr/>
        </p:nvSpPr>
        <p:spPr>
          <a:xfrm>
            <a:off x="365760" y="1042416"/>
            <a:ext cx="457200" cy="457200"/>
          </a:xfrm>
          <a:prstGeom prst="rect">
            <a:avLst/>
          </a:prstGeom>
          <a:noFill/>
          <a:ln/>
        </p:spPr>
        <p:txBody>
          <a:bodyPr wrap="square" lIns="0" tIns="0" rIns="0" bIns="0" rtlCol="0" anchor="ctr"/>
          <a:lstStyle/>
          <a:p>
            <a:pPr marL="0" indent="0" algn="ctr">
              <a:buNone/>
            </a:pPr>
            <a:r>
              <a:rPr lang="fr-FR" sz="1400" b="1" noProof="0" dirty="0">
                <a:solidFill>
                  <a:srgbClr val="FFFFFF"/>
                </a:solidFill>
              </a:rPr>
              <a:t>1</a:t>
            </a:r>
            <a:endParaRPr lang="fr-FR" sz="1400" noProof="0" dirty="0"/>
          </a:p>
        </p:txBody>
      </p:sp>
      <p:sp>
        <p:nvSpPr>
          <p:cNvPr id="10" name="Text 8"/>
          <p:cNvSpPr/>
          <p:nvPr/>
        </p:nvSpPr>
        <p:spPr>
          <a:xfrm>
            <a:off x="914400" y="1024128"/>
            <a:ext cx="3520440" cy="347472"/>
          </a:xfrm>
          <a:prstGeom prst="rect">
            <a:avLst/>
          </a:prstGeom>
          <a:noFill/>
          <a:ln/>
        </p:spPr>
        <p:txBody>
          <a:bodyPr wrap="square" lIns="0" tIns="0" rIns="0" bIns="0" rtlCol="0" anchor="ctr"/>
          <a:lstStyle/>
          <a:p>
            <a:pPr marL="0" indent="0">
              <a:buNone/>
            </a:pPr>
            <a:r>
              <a:rPr lang="fr-FR" sz="1100" b="1" noProof="0" dirty="0">
                <a:solidFill>
                  <a:srgbClr val="1A2C56"/>
                </a:solidFill>
              </a:rPr>
              <a:t>JWT — Cookies </a:t>
            </a:r>
            <a:r>
              <a:rPr lang="fr-FR" sz="1100" b="1" noProof="0" dirty="0" err="1">
                <a:solidFill>
                  <a:srgbClr val="1A2C56"/>
                </a:solidFill>
              </a:rPr>
              <a:t>HttpOnly</a:t>
            </a:r>
            <a:endParaRPr lang="fr-FR" sz="1100" noProof="0" dirty="0"/>
          </a:p>
        </p:txBody>
      </p:sp>
      <p:sp>
        <p:nvSpPr>
          <p:cNvPr id="11" name="Text 9"/>
          <p:cNvSpPr/>
          <p:nvPr/>
        </p:nvSpPr>
        <p:spPr>
          <a:xfrm>
            <a:off x="365760" y="1481328"/>
            <a:ext cx="4041648" cy="694944"/>
          </a:xfrm>
          <a:prstGeom prst="rect">
            <a:avLst/>
          </a:prstGeom>
          <a:noFill/>
          <a:ln/>
        </p:spPr>
        <p:txBody>
          <a:bodyPr wrap="square" lIns="25400" tIns="25400" rIns="25400" bIns="25400" rtlCol="0" anchor="ctr"/>
          <a:lstStyle/>
          <a:p>
            <a:pPr marL="0" indent="0">
              <a:buNone/>
            </a:pPr>
            <a:r>
              <a:rPr lang="fr-FR" sz="1050" noProof="0" dirty="0">
                <a:solidFill>
                  <a:srgbClr val="64748B"/>
                </a:solidFill>
              </a:rPr>
              <a:t>Access </a:t>
            </a:r>
            <a:r>
              <a:rPr lang="fr-FR" sz="1050" noProof="0" dirty="0" err="1">
                <a:solidFill>
                  <a:srgbClr val="64748B"/>
                </a:solidFill>
              </a:rPr>
              <a:t>token</a:t>
            </a:r>
            <a:r>
              <a:rPr lang="fr-FR" sz="1050" noProof="0" dirty="0">
                <a:solidFill>
                  <a:srgbClr val="64748B"/>
                </a:solidFill>
              </a:rPr>
              <a:t> (15 min) + </a:t>
            </a:r>
            <a:r>
              <a:rPr lang="fr-FR" sz="1050" noProof="0" dirty="0" err="1">
                <a:solidFill>
                  <a:srgbClr val="64748B"/>
                </a:solidFill>
              </a:rPr>
              <a:t>refresh</a:t>
            </a:r>
            <a:r>
              <a:rPr lang="fr-FR" sz="1050" noProof="0" dirty="0">
                <a:solidFill>
                  <a:srgbClr val="64748B"/>
                </a:solidFill>
              </a:rPr>
              <a:t> </a:t>
            </a:r>
            <a:r>
              <a:rPr lang="fr-FR" sz="1050" noProof="0" dirty="0" err="1">
                <a:solidFill>
                  <a:srgbClr val="64748B"/>
                </a:solidFill>
              </a:rPr>
              <a:t>token</a:t>
            </a:r>
            <a:r>
              <a:rPr lang="fr-FR" sz="1050" noProof="0" dirty="0">
                <a:solidFill>
                  <a:srgbClr val="64748B"/>
                </a:solidFill>
              </a:rPr>
              <a:t> (7 j). </a:t>
            </a:r>
            <a:r>
              <a:rPr lang="fr-FR" sz="1050" noProof="0" dirty="0" err="1">
                <a:solidFill>
                  <a:srgbClr val="64748B"/>
                </a:solidFill>
              </a:rPr>
              <a:t>SameSite</a:t>
            </a:r>
            <a:r>
              <a:rPr lang="fr-FR" sz="1050" noProof="0" dirty="0">
                <a:solidFill>
                  <a:srgbClr val="64748B"/>
                </a:solidFill>
              </a:rPr>
              <a:t>=Strict, Secure, </a:t>
            </a:r>
            <a:r>
              <a:rPr lang="fr-FR" sz="1050" noProof="0" dirty="0" err="1">
                <a:solidFill>
                  <a:srgbClr val="64748B"/>
                </a:solidFill>
              </a:rPr>
              <a:t>HttpOnly</a:t>
            </a:r>
            <a:r>
              <a:rPr lang="fr-FR" sz="1050" noProof="0" dirty="0">
                <a:solidFill>
                  <a:srgbClr val="64748B"/>
                </a:solidFill>
              </a:rPr>
              <a:t> — protection CSRF/XSS sans stockage </a:t>
            </a:r>
            <a:r>
              <a:rPr lang="fr-FR" sz="1050" noProof="0" dirty="0" err="1">
                <a:solidFill>
                  <a:srgbClr val="64748B"/>
                </a:solidFill>
              </a:rPr>
              <a:t>localStorage</a:t>
            </a:r>
            <a:r>
              <a:rPr lang="fr-FR" sz="1050" noProof="0" dirty="0">
                <a:solidFill>
                  <a:srgbClr val="64748B"/>
                </a:solidFill>
              </a:rPr>
              <a:t>.</a:t>
            </a:r>
            <a:endParaRPr lang="fr-FR" sz="1050" noProof="0" dirty="0"/>
          </a:p>
        </p:txBody>
      </p:sp>
      <p:sp>
        <p:nvSpPr>
          <p:cNvPr id="12" name="Shape 10"/>
          <p:cNvSpPr/>
          <p:nvPr/>
        </p:nvSpPr>
        <p:spPr>
          <a:xfrm>
            <a:off x="4700016" y="914400"/>
            <a:ext cx="4251960" cy="131673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3" name="Shape 11"/>
          <p:cNvSpPr/>
          <p:nvPr/>
        </p:nvSpPr>
        <p:spPr>
          <a:xfrm>
            <a:off x="4700016" y="914400"/>
            <a:ext cx="4251960" cy="54864"/>
          </a:xfrm>
          <a:prstGeom prst="rect">
            <a:avLst/>
          </a:prstGeom>
          <a:solidFill>
            <a:srgbClr val="0D7680"/>
          </a:solidFill>
          <a:ln w="12700">
            <a:solidFill>
              <a:srgbClr val="0D7680"/>
            </a:solidFill>
            <a:prstDash val="solid"/>
          </a:ln>
        </p:spPr>
        <p:txBody>
          <a:bodyPr/>
          <a:lstStyle/>
          <a:p>
            <a:endParaRPr lang="fr-FR" noProof="0" dirty="0"/>
          </a:p>
        </p:txBody>
      </p:sp>
      <p:sp>
        <p:nvSpPr>
          <p:cNvPr id="14" name="Shape 12"/>
          <p:cNvSpPr/>
          <p:nvPr/>
        </p:nvSpPr>
        <p:spPr>
          <a:xfrm>
            <a:off x="4700016" y="914400"/>
            <a:ext cx="54864" cy="1316736"/>
          </a:xfrm>
          <a:prstGeom prst="rect">
            <a:avLst/>
          </a:prstGeom>
          <a:solidFill>
            <a:srgbClr val="1A2C56"/>
          </a:solidFill>
          <a:ln w="12700">
            <a:solidFill>
              <a:srgbClr val="1A2C56"/>
            </a:solidFill>
            <a:prstDash val="solid"/>
          </a:ln>
        </p:spPr>
        <p:txBody>
          <a:bodyPr/>
          <a:lstStyle/>
          <a:p>
            <a:endParaRPr lang="fr-FR" noProof="0" dirty="0"/>
          </a:p>
        </p:txBody>
      </p:sp>
      <p:sp>
        <p:nvSpPr>
          <p:cNvPr id="15" name="Shape 13"/>
          <p:cNvSpPr/>
          <p:nvPr/>
        </p:nvSpPr>
        <p:spPr>
          <a:xfrm>
            <a:off x="4809744" y="1042416"/>
            <a:ext cx="457200" cy="457200"/>
          </a:xfrm>
          <a:prstGeom prst="ellipse">
            <a:avLst/>
          </a:prstGeom>
          <a:solidFill>
            <a:srgbClr val="1A2C56"/>
          </a:solidFill>
          <a:ln w="12700">
            <a:solidFill>
              <a:srgbClr val="1A2C56"/>
            </a:solidFill>
            <a:prstDash val="solid"/>
          </a:ln>
        </p:spPr>
        <p:txBody>
          <a:bodyPr/>
          <a:lstStyle/>
          <a:p>
            <a:endParaRPr lang="fr-FR" noProof="0" dirty="0"/>
          </a:p>
        </p:txBody>
      </p:sp>
      <p:sp>
        <p:nvSpPr>
          <p:cNvPr id="16" name="Text 14"/>
          <p:cNvSpPr/>
          <p:nvPr/>
        </p:nvSpPr>
        <p:spPr>
          <a:xfrm>
            <a:off x="4809744" y="1042416"/>
            <a:ext cx="457200" cy="457200"/>
          </a:xfrm>
          <a:prstGeom prst="rect">
            <a:avLst/>
          </a:prstGeom>
          <a:noFill/>
          <a:ln/>
        </p:spPr>
        <p:txBody>
          <a:bodyPr wrap="square" lIns="0" tIns="0" rIns="0" bIns="0" rtlCol="0" anchor="ctr"/>
          <a:lstStyle/>
          <a:p>
            <a:pPr marL="0" indent="0" algn="ctr">
              <a:buNone/>
            </a:pPr>
            <a:r>
              <a:rPr lang="fr-FR" sz="1400" b="1" noProof="0" dirty="0">
                <a:solidFill>
                  <a:srgbClr val="FFFFFF"/>
                </a:solidFill>
              </a:rPr>
              <a:t>2</a:t>
            </a:r>
            <a:endParaRPr lang="fr-FR" sz="1400" noProof="0" dirty="0"/>
          </a:p>
        </p:txBody>
      </p:sp>
      <p:sp>
        <p:nvSpPr>
          <p:cNvPr id="17" name="Text 15"/>
          <p:cNvSpPr/>
          <p:nvPr/>
        </p:nvSpPr>
        <p:spPr>
          <a:xfrm>
            <a:off x="5358384" y="1024128"/>
            <a:ext cx="3520440" cy="347472"/>
          </a:xfrm>
          <a:prstGeom prst="rect">
            <a:avLst/>
          </a:prstGeom>
          <a:noFill/>
          <a:ln/>
        </p:spPr>
        <p:txBody>
          <a:bodyPr wrap="square" lIns="0" tIns="0" rIns="0" bIns="0" rtlCol="0" anchor="ctr"/>
          <a:lstStyle/>
          <a:p>
            <a:pPr marL="0" indent="0">
              <a:buNone/>
            </a:pPr>
            <a:r>
              <a:rPr lang="fr-FR" sz="1100" b="1" noProof="0" dirty="0" err="1">
                <a:solidFill>
                  <a:srgbClr val="1A2C56"/>
                </a:solidFill>
              </a:rPr>
              <a:t>Webhook</a:t>
            </a:r>
            <a:r>
              <a:rPr lang="fr-FR" sz="1100" b="1" noProof="0" dirty="0">
                <a:solidFill>
                  <a:srgbClr val="1A2C56"/>
                </a:solidFill>
              </a:rPr>
              <a:t> HMAC idempotent</a:t>
            </a:r>
            <a:endParaRPr lang="fr-FR" sz="1100" noProof="0" dirty="0"/>
          </a:p>
        </p:txBody>
      </p:sp>
      <p:sp>
        <p:nvSpPr>
          <p:cNvPr id="18" name="Text 16"/>
          <p:cNvSpPr/>
          <p:nvPr/>
        </p:nvSpPr>
        <p:spPr>
          <a:xfrm>
            <a:off x="4809744" y="1481328"/>
            <a:ext cx="4041648" cy="694944"/>
          </a:xfrm>
          <a:prstGeom prst="rect">
            <a:avLst/>
          </a:prstGeom>
          <a:noFill/>
          <a:ln/>
        </p:spPr>
        <p:txBody>
          <a:bodyPr wrap="square" lIns="25400" tIns="25400" rIns="25400" bIns="25400" rtlCol="0" anchor="ctr"/>
          <a:lstStyle/>
          <a:p>
            <a:pPr marL="0" indent="0">
              <a:buNone/>
            </a:pPr>
            <a:r>
              <a:rPr lang="fr-FR" sz="1050" noProof="0" dirty="0">
                <a:solidFill>
                  <a:srgbClr val="64748B"/>
                </a:solidFill>
              </a:rPr>
              <a:t>Signature HMAC-SHA256 vérifiée à réception. Index unique (provider, </a:t>
            </a:r>
            <a:r>
              <a:rPr lang="fr-FR" sz="1050" noProof="0" dirty="0" err="1">
                <a:solidFill>
                  <a:srgbClr val="64748B"/>
                </a:solidFill>
              </a:rPr>
              <a:t>providerPaymentId</a:t>
            </a:r>
            <a:r>
              <a:rPr lang="fr-FR" sz="1050" noProof="0" dirty="0">
                <a:solidFill>
                  <a:srgbClr val="64748B"/>
                </a:solidFill>
              </a:rPr>
              <a:t>) absorbe les </a:t>
            </a:r>
            <a:r>
              <a:rPr lang="fr-FR" sz="1050" noProof="0" dirty="0" err="1">
                <a:solidFill>
                  <a:srgbClr val="64748B"/>
                </a:solidFill>
              </a:rPr>
              <a:t>retentatives</a:t>
            </a:r>
            <a:r>
              <a:rPr lang="fr-FR" sz="1050" noProof="0" dirty="0">
                <a:solidFill>
                  <a:srgbClr val="64748B"/>
                </a:solidFill>
              </a:rPr>
              <a:t> sans créer de doublon.</a:t>
            </a:r>
            <a:endParaRPr lang="fr-FR" sz="1050" noProof="0" dirty="0"/>
          </a:p>
        </p:txBody>
      </p:sp>
      <p:sp>
        <p:nvSpPr>
          <p:cNvPr id="19" name="Shape 17"/>
          <p:cNvSpPr/>
          <p:nvPr/>
        </p:nvSpPr>
        <p:spPr>
          <a:xfrm>
            <a:off x="256032" y="2331720"/>
            <a:ext cx="4251960" cy="131673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0" name="Shape 18"/>
          <p:cNvSpPr/>
          <p:nvPr/>
        </p:nvSpPr>
        <p:spPr>
          <a:xfrm>
            <a:off x="256032" y="2331720"/>
            <a:ext cx="4251960" cy="54864"/>
          </a:xfrm>
          <a:prstGeom prst="rect">
            <a:avLst/>
          </a:prstGeom>
          <a:solidFill>
            <a:srgbClr val="0D7680"/>
          </a:solidFill>
          <a:ln w="12700">
            <a:solidFill>
              <a:srgbClr val="0D7680"/>
            </a:solidFill>
            <a:prstDash val="solid"/>
          </a:ln>
        </p:spPr>
        <p:txBody>
          <a:bodyPr/>
          <a:lstStyle/>
          <a:p>
            <a:endParaRPr lang="fr-FR" noProof="0" dirty="0"/>
          </a:p>
        </p:txBody>
      </p:sp>
      <p:sp>
        <p:nvSpPr>
          <p:cNvPr id="21" name="Shape 19"/>
          <p:cNvSpPr/>
          <p:nvPr/>
        </p:nvSpPr>
        <p:spPr>
          <a:xfrm>
            <a:off x="256032" y="2331720"/>
            <a:ext cx="54864" cy="1316736"/>
          </a:xfrm>
          <a:prstGeom prst="rect">
            <a:avLst/>
          </a:prstGeom>
          <a:solidFill>
            <a:srgbClr val="1A2C56"/>
          </a:solidFill>
          <a:ln w="12700">
            <a:solidFill>
              <a:srgbClr val="1A2C56"/>
            </a:solidFill>
            <a:prstDash val="solid"/>
          </a:ln>
        </p:spPr>
        <p:txBody>
          <a:bodyPr/>
          <a:lstStyle/>
          <a:p>
            <a:endParaRPr lang="fr-FR" noProof="0" dirty="0"/>
          </a:p>
        </p:txBody>
      </p:sp>
      <p:sp>
        <p:nvSpPr>
          <p:cNvPr id="22" name="Shape 20"/>
          <p:cNvSpPr/>
          <p:nvPr/>
        </p:nvSpPr>
        <p:spPr>
          <a:xfrm>
            <a:off x="365760" y="2459736"/>
            <a:ext cx="457200" cy="457200"/>
          </a:xfrm>
          <a:prstGeom prst="ellipse">
            <a:avLst/>
          </a:prstGeom>
          <a:solidFill>
            <a:srgbClr val="1A2C56"/>
          </a:solidFill>
          <a:ln w="12700">
            <a:solidFill>
              <a:srgbClr val="1A2C56"/>
            </a:solidFill>
            <a:prstDash val="solid"/>
          </a:ln>
        </p:spPr>
        <p:txBody>
          <a:bodyPr/>
          <a:lstStyle/>
          <a:p>
            <a:endParaRPr lang="fr-FR" noProof="0" dirty="0"/>
          </a:p>
        </p:txBody>
      </p:sp>
      <p:sp>
        <p:nvSpPr>
          <p:cNvPr id="23" name="Text 21"/>
          <p:cNvSpPr/>
          <p:nvPr/>
        </p:nvSpPr>
        <p:spPr>
          <a:xfrm>
            <a:off x="365760" y="2459736"/>
            <a:ext cx="457200" cy="457200"/>
          </a:xfrm>
          <a:prstGeom prst="rect">
            <a:avLst/>
          </a:prstGeom>
          <a:noFill/>
          <a:ln/>
        </p:spPr>
        <p:txBody>
          <a:bodyPr wrap="square" lIns="0" tIns="0" rIns="0" bIns="0" rtlCol="0" anchor="ctr"/>
          <a:lstStyle/>
          <a:p>
            <a:pPr marL="0" indent="0" algn="ctr">
              <a:buNone/>
            </a:pPr>
            <a:r>
              <a:rPr lang="fr-FR" sz="1400" b="1" noProof="0" dirty="0">
                <a:solidFill>
                  <a:srgbClr val="FFFFFF"/>
                </a:solidFill>
              </a:rPr>
              <a:t>3</a:t>
            </a:r>
            <a:endParaRPr lang="fr-FR" sz="1400" noProof="0" dirty="0"/>
          </a:p>
        </p:txBody>
      </p:sp>
      <p:sp>
        <p:nvSpPr>
          <p:cNvPr id="24" name="Text 22"/>
          <p:cNvSpPr/>
          <p:nvPr/>
        </p:nvSpPr>
        <p:spPr>
          <a:xfrm>
            <a:off x="914400" y="2441448"/>
            <a:ext cx="3520440" cy="347472"/>
          </a:xfrm>
          <a:prstGeom prst="rect">
            <a:avLst/>
          </a:prstGeom>
          <a:noFill/>
          <a:ln/>
        </p:spPr>
        <p:txBody>
          <a:bodyPr wrap="square" lIns="0" tIns="0" rIns="0" bIns="0" rtlCol="0" anchor="ctr"/>
          <a:lstStyle/>
          <a:p>
            <a:pPr marL="0" indent="0">
              <a:buNone/>
            </a:pPr>
            <a:r>
              <a:rPr lang="fr-FR" sz="1100" b="1" noProof="0" dirty="0">
                <a:solidFill>
                  <a:srgbClr val="1A2C56"/>
                </a:solidFill>
              </a:rPr>
              <a:t>Mise à jour atomique</a:t>
            </a:r>
            <a:endParaRPr lang="fr-FR" sz="1100" noProof="0" dirty="0"/>
          </a:p>
        </p:txBody>
      </p:sp>
      <p:sp>
        <p:nvSpPr>
          <p:cNvPr id="25" name="Text 23"/>
          <p:cNvSpPr/>
          <p:nvPr/>
        </p:nvSpPr>
        <p:spPr>
          <a:xfrm>
            <a:off x="365760" y="2898648"/>
            <a:ext cx="4041648" cy="694944"/>
          </a:xfrm>
          <a:prstGeom prst="rect">
            <a:avLst/>
          </a:prstGeom>
          <a:noFill/>
          <a:ln/>
        </p:spPr>
        <p:txBody>
          <a:bodyPr wrap="square" lIns="25400" tIns="25400" rIns="25400" bIns="25400" rtlCol="0" anchor="ctr"/>
          <a:lstStyle/>
          <a:p>
            <a:pPr marL="0" indent="0">
              <a:buNone/>
            </a:pPr>
            <a:r>
              <a:rPr lang="fr-FR" sz="1050" noProof="0" dirty="0" err="1">
                <a:solidFill>
                  <a:srgbClr val="64748B"/>
                </a:solidFill>
              </a:rPr>
              <a:t>updateOne</a:t>
            </a:r>
            <a:r>
              <a:rPr lang="fr-FR" sz="1050" noProof="0" dirty="0">
                <a:solidFill>
                  <a:srgbClr val="64748B"/>
                </a:solidFill>
              </a:rPr>
              <a:t> conditionnel : </a:t>
            </a:r>
            <a:r>
              <a:rPr lang="fr-FR" sz="1050" noProof="0" dirty="0" err="1">
                <a:solidFill>
                  <a:srgbClr val="64748B"/>
                </a:solidFill>
              </a:rPr>
              <a:t>currentFunding</a:t>
            </a:r>
            <a:r>
              <a:rPr lang="fr-FR" sz="1050" noProof="0" dirty="0">
                <a:solidFill>
                  <a:srgbClr val="64748B"/>
                </a:solidFill>
              </a:rPr>
              <a:t> + montant ≤ </a:t>
            </a:r>
            <a:r>
              <a:rPr lang="fr-FR" sz="1050" noProof="0" dirty="0" err="1">
                <a:solidFill>
                  <a:srgbClr val="64748B"/>
                </a:solidFill>
              </a:rPr>
              <a:t>fundingGoal</a:t>
            </a:r>
            <a:r>
              <a:rPr lang="fr-FR" sz="1050" noProof="0" dirty="0">
                <a:solidFill>
                  <a:srgbClr val="64748B"/>
                </a:solidFill>
              </a:rPr>
              <a:t> garantit l'intégrité financière sous charge concurrente (anti-sur-financement).</a:t>
            </a:r>
            <a:endParaRPr lang="fr-FR" sz="1050" noProof="0" dirty="0"/>
          </a:p>
        </p:txBody>
      </p:sp>
      <p:sp>
        <p:nvSpPr>
          <p:cNvPr id="26" name="Shape 24"/>
          <p:cNvSpPr/>
          <p:nvPr/>
        </p:nvSpPr>
        <p:spPr>
          <a:xfrm>
            <a:off x="4700016" y="2331720"/>
            <a:ext cx="4251960" cy="131673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7" name="Shape 25"/>
          <p:cNvSpPr/>
          <p:nvPr/>
        </p:nvSpPr>
        <p:spPr>
          <a:xfrm>
            <a:off x="4700016" y="2331720"/>
            <a:ext cx="4251960" cy="54864"/>
          </a:xfrm>
          <a:prstGeom prst="rect">
            <a:avLst/>
          </a:prstGeom>
          <a:solidFill>
            <a:srgbClr val="0D7680"/>
          </a:solidFill>
          <a:ln w="12700">
            <a:solidFill>
              <a:srgbClr val="0D7680"/>
            </a:solidFill>
            <a:prstDash val="solid"/>
          </a:ln>
        </p:spPr>
        <p:txBody>
          <a:bodyPr/>
          <a:lstStyle/>
          <a:p>
            <a:endParaRPr lang="fr-FR" noProof="0" dirty="0"/>
          </a:p>
        </p:txBody>
      </p:sp>
      <p:sp>
        <p:nvSpPr>
          <p:cNvPr id="28" name="Shape 26"/>
          <p:cNvSpPr/>
          <p:nvPr/>
        </p:nvSpPr>
        <p:spPr>
          <a:xfrm>
            <a:off x="4700016" y="2331720"/>
            <a:ext cx="54864" cy="1316736"/>
          </a:xfrm>
          <a:prstGeom prst="rect">
            <a:avLst/>
          </a:prstGeom>
          <a:solidFill>
            <a:srgbClr val="1A2C56"/>
          </a:solidFill>
          <a:ln w="12700">
            <a:solidFill>
              <a:srgbClr val="1A2C56"/>
            </a:solidFill>
            <a:prstDash val="solid"/>
          </a:ln>
        </p:spPr>
        <p:txBody>
          <a:bodyPr/>
          <a:lstStyle/>
          <a:p>
            <a:endParaRPr lang="fr-FR" noProof="0" dirty="0"/>
          </a:p>
        </p:txBody>
      </p:sp>
      <p:sp>
        <p:nvSpPr>
          <p:cNvPr id="29" name="Shape 27"/>
          <p:cNvSpPr/>
          <p:nvPr/>
        </p:nvSpPr>
        <p:spPr>
          <a:xfrm>
            <a:off x="4809744" y="2459736"/>
            <a:ext cx="457200" cy="457200"/>
          </a:xfrm>
          <a:prstGeom prst="ellipse">
            <a:avLst/>
          </a:prstGeom>
          <a:solidFill>
            <a:srgbClr val="1A2C56"/>
          </a:solidFill>
          <a:ln w="12700">
            <a:solidFill>
              <a:srgbClr val="1A2C56"/>
            </a:solidFill>
            <a:prstDash val="solid"/>
          </a:ln>
        </p:spPr>
        <p:txBody>
          <a:bodyPr/>
          <a:lstStyle/>
          <a:p>
            <a:endParaRPr lang="fr-FR" noProof="0" dirty="0"/>
          </a:p>
        </p:txBody>
      </p:sp>
      <p:sp>
        <p:nvSpPr>
          <p:cNvPr id="30" name="Text 28"/>
          <p:cNvSpPr/>
          <p:nvPr/>
        </p:nvSpPr>
        <p:spPr>
          <a:xfrm>
            <a:off x="4809744" y="2459736"/>
            <a:ext cx="457200" cy="457200"/>
          </a:xfrm>
          <a:prstGeom prst="rect">
            <a:avLst/>
          </a:prstGeom>
          <a:noFill/>
          <a:ln/>
        </p:spPr>
        <p:txBody>
          <a:bodyPr wrap="square" lIns="0" tIns="0" rIns="0" bIns="0" rtlCol="0" anchor="ctr"/>
          <a:lstStyle/>
          <a:p>
            <a:pPr marL="0" indent="0" algn="ctr">
              <a:buNone/>
            </a:pPr>
            <a:r>
              <a:rPr lang="fr-FR" sz="1400" b="1" noProof="0" dirty="0">
                <a:solidFill>
                  <a:srgbClr val="FFFFFF"/>
                </a:solidFill>
              </a:rPr>
              <a:t>4</a:t>
            </a:r>
            <a:endParaRPr lang="fr-FR" sz="1400" noProof="0" dirty="0"/>
          </a:p>
        </p:txBody>
      </p:sp>
      <p:sp>
        <p:nvSpPr>
          <p:cNvPr id="31" name="Text 29"/>
          <p:cNvSpPr/>
          <p:nvPr/>
        </p:nvSpPr>
        <p:spPr>
          <a:xfrm>
            <a:off x="5358384" y="2441448"/>
            <a:ext cx="3520440" cy="347472"/>
          </a:xfrm>
          <a:prstGeom prst="rect">
            <a:avLst/>
          </a:prstGeom>
          <a:noFill/>
          <a:ln/>
        </p:spPr>
        <p:txBody>
          <a:bodyPr wrap="square" lIns="0" tIns="0" rIns="0" bIns="0" rtlCol="0" anchor="ctr"/>
          <a:lstStyle/>
          <a:p>
            <a:pPr marL="0" indent="0">
              <a:buNone/>
            </a:pPr>
            <a:r>
              <a:rPr lang="fr-FR" sz="1100" b="1" noProof="0" dirty="0">
                <a:solidFill>
                  <a:srgbClr val="1A2C56"/>
                </a:solidFill>
              </a:rPr>
              <a:t>AES-256-GCM (coordonnées RIB)</a:t>
            </a:r>
            <a:endParaRPr lang="fr-FR" sz="1100" noProof="0" dirty="0"/>
          </a:p>
        </p:txBody>
      </p:sp>
      <p:sp>
        <p:nvSpPr>
          <p:cNvPr id="32" name="Text 30"/>
          <p:cNvSpPr/>
          <p:nvPr/>
        </p:nvSpPr>
        <p:spPr>
          <a:xfrm>
            <a:off x="4809744" y="2898648"/>
            <a:ext cx="4041648" cy="694944"/>
          </a:xfrm>
          <a:prstGeom prst="rect">
            <a:avLst/>
          </a:prstGeom>
          <a:noFill/>
          <a:ln/>
        </p:spPr>
        <p:txBody>
          <a:bodyPr wrap="square" lIns="25400" tIns="25400" rIns="25400" bIns="25400" rtlCol="0" anchor="ctr"/>
          <a:lstStyle/>
          <a:p>
            <a:pPr marL="0" indent="0">
              <a:buNone/>
            </a:pPr>
            <a:r>
              <a:rPr lang="fr-FR" sz="1050" noProof="0" dirty="0">
                <a:solidFill>
                  <a:srgbClr val="64748B"/>
                </a:solidFill>
              </a:rPr>
              <a:t>Chiffrement applicatif avec IV unique par enregistrement. Clé maître chargée depuis variable d'environnement — jamais dans le code source.</a:t>
            </a:r>
            <a:endParaRPr lang="fr-FR" sz="1050" noProof="0" dirty="0"/>
          </a:p>
        </p:txBody>
      </p:sp>
      <p:sp>
        <p:nvSpPr>
          <p:cNvPr id="33" name="Shape 31"/>
          <p:cNvSpPr/>
          <p:nvPr/>
        </p:nvSpPr>
        <p:spPr>
          <a:xfrm>
            <a:off x="256032" y="3749040"/>
            <a:ext cx="4251960" cy="131673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34" name="Shape 32"/>
          <p:cNvSpPr/>
          <p:nvPr/>
        </p:nvSpPr>
        <p:spPr>
          <a:xfrm>
            <a:off x="256032" y="3749040"/>
            <a:ext cx="4251960" cy="54864"/>
          </a:xfrm>
          <a:prstGeom prst="rect">
            <a:avLst/>
          </a:prstGeom>
          <a:solidFill>
            <a:srgbClr val="0D7680"/>
          </a:solidFill>
          <a:ln w="12700">
            <a:solidFill>
              <a:srgbClr val="0D7680"/>
            </a:solidFill>
            <a:prstDash val="solid"/>
          </a:ln>
        </p:spPr>
        <p:txBody>
          <a:bodyPr/>
          <a:lstStyle/>
          <a:p>
            <a:endParaRPr lang="fr-FR" noProof="0" dirty="0"/>
          </a:p>
        </p:txBody>
      </p:sp>
      <p:sp>
        <p:nvSpPr>
          <p:cNvPr id="35" name="Shape 33"/>
          <p:cNvSpPr/>
          <p:nvPr/>
        </p:nvSpPr>
        <p:spPr>
          <a:xfrm>
            <a:off x="256032" y="3749040"/>
            <a:ext cx="54864" cy="1316736"/>
          </a:xfrm>
          <a:prstGeom prst="rect">
            <a:avLst/>
          </a:prstGeom>
          <a:solidFill>
            <a:srgbClr val="1A2C56"/>
          </a:solidFill>
          <a:ln w="12700">
            <a:solidFill>
              <a:srgbClr val="1A2C56"/>
            </a:solidFill>
            <a:prstDash val="solid"/>
          </a:ln>
        </p:spPr>
        <p:txBody>
          <a:bodyPr/>
          <a:lstStyle/>
          <a:p>
            <a:endParaRPr lang="fr-FR" noProof="0" dirty="0"/>
          </a:p>
        </p:txBody>
      </p:sp>
      <p:sp>
        <p:nvSpPr>
          <p:cNvPr id="36" name="Shape 34"/>
          <p:cNvSpPr/>
          <p:nvPr/>
        </p:nvSpPr>
        <p:spPr>
          <a:xfrm>
            <a:off x="365760" y="3877056"/>
            <a:ext cx="457200" cy="457200"/>
          </a:xfrm>
          <a:prstGeom prst="ellipse">
            <a:avLst/>
          </a:prstGeom>
          <a:solidFill>
            <a:srgbClr val="1A2C56"/>
          </a:solidFill>
          <a:ln w="12700">
            <a:solidFill>
              <a:srgbClr val="1A2C56"/>
            </a:solidFill>
            <a:prstDash val="solid"/>
          </a:ln>
        </p:spPr>
        <p:txBody>
          <a:bodyPr/>
          <a:lstStyle/>
          <a:p>
            <a:endParaRPr lang="fr-FR" noProof="0" dirty="0"/>
          </a:p>
        </p:txBody>
      </p:sp>
      <p:sp>
        <p:nvSpPr>
          <p:cNvPr id="37" name="Text 35"/>
          <p:cNvSpPr/>
          <p:nvPr/>
        </p:nvSpPr>
        <p:spPr>
          <a:xfrm>
            <a:off x="365760" y="3877056"/>
            <a:ext cx="457200" cy="457200"/>
          </a:xfrm>
          <a:prstGeom prst="rect">
            <a:avLst/>
          </a:prstGeom>
          <a:noFill/>
          <a:ln/>
        </p:spPr>
        <p:txBody>
          <a:bodyPr wrap="square" lIns="0" tIns="0" rIns="0" bIns="0" rtlCol="0" anchor="ctr"/>
          <a:lstStyle/>
          <a:p>
            <a:pPr marL="0" indent="0" algn="ctr">
              <a:buNone/>
            </a:pPr>
            <a:r>
              <a:rPr lang="fr-FR" sz="1400" b="1" noProof="0" dirty="0">
                <a:solidFill>
                  <a:srgbClr val="FFFFFF"/>
                </a:solidFill>
              </a:rPr>
              <a:t>5</a:t>
            </a:r>
            <a:endParaRPr lang="fr-FR" sz="1400" noProof="0" dirty="0"/>
          </a:p>
        </p:txBody>
      </p:sp>
      <p:sp>
        <p:nvSpPr>
          <p:cNvPr id="38" name="Text 36"/>
          <p:cNvSpPr/>
          <p:nvPr/>
        </p:nvSpPr>
        <p:spPr>
          <a:xfrm>
            <a:off x="914400" y="3858768"/>
            <a:ext cx="3520440" cy="347472"/>
          </a:xfrm>
          <a:prstGeom prst="rect">
            <a:avLst/>
          </a:prstGeom>
          <a:noFill/>
          <a:ln/>
        </p:spPr>
        <p:txBody>
          <a:bodyPr wrap="square" lIns="0" tIns="0" rIns="0" bIns="0" rtlCol="0" anchor="ctr"/>
          <a:lstStyle/>
          <a:p>
            <a:pPr marL="0" indent="0">
              <a:buNone/>
            </a:pPr>
            <a:r>
              <a:rPr lang="fr-FR" sz="1100" b="1" noProof="0" dirty="0">
                <a:solidFill>
                  <a:srgbClr val="1A2C56"/>
                </a:solidFill>
              </a:rPr>
              <a:t>4 Files Dead-Letter (DLQ)</a:t>
            </a:r>
            <a:endParaRPr lang="fr-FR" sz="1100" noProof="0" dirty="0"/>
          </a:p>
        </p:txBody>
      </p:sp>
      <p:sp>
        <p:nvSpPr>
          <p:cNvPr id="39" name="Text 37"/>
          <p:cNvSpPr/>
          <p:nvPr/>
        </p:nvSpPr>
        <p:spPr>
          <a:xfrm>
            <a:off x="365760" y="4315968"/>
            <a:ext cx="4041648" cy="694944"/>
          </a:xfrm>
          <a:prstGeom prst="rect">
            <a:avLst/>
          </a:prstGeom>
          <a:noFill/>
          <a:ln/>
        </p:spPr>
        <p:txBody>
          <a:bodyPr wrap="square" lIns="25400" tIns="25400" rIns="25400" bIns="25400" rtlCol="0" anchor="ctr"/>
          <a:lstStyle/>
          <a:p>
            <a:pPr marL="0" indent="0">
              <a:buNone/>
            </a:pPr>
            <a:r>
              <a:rPr lang="fr-FR" sz="1050" noProof="0" dirty="0" err="1">
                <a:solidFill>
                  <a:srgbClr val="64748B"/>
                </a:solidFill>
              </a:rPr>
              <a:t>failedWorkflowEvents</a:t>
            </a:r>
            <a:r>
              <a:rPr lang="fr-FR" sz="1050" noProof="0" dirty="0">
                <a:solidFill>
                  <a:srgbClr val="64748B"/>
                </a:solidFill>
              </a:rPr>
              <a:t>, </a:t>
            </a:r>
            <a:r>
              <a:rPr lang="fr-FR" sz="1050" noProof="0" dirty="0" err="1">
                <a:solidFill>
                  <a:srgbClr val="64748B"/>
                </a:solidFill>
              </a:rPr>
              <a:t>failedRefundEvents</a:t>
            </a:r>
            <a:r>
              <a:rPr lang="fr-FR" sz="1050" noProof="0" dirty="0">
                <a:solidFill>
                  <a:srgbClr val="64748B"/>
                </a:solidFill>
              </a:rPr>
              <a:t>, </a:t>
            </a:r>
            <a:r>
              <a:rPr lang="fr-FR" sz="1050" noProof="0" dirty="0" err="1">
                <a:solidFill>
                  <a:srgbClr val="64748B"/>
                </a:solidFill>
              </a:rPr>
              <a:t>failedPayoutEvents</a:t>
            </a:r>
            <a:r>
              <a:rPr lang="fr-FR" sz="1050" noProof="0" dirty="0">
                <a:solidFill>
                  <a:srgbClr val="64748B"/>
                </a:solidFill>
              </a:rPr>
              <a:t>, </a:t>
            </a:r>
            <a:r>
              <a:rPr lang="fr-FR" sz="1050" noProof="0" dirty="0" err="1">
                <a:solidFill>
                  <a:srgbClr val="64748B"/>
                </a:solidFill>
              </a:rPr>
              <a:t>failedCancellationEvents</a:t>
            </a:r>
            <a:r>
              <a:rPr lang="fr-FR" sz="1050" noProof="0" dirty="0">
                <a:solidFill>
                  <a:srgbClr val="64748B"/>
                </a:solidFill>
              </a:rPr>
              <a:t> — toute erreur définitive est visible et </a:t>
            </a:r>
            <a:r>
              <a:rPr lang="fr-FR" sz="1050" noProof="0" dirty="0" err="1">
                <a:solidFill>
                  <a:srgbClr val="64748B"/>
                </a:solidFill>
              </a:rPr>
              <a:t>repriseable</a:t>
            </a:r>
            <a:r>
              <a:rPr lang="fr-FR" sz="1050" noProof="0" dirty="0">
                <a:solidFill>
                  <a:srgbClr val="64748B"/>
                </a:solidFill>
              </a:rPr>
              <a:t>.</a:t>
            </a:r>
            <a:endParaRPr lang="fr-FR" sz="1050" noProof="0" dirty="0"/>
          </a:p>
        </p:txBody>
      </p:sp>
      <p:sp>
        <p:nvSpPr>
          <p:cNvPr id="40" name="Shape 38"/>
          <p:cNvSpPr/>
          <p:nvPr/>
        </p:nvSpPr>
        <p:spPr>
          <a:xfrm>
            <a:off x="4700016" y="3749040"/>
            <a:ext cx="4251960" cy="1316736"/>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41" name="Shape 39"/>
          <p:cNvSpPr/>
          <p:nvPr/>
        </p:nvSpPr>
        <p:spPr>
          <a:xfrm>
            <a:off x="4700016" y="3749040"/>
            <a:ext cx="4251960" cy="54864"/>
          </a:xfrm>
          <a:prstGeom prst="rect">
            <a:avLst/>
          </a:prstGeom>
          <a:solidFill>
            <a:srgbClr val="0D7680"/>
          </a:solidFill>
          <a:ln w="12700">
            <a:solidFill>
              <a:srgbClr val="0D7680"/>
            </a:solidFill>
            <a:prstDash val="solid"/>
          </a:ln>
        </p:spPr>
        <p:txBody>
          <a:bodyPr/>
          <a:lstStyle/>
          <a:p>
            <a:endParaRPr lang="fr-FR" noProof="0" dirty="0"/>
          </a:p>
        </p:txBody>
      </p:sp>
      <p:sp>
        <p:nvSpPr>
          <p:cNvPr id="42" name="Shape 40"/>
          <p:cNvSpPr/>
          <p:nvPr/>
        </p:nvSpPr>
        <p:spPr>
          <a:xfrm>
            <a:off x="4700016" y="3749040"/>
            <a:ext cx="54864" cy="1316736"/>
          </a:xfrm>
          <a:prstGeom prst="rect">
            <a:avLst/>
          </a:prstGeom>
          <a:solidFill>
            <a:srgbClr val="1A2C56"/>
          </a:solidFill>
          <a:ln w="12700">
            <a:solidFill>
              <a:srgbClr val="1A2C56"/>
            </a:solidFill>
            <a:prstDash val="solid"/>
          </a:ln>
        </p:spPr>
        <p:txBody>
          <a:bodyPr/>
          <a:lstStyle/>
          <a:p>
            <a:endParaRPr lang="fr-FR" noProof="0" dirty="0"/>
          </a:p>
        </p:txBody>
      </p:sp>
      <p:sp>
        <p:nvSpPr>
          <p:cNvPr id="43" name="Shape 41"/>
          <p:cNvSpPr/>
          <p:nvPr/>
        </p:nvSpPr>
        <p:spPr>
          <a:xfrm>
            <a:off x="4809744" y="3877056"/>
            <a:ext cx="457200" cy="457200"/>
          </a:xfrm>
          <a:prstGeom prst="ellipse">
            <a:avLst/>
          </a:prstGeom>
          <a:solidFill>
            <a:srgbClr val="1A2C56"/>
          </a:solidFill>
          <a:ln w="12700">
            <a:solidFill>
              <a:srgbClr val="1A2C56"/>
            </a:solidFill>
            <a:prstDash val="solid"/>
          </a:ln>
        </p:spPr>
        <p:txBody>
          <a:bodyPr/>
          <a:lstStyle/>
          <a:p>
            <a:endParaRPr lang="fr-FR" noProof="0" dirty="0"/>
          </a:p>
        </p:txBody>
      </p:sp>
      <p:sp>
        <p:nvSpPr>
          <p:cNvPr id="44" name="Text 42"/>
          <p:cNvSpPr/>
          <p:nvPr/>
        </p:nvSpPr>
        <p:spPr>
          <a:xfrm>
            <a:off x="4809744" y="3877056"/>
            <a:ext cx="457200" cy="457200"/>
          </a:xfrm>
          <a:prstGeom prst="rect">
            <a:avLst/>
          </a:prstGeom>
          <a:noFill/>
          <a:ln/>
        </p:spPr>
        <p:txBody>
          <a:bodyPr wrap="square" lIns="0" tIns="0" rIns="0" bIns="0" rtlCol="0" anchor="ctr"/>
          <a:lstStyle/>
          <a:p>
            <a:pPr marL="0" indent="0" algn="ctr">
              <a:buNone/>
            </a:pPr>
            <a:r>
              <a:rPr lang="fr-FR" sz="1400" b="1" noProof="0" dirty="0">
                <a:solidFill>
                  <a:srgbClr val="FFFFFF"/>
                </a:solidFill>
              </a:rPr>
              <a:t>6</a:t>
            </a:r>
            <a:endParaRPr lang="fr-FR" sz="1400" noProof="0" dirty="0"/>
          </a:p>
        </p:txBody>
      </p:sp>
      <p:sp>
        <p:nvSpPr>
          <p:cNvPr id="45" name="Text 43"/>
          <p:cNvSpPr/>
          <p:nvPr/>
        </p:nvSpPr>
        <p:spPr>
          <a:xfrm>
            <a:off x="5358384" y="3858768"/>
            <a:ext cx="3520440" cy="347472"/>
          </a:xfrm>
          <a:prstGeom prst="rect">
            <a:avLst/>
          </a:prstGeom>
          <a:noFill/>
          <a:ln/>
        </p:spPr>
        <p:txBody>
          <a:bodyPr wrap="square" lIns="0" tIns="0" rIns="0" bIns="0" rtlCol="0" anchor="ctr"/>
          <a:lstStyle/>
          <a:p>
            <a:pPr marL="0" indent="0">
              <a:buNone/>
            </a:pPr>
            <a:r>
              <a:rPr lang="fr-FR" sz="1100" b="1" noProof="0" dirty="0">
                <a:solidFill>
                  <a:srgbClr val="1A2C56"/>
                </a:solidFill>
              </a:rPr>
              <a:t>RBAC + Rate </a:t>
            </a:r>
            <a:r>
              <a:rPr lang="fr-FR" sz="1100" b="1" noProof="0" dirty="0" err="1">
                <a:solidFill>
                  <a:srgbClr val="1A2C56"/>
                </a:solidFill>
              </a:rPr>
              <a:t>limiting</a:t>
            </a:r>
            <a:endParaRPr lang="fr-FR" sz="1100" noProof="0" dirty="0"/>
          </a:p>
        </p:txBody>
      </p:sp>
      <p:sp>
        <p:nvSpPr>
          <p:cNvPr id="46" name="Text 44"/>
          <p:cNvSpPr/>
          <p:nvPr/>
        </p:nvSpPr>
        <p:spPr>
          <a:xfrm>
            <a:off x="4809744" y="4315968"/>
            <a:ext cx="4041648" cy="694944"/>
          </a:xfrm>
          <a:prstGeom prst="rect">
            <a:avLst/>
          </a:prstGeom>
          <a:noFill/>
          <a:ln/>
        </p:spPr>
        <p:txBody>
          <a:bodyPr wrap="square" lIns="25400" tIns="25400" rIns="25400" bIns="25400" rtlCol="0" anchor="ctr"/>
          <a:lstStyle/>
          <a:p>
            <a:pPr marL="0" indent="0">
              <a:buNone/>
            </a:pPr>
            <a:r>
              <a:rPr lang="fr-FR" sz="1050" noProof="0" dirty="0">
                <a:solidFill>
                  <a:srgbClr val="64748B"/>
                </a:solidFill>
              </a:rPr>
              <a:t>Middleware </a:t>
            </a:r>
            <a:r>
              <a:rPr lang="fr-FR" sz="1050" noProof="0" dirty="0" err="1">
                <a:solidFill>
                  <a:srgbClr val="64748B"/>
                </a:solidFill>
              </a:rPr>
              <a:t>checkRole</a:t>
            </a:r>
            <a:r>
              <a:rPr lang="fr-FR" sz="1050" noProof="0" dirty="0">
                <a:solidFill>
                  <a:srgbClr val="64748B"/>
                </a:solidFill>
              </a:rPr>
              <a:t>() sur chaque route sensible. express-rate-</a:t>
            </a:r>
            <a:r>
              <a:rPr lang="fr-FR" sz="1050" noProof="0" dirty="0" err="1">
                <a:solidFill>
                  <a:srgbClr val="64748B"/>
                </a:solidFill>
              </a:rPr>
              <a:t>limit</a:t>
            </a:r>
            <a:r>
              <a:rPr lang="fr-FR" sz="1050" noProof="0" dirty="0">
                <a:solidFill>
                  <a:srgbClr val="64748B"/>
                </a:solidFill>
              </a:rPr>
              <a:t> protège les </a:t>
            </a:r>
            <a:r>
              <a:rPr lang="fr-FR" sz="1050" noProof="0" dirty="0" err="1">
                <a:solidFill>
                  <a:srgbClr val="64748B"/>
                </a:solidFill>
              </a:rPr>
              <a:t>endpoints</a:t>
            </a:r>
            <a:r>
              <a:rPr lang="fr-FR" sz="1050" noProof="0" dirty="0">
                <a:solidFill>
                  <a:srgbClr val="64748B"/>
                </a:solidFill>
              </a:rPr>
              <a:t> d'authentification et les actions critiques.</a:t>
            </a:r>
            <a:endParaRPr lang="fr-FR" sz="1050" noProof="0" dirty="0"/>
          </a:p>
        </p:txBody>
      </p:sp>
      <p:sp>
        <p:nvSpPr>
          <p:cNvPr id="9001" name="PageNum10"/>
          <p:cNvSpPr txBox="1"/>
          <p:nvPr/>
        </p:nvSpPr>
        <p:spPr>
          <a:xfrm>
            <a:off x="8200000" y="4900000"/>
            <a:ext cx="800000" cy="200000"/>
          </a:xfrm>
          <a:prstGeom prst="rect">
            <a:avLst/>
          </a:prstGeom>
          <a:noFill/>
        </p:spPr>
        <p:txBody>
          <a:bodyPr anchor="ctr">
            <a:noAutofit/>
          </a:bodyPr>
          <a:lstStyle/>
          <a:p>
            <a:pPr algn="r"/>
            <a:r>
              <a:rPr lang="fr-FR" sz="1000" b="0" dirty="0">
                <a:solidFill>
                  <a:srgbClr val="1A2C56"/>
                </a:solidFill>
              </a:rPr>
              <a:t>10 / 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C56"/>
          </a:solidFill>
          <a:ln w="12700">
            <a:solidFill>
              <a:srgbClr val="1A2C56"/>
            </a:solidFill>
            <a:prstDash val="solid"/>
          </a:ln>
        </p:spPr>
        <p:txBody>
          <a:bodyPr/>
          <a:lstStyle/>
          <a:p>
            <a:endParaRPr lang="fr-FR" noProof="0" dirty="0"/>
          </a:p>
        </p:txBody>
      </p:sp>
      <p:sp>
        <p:nvSpPr>
          <p:cNvPr id="3" name="Shape 1"/>
          <p:cNvSpPr/>
          <p:nvPr/>
        </p:nvSpPr>
        <p:spPr>
          <a:xfrm>
            <a:off x="0" y="749808"/>
            <a:ext cx="9144000" cy="38405"/>
          </a:xfrm>
          <a:prstGeom prst="rect">
            <a:avLst/>
          </a:prstGeom>
          <a:solidFill>
            <a:srgbClr val="0D7680"/>
          </a:solidFill>
          <a:ln w="12700">
            <a:solidFill>
              <a:srgbClr val="0D7680"/>
            </a:solidFill>
            <a:prstDash val="solid"/>
          </a:ln>
        </p:spPr>
        <p:txBody>
          <a:bodyPr/>
          <a:lstStyle/>
          <a:p>
            <a:endParaRPr lang="fr-FR" noProof="0" dirty="0"/>
          </a:p>
        </p:txBody>
      </p:sp>
      <p:sp>
        <p:nvSpPr>
          <p:cNvPr id="4" name="Text 2"/>
          <p:cNvSpPr/>
          <p:nvPr/>
        </p:nvSpPr>
        <p:spPr>
          <a:xfrm>
            <a:off x="320040" y="0"/>
            <a:ext cx="8503920" cy="749808"/>
          </a:xfrm>
          <a:prstGeom prst="rect">
            <a:avLst/>
          </a:prstGeom>
          <a:noFill/>
          <a:ln/>
        </p:spPr>
        <p:txBody>
          <a:bodyPr wrap="square" lIns="0" tIns="0" rIns="0" bIns="0" rtlCol="0" anchor="ctr"/>
          <a:lstStyle/>
          <a:p>
            <a:pPr marL="0" indent="0">
              <a:buNone/>
            </a:pPr>
            <a:r>
              <a:rPr lang="fr-FR" sz="1650" b="1" noProof="0" dirty="0">
                <a:solidFill>
                  <a:schemeClr val="bg1"/>
                </a:solidFill>
              </a:rPr>
              <a:t>6  —  </a:t>
            </a:r>
            <a:r>
              <a:rPr lang="fr-FR" sz="1650" b="1" noProof="0" dirty="0">
                <a:solidFill>
                  <a:srgbClr val="FFFFFF"/>
                </a:solidFill>
              </a:rPr>
              <a:t>RÉALISATION — 7 CAS D'UTILISATION IMPLÉMENTÉS (4.3)</a:t>
            </a:r>
            <a:endParaRPr lang="fr-FR" sz="1650" noProof="0" dirty="0"/>
          </a:p>
        </p:txBody>
      </p:sp>
      <p:sp>
        <p:nvSpPr>
          <p:cNvPr id="5" name="Text 3"/>
          <p:cNvSpPr/>
          <p:nvPr/>
        </p:nvSpPr>
        <p:spPr>
          <a:xfrm>
            <a:off x="274320" y="877824"/>
            <a:ext cx="8595360" cy="329184"/>
          </a:xfrm>
          <a:prstGeom prst="rect">
            <a:avLst/>
          </a:prstGeom>
          <a:noFill/>
          <a:ln/>
        </p:spPr>
        <p:txBody>
          <a:bodyPr wrap="square" lIns="0" tIns="0" rIns="0" bIns="0" rtlCol="0" anchor="ctr"/>
          <a:lstStyle/>
          <a:p>
            <a:pPr marL="0" indent="0">
              <a:buNone/>
            </a:pPr>
            <a:r>
              <a:rPr lang="fr-FR" sz="1050" i="1" noProof="0" dirty="0">
                <a:solidFill>
                  <a:srgbClr val="64748B"/>
                </a:solidFill>
              </a:rPr>
              <a:t>Chaque cas fait l'objet d'une description technique : capture d'écran, extrait de code, bibliothèques, composants mobilisés — alignés sur les diagrammes UML du chapitre 3 (Tableau 16).</a:t>
            </a:r>
            <a:endParaRPr lang="fr-FR" sz="1050" noProof="0" dirty="0"/>
          </a:p>
        </p:txBody>
      </p:sp>
      <p:sp>
        <p:nvSpPr>
          <p:cNvPr id="6" name="Shape 4"/>
          <p:cNvSpPr/>
          <p:nvPr/>
        </p:nvSpPr>
        <p:spPr>
          <a:xfrm>
            <a:off x="274320" y="1298448"/>
            <a:ext cx="2045970" cy="1810512"/>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7" name="Shape 5"/>
          <p:cNvSpPr/>
          <p:nvPr/>
        </p:nvSpPr>
        <p:spPr>
          <a:xfrm>
            <a:off x="274320" y="1298448"/>
            <a:ext cx="2045970" cy="54864"/>
          </a:xfrm>
          <a:prstGeom prst="rect">
            <a:avLst/>
          </a:prstGeom>
          <a:solidFill>
            <a:srgbClr val="0D7680"/>
          </a:solidFill>
          <a:ln w="12700">
            <a:solidFill>
              <a:srgbClr val="0D7680"/>
            </a:solidFill>
            <a:prstDash val="solid"/>
          </a:ln>
        </p:spPr>
        <p:txBody>
          <a:bodyPr/>
          <a:lstStyle/>
          <a:p>
            <a:endParaRPr lang="fr-FR" noProof="0" dirty="0"/>
          </a:p>
        </p:txBody>
      </p:sp>
      <p:sp>
        <p:nvSpPr>
          <p:cNvPr id="8" name="Shape 6"/>
          <p:cNvSpPr/>
          <p:nvPr/>
        </p:nvSpPr>
        <p:spPr>
          <a:xfrm>
            <a:off x="1004697" y="1389888"/>
            <a:ext cx="585216" cy="585216"/>
          </a:xfrm>
          <a:prstGeom prst="ellipse">
            <a:avLst/>
          </a:prstGeom>
          <a:solidFill>
            <a:srgbClr val="1A2C56"/>
          </a:solidFill>
          <a:ln w="12700">
            <a:solidFill>
              <a:srgbClr val="1A2C56"/>
            </a:solidFill>
            <a:prstDash val="solid"/>
          </a:ln>
        </p:spPr>
        <p:txBody>
          <a:bodyPr/>
          <a:lstStyle/>
          <a:p>
            <a:endParaRPr lang="fr-FR" noProof="0" dirty="0"/>
          </a:p>
        </p:txBody>
      </p:sp>
      <p:sp>
        <p:nvSpPr>
          <p:cNvPr id="9" name="Text 7"/>
          <p:cNvSpPr/>
          <p:nvPr/>
        </p:nvSpPr>
        <p:spPr>
          <a:xfrm>
            <a:off x="1004697" y="1389888"/>
            <a:ext cx="585216" cy="585216"/>
          </a:xfrm>
          <a:prstGeom prst="rect">
            <a:avLst/>
          </a:prstGeom>
          <a:noFill/>
          <a:ln/>
        </p:spPr>
        <p:txBody>
          <a:bodyPr wrap="square" lIns="0" tIns="0" rIns="0" bIns="0" rtlCol="0" anchor="ctr"/>
          <a:lstStyle/>
          <a:p>
            <a:pPr marL="0" indent="0" algn="ctr">
              <a:buNone/>
            </a:pPr>
            <a:r>
              <a:rPr lang="fr-FR" sz="1500" b="1" noProof="0" dirty="0">
                <a:solidFill>
                  <a:srgbClr val="FFFFFF"/>
                </a:solidFill>
              </a:rPr>
              <a:t>1</a:t>
            </a:r>
            <a:endParaRPr lang="fr-FR" sz="1500" noProof="0" dirty="0"/>
          </a:p>
        </p:txBody>
      </p:sp>
      <p:sp>
        <p:nvSpPr>
          <p:cNvPr id="10" name="Text 8"/>
          <p:cNvSpPr/>
          <p:nvPr/>
        </p:nvSpPr>
        <p:spPr>
          <a:xfrm>
            <a:off x="274320" y="2011680"/>
            <a:ext cx="2045970" cy="219456"/>
          </a:xfrm>
          <a:prstGeom prst="rect">
            <a:avLst/>
          </a:prstGeom>
          <a:noFill/>
          <a:ln/>
        </p:spPr>
        <p:txBody>
          <a:bodyPr wrap="square" lIns="0" tIns="0" rIns="0" bIns="0" rtlCol="0" anchor="ctr"/>
          <a:lstStyle/>
          <a:p>
            <a:pPr marL="0" indent="0" algn="ctr">
              <a:buNone/>
            </a:pPr>
            <a:r>
              <a:rPr lang="fr-FR" sz="900" noProof="0" dirty="0">
                <a:solidFill>
                  <a:srgbClr val="16A899"/>
                </a:solidFill>
              </a:rPr>
              <a:t>4.3.1</a:t>
            </a:r>
            <a:endParaRPr lang="fr-FR" sz="900" noProof="0" dirty="0"/>
          </a:p>
        </p:txBody>
      </p:sp>
      <p:sp>
        <p:nvSpPr>
          <p:cNvPr id="11" name="Text 9"/>
          <p:cNvSpPr/>
          <p:nvPr/>
        </p:nvSpPr>
        <p:spPr>
          <a:xfrm>
            <a:off x="274320" y="2212848"/>
            <a:ext cx="2045970" cy="457200"/>
          </a:xfrm>
          <a:prstGeom prst="rect">
            <a:avLst/>
          </a:prstGeom>
          <a:noFill/>
          <a:ln/>
        </p:spPr>
        <p:txBody>
          <a:bodyPr wrap="square" lIns="25400" tIns="25400" rIns="25400" bIns="25400" rtlCol="0" anchor="ctr"/>
          <a:lstStyle/>
          <a:p>
            <a:pPr marL="0" indent="0" algn="ctr">
              <a:buNone/>
            </a:pPr>
            <a:r>
              <a:rPr lang="fr-FR" sz="1100" b="1" noProof="0" dirty="0">
                <a:solidFill>
                  <a:srgbClr val="1A2C56"/>
                </a:solidFill>
              </a:rPr>
              <a:t>Annuler une contribution</a:t>
            </a:r>
            <a:endParaRPr lang="fr-FR" sz="1100" noProof="0" dirty="0"/>
          </a:p>
        </p:txBody>
      </p:sp>
      <p:sp>
        <p:nvSpPr>
          <p:cNvPr id="12" name="Text 10"/>
          <p:cNvSpPr/>
          <p:nvPr/>
        </p:nvSpPr>
        <p:spPr>
          <a:xfrm>
            <a:off x="347472" y="2670048"/>
            <a:ext cx="1899666" cy="384048"/>
          </a:xfrm>
          <a:prstGeom prst="rect">
            <a:avLst/>
          </a:prstGeom>
          <a:noFill/>
          <a:ln/>
        </p:spPr>
        <p:txBody>
          <a:bodyPr wrap="square" lIns="25400" tIns="25400" rIns="25400" bIns="25400" rtlCol="0" anchor="ctr"/>
          <a:lstStyle/>
          <a:p>
            <a:pPr marL="0" indent="0" algn="l">
              <a:buNone/>
            </a:pPr>
            <a:r>
              <a:rPr lang="fr-FR" sz="1000" noProof="0" dirty="0">
                <a:solidFill>
                  <a:srgbClr val="64748B"/>
                </a:solidFill>
              </a:rPr>
              <a:t>Vérification état, remboursement conditionnel, mise à jour atomique.</a:t>
            </a:r>
            <a:endParaRPr lang="fr-FR" sz="1000" noProof="0" dirty="0"/>
          </a:p>
        </p:txBody>
      </p:sp>
      <p:sp>
        <p:nvSpPr>
          <p:cNvPr id="13" name="Shape 11"/>
          <p:cNvSpPr/>
          <p:nvPr/>
        </p:nvSpPr>
        <p:spPr>
          <a:xfrm>
            <a:off x="2457450" y="1298448"/>
            <a:ext cx="2045970" cy="1810512"/>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4" name="Shape 12"/>
          <p:cNvSpPr/>
          <p:nvPr/>
        </p:nvSpPr>
        <p:spPr>
          <a:xfrm>
            <a:off x="2457450" y="1298448"/>
            <a:ext cx="2045970" cy="54864"/>
          </a:xfrm>
          <a:prstGeom prst="rect">
            <a:avLst/>
          </a:prstGeom>
          <a:solidFill>
            <a:srgbClr val="0D7680"/>
          </a:solidFill>
          <a:ln w="12700">
            <a:solidFill>
              <a:srgbClr val="0D7680"/>
            </a:solidFill>
            <a:prstDash val="solid"/>
          </a:ln>
        </p:spPr>
        <p:txBody>
          <a:bodyPr/>
          <a:lstStyle/>
          <a:p>
            <a:endParaRPr lang="fr-FR" noProof="0" dirty="0"/>
          </a:p>
        </p:txBody>
      </p:sp>
      <p:sp>
        <p:nvSpPr>
          <p:cNvPr id="15" name="Shape 13"/>
          <p:cNvSpPr/>
          <p:nvPr/>
        </p:nvSpPr>
        <p:spPr>
          <a:xfrm>
            <a:off x="3187827" y="1389888"/>
            <a:ext cx="585216" cy="585216"/>
          </a:xfrm>
          <a:prstGeom prst="ellipse">
            <a:avLst/>
          </a:prstGeom>
          <a:solidFill>
            <a:srgbClr val="1A2C56"/>
          </a:solidFill>
          <a:ln w="12700">
            <a:solidFill>
              <a:srgbClr val="1A2C56"/>
            </a:solidFill>
            <a:prstDash val="solid"/>
          </a:ln>
        </p:spPr>
        <p:txBody>
          <a:bodyPr/>
          <a:lstStyle/>
          <a:p>
            <a:endParaRPr lang="fr-FR" noProof="0" dirty="0"/>
          </a:p>
        </p:txBody>
      </p:sp>
      <p:sp>
        <p:nvSpPr>
          <p:cNvPr id="16" name="Text 14"/>
          <p:cNvSpPr/>
          <p:nvPr/>
        </p:nvSpPr>
        <p:spPr>
          <a:xfrm>
            <a:off x="3187827" y="1389888"/>
            <a:ext cx="585216" cy="585216"/>
          </a:xfrm>
          <a:prstGeom prst="rect">
            <a:avLst/>
          </a:prstGeom>
          <a:noFill/>
          <a:ln/>
        </p:spPr>
        <p:txBody>
          <a:bodyPr wrap="square" lIns="0" tIns="0" rIns="0" bIns="0" rtlCol="0" anchor="ctr"/>
          <a:lstStyle/>
          <a:p>
            <a:pPr marL="0" indent="0" algn="ctr">
              <a:buNone/>
            </a:pPr>
            <a:r>
              <a:rPr lang="fr-FR" sz="1500" b="1" noProof="0" dirty="0">
                <a:solidFill>
                  <a:srgbClr val="FFFFFF"/>
                </a:solidFill>
              </a:rPr>
              <a:t>2</a:t>
            </a:r>
            <a:endParaRPr lang="fr-FR" sz="1500" noProof="0" dirty="0"/>
          </a:p>
        </p:txBody>
      </p:sp>
      <p:sp>
        <p:nvSpPr>
          <p:cNvPr id="17" name="Text 15"/>
          <p:cNvSpPr/>
          <p:nvPr/>
        </p:nvSpPr>
        <p:spPr>
          <a:xfrm>
            <a:off x="2457450" y="2011680"/>
            <a:ext cx="2045970" cy="219456"/>
          </a:xfrm>
          <a:prstGeom prst="rect">
            <a:avLst/>
          </a:prstGeom>
          <a:noFill/>
          <a:ln/>
        </p:spPr>
        <p:txBody>
          <a:bodyPr wrap="square" lIns="0" tIns="0" rIns="0" bIns="0" rtlCol="0" anchor="ctr"/>
          <a:lstStyle/>
          <a:p>
            <a:pPr marL="0" indent="0" algn="ctr">
              <a:buNone/>
            </a:pPr>
            <a:r>
              <a:rPr lang="fr-FR" sz="900" noProof="0" dirty="0">
                <a:solidFill>
                  <a:srgbClr val="16A899"/>
                </a:solidFill>
              </a:rPr>
              <a:t>4.3.2</a:t>
            </a:r>
            <a:endParaRPr lang="fr-FR" sz="900" noProof="0" dirty="0"/>
          </a:p>
        </p:txBody>
      </p:sp>
      <p:sp>
        <p:nvSpPr>
          <p:cNvPr id="18" name="Text 16"/>
          <p:cNvSpPr/>
          <p:nvPr/>
        </p:nvSpPr>
        <p:spPr>
          <a:xfrm>
            <a:off x="2457450" y="2212848"/>
            <a:ext cx="2045970" cy="457200"/>
          </a:xfrm>
          <a:prstGeom prst="rect">
            <a:avLst/>
          </a:prstGeom>
          <a:noFill/>
          <a:ln/>
        </p:spPr>
        <p:txBody>
          <a:bodyPr wrap="square" lIns="25400" tIns="25400" rIns="25400" bIns="25400" rtlCol="0" anchor="ctr"/>
          <a:lstStyle/>
          <a:p>
            <a:pPr marL="0" indent="0" algn="ctr">
              <a:buNone/>
            </a:pPr>
            <a:r>
              <a:rPr lang="fr-FR" sz="1100" b="1" noProof="0" dirty="0">
                <a:solidFill>
                  <a:srgbClr val="1A2C56"/>
                </a:solidFill>
              </a:rPr>
              <a:t>Créer &amp; soumettre un projet (IA</a:t>
            </a:r>
            <a:r>
              <a:rPr lang="fr-FR" sz="950" b="1" noProof="0" dirty="0">
                <a:solidFill>
                  <a:srgbClr val="1A2C56"/>
                </a:solidFill>
              </a:rPr>
              <a:t>)</a:t>
            </a:r>
            <a:endParaRPr lang="fr-FR" sz="950" noProof="0" dirty="0"/>
          </a:p>
        </p:txBody>
      </p:sp>
      <p:sp>
        <p:nvSpPr>
          <p:cNvPr id="19" name="Text 17"/>
          <p:cNvSpPr/>
          <p:nvPr/>
        </p:nvSpPr>
        <p:spPr>
          <a:xfrm>
            <a:off x="2530602" y="2670048"/>
            <a:ext cx="1899666" cy="384048"/>
          </a:xfrm>
          <a:prstGeom prst="rect">
            <a:avLst/>
          </a:prstGeom>
          <a:noFill/>
          <a:ln/>
        </p:spPr>
        <p:txBody>
          <a:bodyPr wrap="square" lIns="25400" tIns="25400" rIns="25400" bIns="25400" rtlCol="0" anchor="ctr"/>
          <a:lstStyle/>
          <a:p>
            <a:pPr marL="0" indent="0" algn="l">
              <a:buNone/>
            </a:pPr>
            <a:r>
              <a:rPr lang="fr-FR" sz="1000" noProof="0" dirty="0">
                <a:solidFill>
                  <a:srgbClr val="64748B"/>
                </a:solidFill>
              </a:rPr>
              <a:t>DRAFT → AWAITING_AI → rapport Gemini via n8n/</a:t>
            </a:r>
            <a:r>
              <a:rPr lang="fr-FR" sz="1000" noProof="0" dirty="0" err="1">
                <a:solidFill>
                  <a:srgbClr val="64748B"/>
                </a:solidFill>
              </a:rPr>
              <a:t>BullMQ</a:t>
            </a:r>
            <a:r>
              <a:rPr lang="fr-FR" sz="1000" noProof="0" dirty="0">
                <a:solidFill>
                  <a:srgbClr val="64748B"/>
                </a:solidFill>
              </a:rPr>
              <a:t>, repli déterministe.</a:t>
            </a:r>
            <a:endParaRPr lang="fr-FR" sz="1000" noProof="0" dirty="0"/>
          </a:p>
        </p:txBody>
      </p:sp>
      <p:sp>
        <p:nvSpPr>
          <p:cNvPr id="20" name="Shape 18"/>
          <p:cNvSpPr/>
          <p:nvPr/>
        </p:nvSpPr>
        <p:spPr>
          <a:xfrm>
            <a:off x="4640580" y="1298448"/>
            <a:ext cx="2045970" cy="1810512"/>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1" name="Shape 19"/>
          <p:cNvSpPr/>
          <p:nvPr/>
        </p:nvSpPr>
        <p:spPr>
          <a:xfrm>
            <a:off x="4640580" y="1298448"/>
            <a:ext cx="2045970" cy="54864"/>
          </a:xfrm>
          <a:prstGeom prst="rect">
            <a:avLst/>
          </a:prstGeom>
          <a:solidFill>
            <a:srgbClr val="0D7680"/>
          </a:solidFill>
          <a:ln w="12700">
            <a:solidFill>
              <a:srgbClr val="0D7680"/>
            </a:solidFill>
            <a:prstDash val="solid"/>
          </a:ln>
        </p:spPr>
        <p:txBody>
          <a:bodyPr/>
          <a:lstStyle/>
          <a:p>
            <a:endParaRPr lang="fr-FR" noProof="0" dirty="0"/>
          </a:p>
        </p:txBody>
      </p:sp>
      <p:sp>
        <p:nvSpPr>
          <p:cNvPr id="22" name="Shape 20"/>
          <p:cNvSpPr/>
          <p:nvPr/>
        </p:nvSpPr>
        <p:spPr>
          <a:xfrm>
            <a:off x="5370957" y="1389888"/>
            <a:ext cx="585216" cy="585216"/>
          </a:xfrm>
          <a:prstGeom prst="ellipse">
            <a:avLst/>
          </a:prstGeom>
          <a:solidFill>
            <a:srgbClr val="1A2C56"/>
          </a:solidFill>
          <a:ln w="12700">
            <a:solidFill>
              <a:srgbClr val="1A2C56"/>
            </a:solidFill>
            <a:prstDash val="solid"/>
          </a:ln>
        </p:spPr>
        <p:txBody>
          <a:bodyPr/>
          <a:lstStyle/>
          <a:p>
            <a:endParaRPr lang="fr-FR" noProof="0" dirty="0"/>
          </a:p>
        </p:txBody>
      </p:sp>
      <p:sp>
        <p:nvSpPr>
          <p:cNvPr id="23" name="Text 21"/>
          <p:cNvSpPr/>
          <p:nvPr/>
        </p:nvSpPr>
        <p:spPr>
          <a:xfrm>
            <a:off x="5370957" y="1389888"/>
            <a:ext cx="585216" cy="585216"/>
          </a:xfrm>
          <a:prstGeom prst="rect">
            <a:avLst/>
          </a:prstGeom>
          <a:noFill/>
          <a:ln/>
        </p:spPr>
        <p:txBody>
          <a:bodyPr wrap="square" lIns="0" tIns="0" rIns="0" bIns="0" rtlCol="0" anchor="ctr"/>
          <a:lstStyle/>
          <a:p>
            <a:pPr marL="0" indent="0" algn="ctr">
              <a:buNone/>
            </a:pPr>
            <a:r>
              <a:rPr lang="fr-FR" sz="1500" b="1" noProof="0" dirty="0">
                <a:solidFill>
                  <a:srgbClr val="FFFFFF"/>
                </a:solidFill>
              </a:rPr>
              <a:t>3</a:t>
            </a:r>
            <a:endParaRPr lang="fr-FR" sz="1500" noProof="0" dirty="0"/>
          </a:p>
        </p:txBody>
      </p:sp>
      <p:sp>
        <p:nvSpPr>
          <p:cNvPr id="24" name="Text 22"/>
          <p:cNvSpPr/>
          <p:nvPr/>
        </p:nvSpPr>
        <p:spPr>
          <a:xfrm>
            <a:off x="4640580" y="2011680"/>
            <a:ext cx="2045970" cy="219456"/>
          </a:xfrm>
          <a:prstGeom prst="rect">
            <a:avLst/>
          </a:prstGeom>
          <a:noFill/>
          <a:ln/>
        </p:spPr>
        <p:txBody>
          <a:bodyPr wrap="square" lIns="0" tIns="0" rIns="0" bIns="0" rtlCol="0" anchor="ctr"/>
          <a:lstStyle/>
          <a:p>
            <a:pPr marL="0" indent="0" algn="ctr">
              <a:buNone/>
            </a:pPr>
            <a:r>
              <a:rPr lang="fr-FR" sz="900" noProof="0" dirty="0">
                <a:solidFill>
                  <a:srgbClr val="16A899"/>
                </a:solidFill>
              </a:rPr>
              <a:t>4.3.3</a:t>
            </a:r>
            <a:endParaRPr lang="fr-FR" sz="900" noProof="0" dirty="0"/>
          </a:p>
        </p:txBody>
      </p:sp>
      <p:sp>
        <p:nvSpPr>
          <p:cNvPr id="25" name="Text 23"/>
          <p:cNvSpPr/>
          <p:nvPr/>
        </p:nvSpPr>
        <p:spPr>
          <a:xfrm>
            <a:off x="4640580" y="2212848"/>
            <a:ext cx="2045970" cy="457200"/>
          </a:xfrm>
          <a:prstGeom prst="rect">
            <a:avLst/>
          </a:prstGeom>
          <a:noFill/>
          <a:ln/>
        </p:spPr>
        <p:txBody>
          <a:bodyPr wrap="square" lIns="25400" tIns="25400" rIns="25400" bIns="25400" rtlCol="0" anchor="ctr"/>
          <a:lstStyle/>
          <a:p>
            <a:pPr marL="0" indent="0" algn="ctr">
              <a:buNone/>
            </a:pPr>
            <a:r>
              <a:rPr lang="fr-FR" sz="1100" b="1" noProof="0" dirty="0">
                <a:solidFill>
                  <a:srgbClr val="1A2C56"/>
                </a:solidFill>
              </a:rPr>
              <a:t>Investir (paiement simulé)</a:t>
            </a:r>
            <a:endParaRPr lang="fr-FR" sz="1100" noProof="0" dirty="0"/>
          </a:p>
        </p:txBody>
      </p:sp>
      <p:sp>
        <p:nvSpPr>
          <p:cNvPr id="26" name="Text 24"/>
          <p:cNvSpPr/>
          <p:nvPr/>
        </p:nvSpPr>
        <p:spPr>
          <a:xfrm>
            <a:off x="4713732" y="2670048"/>
            <a:ext cx="1899666" cy="384048"/>
          </a:xfrm>
          <a:prstGeom prst="rect">
            <a:avLst/>
          </a:prstGeom>
          <a:noFill/>
          <a:ln/>
        </p:spPr>
        <p:txBody>
          <a:bodyPr wrap="square" lIns="25400" tIns="25400" rIns="25400" bIns="25400" rtlCol="0" anchor="ctr"/>
          <a:lstStyle/>
          <a:p>
            <a:pPr marL="0" indent="0" algn="l">
              <a:buNone/>
            </a:pPr>
            <a:r>
              <a:rPr lang="fr-FR" sz="1000" noProof="0" dirty="0" err="1">
                <a:solidFill>
                  <a:srgbClr val="64748B"/>
                </a:solidFill>
              </a:rPr>
              <a:t>Webhook</a:t>
            </a:r>
            <a:r>
              <a:rPr lang="fr-FR" sz="1000" noProof="0" dirty="0">
                <a:solidFill>
                  <a:srgbClr val="64748B"/>
                </a:solidFill>
              </a:rPr>
              <a:t> HMAC, idempotence (index unique), anti-sur-financement atomique.</a:t>
            </a:r>
            <a:endParaRPr lang="fr-FR" sz="1000" noProof="0" dirty="0"/>
          </a:p>
        </p:txBody>
      </p:sp>
      <p:sp>
        <p:nvSpPr>
          <p:cNvPr id="27" name="Shape 25"/>
          <p:cNvSpPr/>
          <p:nvPr/>
        </p:nvSpPr>
        <p:spPr>
          <a:xfrm>
            <a:off x="6823710" y="1298448"/>
            <a:ext cx="2045970" cy="1810512"/>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28" name="Shape 26"/>
          <p:cNvSpPr/>
          <p:nvPr/>
        </p:nvSpPr>
        <p:spPr>
          <a:xfrm>
            <a:off x="6823710" y="1298448"/>
            <a:ext cx="2045970" cy="54864"/>
          </a:xfrm>
          <a:prstGeom prst="rect">
            <a:avLst/>
          </a:prstGeom>
          <a:solidFill>
            <a:srgbClr val="0D7680"/>
          </a:solidFill>
          <a:ln w="12700">
            <a:solidFill>
              <a:srgbClr val="0D7680"/>
            </a:solidFill>
            <a:prstDash val="solid"/>
          </a:ln>
        </p:spPr>
        <p:txBody>
          <a:bodyPr/>
          <a:lstStyle/>
          <a:p>
            <a:endParaRPr lang="fr-FR" noProof="0" dirty="0"/>
          </a:p>
        </p:txBody>
      </p:sp>
      <p:sp>
        <p:nvSpPr>
          <p:cNvPr id="29" name="Shape 27"/>
          <p:cNvSpPr/>
          <p:nvPr/>
        </p:nvSpPr>
        <p:spPr>
          <a:xfrm>
            <a:off x="7554087" y="1389888"/>
            <a:ext cx="585216" cy="585216"/>
          </a:xfrm>
          <a:prstGeom prst="ellipse">
            <a:avLst/>
          </a:prstGeom>
          <a:solidFill>
            <a:srgbClr val="1A2C56"/>
          </a:solidFill>
          <a:ln w="12700">
            <a:solidFill>
              <a:srgbClr val="1A2C56"/>
            </a:solidFill>
            <a:prstDash val="solid"/>
          </a:ln>
        </p:spPr>
        <p:txBody>
          <a:bodyPr/>
          <a:lstStyle/>
          <a:p>
            <a:endParaRPr lang="fr-FR" noProof="0" dirty="0"/>
          </a:p>
        </p:txBody>
      </p:sp>
      <p:sp>
        <p:nvSpPr>
          <p:cNvPr id="30" name="Text 28"/>
          <p:cNvSpPr/>
          <p:nvPr/>
        </p:nvSpPr>
        <p:spPr>
          <a:xfrm>
            <a:off x="7554087" y="1389888"/>
            <a:ext cx="585216" cy="585216"/>
          </a:xfrm>
          <a:prstGeom prst="rect">
            <a:avLst/>
          </a:prstGeom>
          <a:noFill/>
          <a:ln/>
        </p:spPr>
        <p:txBody>
          <a:bodyPr wrap="square" lIns="0" tIns="0" rIns="0" bIns="0" rtlCol="0" anchor="ctr"/>
          <a:lstStyle/>
          <a:p>
            <a:pPr marL="0" indent="0" algn="ctr">
              <a:buNone/>
            </a:pPr>
            <a:r>
              <a:rPr lang="fr-FR" sz="1500" b="1" noProof="0" dirty="0">
                <a:solidFill>
                  <a:srgbClr val="FFFFFF"/>
                </a:solidFill>
              </a:rPr>
              <a:t>4</a:t>
            </a:r>
            <a:endParaRPr lang="fr-FR" sz="1500" noProof="0" dirty="0"/>
          </a:p>
        </p:txBody>
      </p:sp>
      <p:sp>
        <p:nvSpPr>
          <p:cNvPr id="31" name="Text 29"/>
          <p:cNvSpPr/>
          <p:nvPr/>
        </p:nvSpPr>
        <p:spPr>
          <a:xfrm>
            <a:off x="6823710" y="2011680"/>
            <a:ext cx="2045970" cy="219456"/>
          </a:xfrm>
          <a:prstGeom prst="rect">
            <a:avLst/>
          </a:prstGeom>
          <a:noFill/>
          <a:ln/>
        </p:spPr>
        <p:txBody>
          <a:bodyPr wrap="square" lIns="0" tIns="0" rIns="0" bIns="0" rtlCol="0" anchor="ctr"/>
          <a:lstStyle/>
          <a:p>
            <a:pPr marL="0" indent="0" algn="ctr">
              <a:buNone/>
            </a:pPr>
            <a:r>
              <a:rPr lang="fr-FR" sz="900" noProof="0" dirty="0">
                <a:solidFill>
                  <a:srgbClr val="16A899"/>
                </a:solidFill>
              </a:rPr>
              <a:t>4.3.4</a:t>
            </a:r>
            <a:endParaRPr lang="fr-FR" sz="900" noProof="0" dirty="0"/>
          </a:p>
        </p:txBody>
      </p:sp>
      <p:sp>
        <p:nvSpPr>
          <p:cNvPr id="32" name="Text 30"/>
          <p:cNvSpPr/>
          <p:nvPr/>
        </p:nvSpPr>
        <p:spPr>
          <a:xfrm>
            <a:off x="6823710" y="2212848"/>
            <a:ext cx="2045970" cy="457200"/>
          </a:xfrm>
          <a:prstGeom prst="rect">
            <a:avLst/>
          </a:prstGeom>
          <a:noFill/>
          <a:ln/>
        </p:spPr>
        <p:txBody>
          <a:bodyPr wrap="square" lIns="25400" tIns="25400" rIns="25400" bIns="25400" rtlCol="0" anchor="ctr"/>
          <a:lstStyle/>
          <a:p>
            <a:pPr marL="0" indent="0" algn="ctr">
              <a:buNone/>
            </a:pPr>
            <a:r>
              <a:rPr lang="fr-FR" sz="1100" b="1" noProof="0" dirty="0">
                <a:solidFill>
                  <a:srgbClr val="1A2C56"/>
                </a:solidFill>
              </a:rPr>
              <a:t>Valider / rejeter (Expert &amp; Admin)</a:t>
            </a:r>
            <a:endParaRPr lang="fr-FR" sz="1100" noProof="0" dirty="0"/>
          </a:p>
        </p:txBody>
      </p:sp>
      <p:sp>
        <p:nvSpPr>
          <p:cNvPr id="33" name="Text 31"/>
          <p:cNvSpPr/>
          <p:nvPr/>
        </p:nvSpPr>
        <p:spPr>
          <a:xfrm>
            <a:off x="6896862" y="2640386"/>
            <a:ext cx="1899666" cy="384048"/>
          </a:xfrm>
          <a:prstGeom prst="rect">
            <a:avLst/>
          </a:prstGeom>
          <a:noFill/>
          <a:ln/>
        </p:spPr>
        <p:txBody>
          <a:bodyPr wrap="square" lIns="25400" tIns="25400" rIns="25400" bIns="25400" rtlCol="0" anchor="ctr"/>
          <a:lstStyle/>
          <a:p>
            <a:pPr marL="0" indent="0" algn="l">
              <a:buNone/>
            </a:pPr>
            <a:r>
              <a:rPr lang="fr-FR" sz="1000" noProof="0" dirty="0">
                <a:solidFill>
                  <a:srgbClr val="64748B"/>
                </a:solidFill>
              </a:rPr>
              <a:t>UNDER_REVIEW → APPROVED (expert) → ACTIVE (admin) + notification porteur.</a:t>
            </a:r>
            <a:endParaRPr lang="fr-FR" sz="1000" noProof="0" dirty="0"/>
          </a:p>
        </p:txBody>
      </p:sp>
      <p:sp>
        <p:nvSpPr>
          <p:cNvPr id="34" name="Shape 32"/>
          <p:cNvSpPr/>
          <p:nvPr/>
        </p:nvSpPr>
        <p:spPr>
          <a:xfrm>
            <a:off x="274320" y="3218688"/>
            <a:ext cx="2773680" cy="1810512"/>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35" name="Shape 33"/>
          <p:cNvSpPr/>
          <p:nvPr/>
        </p:nvSpPr>
        <p:spPr>
          <a:xfrm>
            <a:off x="274320" y="3218688"/>
            <a:ext cx="2773680" cy="54864"/>
          </a:xfrm>
          <a:prstGeom prst="rect">
            <a:avLst/>
          </a:prstGeom>
          <a:solidFill>
            <a:srgbClr val="0D7680"/>
          </a:solidFill>
          <a:ln w="12700">
            <a:solidFill>
              <a:srgbClr val="0D7680"/>
            </a:solidFill>
            <a:prstDash val="solid"/>
          </a:ln>
        </p:spPr>
        <p:txBody>
          <a:bodyPr/>
          <a:lstStyle/>
          <a:p>
            <a:endParaRPr lang="fr-FR" noProof="0" dirty="0"/>
          </a:p>
        </p:txBody>
      </p:sp>
      <p:sp>
        <p:nvSpPr>
          <p:cNvPr id="36" name="Shape 34"/>
          <p:cNvSpPr/>
          <p:nvPr/>
        </p:nvSpPr>
        <p:spPr>
          <a:xfrm>
            <a:off x="1368552" y="3310128"/>
            <a:ext cx="585216" cy="585216"/>
          </a:xfrm>
          <a:prstGeom prst="ellipse">
            <a:avLst/>
          </a:prstGeom>
          <a:solidFill>
            <a:srgbClr val="1A2C56"/>
          </a:solidFill>
          <a:ln w="12700">
            <a:solidFill>
              <a:srgbClr val="1A2C56"/>
            </a:solidFill>
            <a:prstDash val="solid"/>
          </a:ln>
        </p:spPr>
        <p:txBody>
          <a:bodyPr/>
          <a:lstStyle/>
          <a:p>
            <a:endParaRPr lang="fr-FR" noProof="0" dirty="0"/>
          </a:p>
        </p:txBody>
      </p:sp>
      <p:sp>
        <p:nvSpPr>
          <p:cNvPr id="37" name="Text 35"/>
          <p:cNvSpPr/>
          <p:nvPr/>
        </p:nvSpPr>
        <p:spPr>
          <a:xfrm>
            <a:off x="1368552" y="3310128"/>
            <a:ext cx="585216" cy="585216"/>
          </a:xfrm>
          <a:prstGeom prst="rect">
            <a:avLst/>
          </a:prstGeom>
          <a:noFill/>
          <a:ln/>
        </p:spPr>
        <p:txBody>
          <a:bodyPr wrap="square" lIns="0" tIns="0" rIns="0" bIns="0" rtlCol="0" anchor="ctr"/>
          <a:lstStyle/>
          <a:p>
            <a:pPr marL="0" indent="0" algn="ctr">
              <a:buNone/>
            </a:pPr>
            <a:r>
              <a:rPr lang="fr-FR" sz="1500" b="1" noProof="0" dirty="0">
                <a:solidFill>
                  <a:srgbClr val="FFFFFF"/>
                </a:solidFill>
              </a:rPr>
              <a:t>5</a:t>
            </a:r>
            <a:endParaRPr lang="fr-FR" sz="1500" noProof="0" dirty="0"/>
          </a:p>
        </p:txBody>
      </p:sp>
      <p:sp>
        <p:nvSpPr>
          <p:cNvPr id="38" name="Text 36"/>
          <p:cNvSpPr/>
          <p:nvPr/>
        </p:nvSpPr>
        <p:spPr>
          <a:xfrm>
            <a:off x="274320" y="3931920"/>
            <a:ext cx="2773680" cy="219456"/>
          </a:xfrm>
          <a:prstGeom prst="rect">
            <a:avLst/>
          </a:prstGeom>
          <a:noFill/>
          <a:ln/>
        </p:spPr>
        <p:txBody>
          <a:bodyPr wrap="square" lIns="0" tIns="0" rIns="0" bIns="0" rtlCol="0" anchor="ctr"/>
          <a:lstStyle/>
          <a:p>
            <a:pPr marL="0" indent="0" algn="ctr">
              <a:buNone/>
            </a:pPr>
            <a:r>
              <a:rPr lang="fr-FR" sz="900" noProof="0" dirty="0">
                <a:solidFill>
                  <a:srgbClr val="16A899"/>
                </a:solidFill>
              </a:rPr>
              <a:t>4.3.5</a:t>
            </a:r>
            <a:endParaRPr lang="fr-FR" sz="900" noProof="0" dirty="0"/>
          </a:p>
        </p:txBody>
      </p:sp>
      <p:sp>
        <p:nvSpPr>
          <p:cNvPr id="39" name="Text 37"/>
          <p:cNvSpPr/>
          <p:nvPr/>
        </p:nvSpPr>
        <p:spPr>
          <a:xfrm>
            <a:off x="274320" y="4133088"/>
            <a:ext cx="2773680" cy="457200"/>
          </a:xfrm>
          <a:prstGeom prst="rect">
            <a:avLst/>
          </a:prstGeom>
          <a:noFill/>
          <a:ln/>
        </p:spPr>
        <p:txBody>
          <a:bodyPr wrap="square" lIns="25400" tIns="25400" rIns="25400" bIns="25400" rtlCol="0" anchor="ctr"/>
          <a:lstStyle/>
          <a:p>
            <a:pPr marL="0" indent="0" algn="ctr">
              <a:buNone/>
            </a:pPr>
            <a:r>
              <a:rPr lang="fr-FR" sz="1100" b="1" noProof="0" dirty="0">
                <a:solidFill>
                  <a:srgbClr val="1A2C56"/>
                </a:solidFill>
              </a:rPr>
              <a:t>Coordonnées bancaires &amp; retrait</a:t>
            </a:r>
            <a:endParaRPr lang="fr-FR" sz="1100" noProof="0" dirty="0"/>
          </a:p>
        </p:txBody>
      </p:sp>
      <p:sp>
        <p:nvSpPr>
          <p:cNvPr id="40" name="Text 38"/>
          <p:cNvSpPr/>
          <p:nvPr/>
        </p:nvSpPr>
        <p:spPr>
          <a:xfrm>
            <a:off x="347472" y="4590288"/>
            <a:ext cx="2627376" cy="384048"/>
          </a:xfrm>
          <a:prstGeom prst="rect">
            <a:avLst/>
          </a:prstGeom>
          <a:noFill/>
          <a:ln/>
        </p:spPr>
        <p:txBody>
          <a:bodyPr wrap="square" lIns="25400" tIns="25400" rIns="25400" bIns="25400" rtlCol="0" anchor="ctr"/>
          <a:lstStyle/>
          <a:p>
            <a:pPr marL="0" indent="0" algn="l">
              <a:buNone/>
            </a:pPr>
            <a:r>
              <a:rPr lang="fr-FR" sz="1000" noProof="0" dirty="0">
                <a:solidFill>
                  <a:srgbClr val="64748B"/>
                </a:solidFill>
              </a:rPr>
              <a:t>Saisie chiffrée AES-256-GCM, génération facture PDF (INVESTMENT + PAYOUT).</a:t>
            </a:r>
            <a:endParaRPr lang="fr-FR" sz="1000" noProof="0" dirty="0"/>
          </a:p>
        </p:txBody>
      </p:sp>
      <p:sp>
        <p:nvSpPr>
          <p:cNvPr id="41" name="Shape 39"/>
          <p:cNvSpPr/>
          <p:nvPr/>
        </p:nvSpPr>
        <p:spPr>
          <a:xfrm>
            <a:off x="3185160" y="3218688"/>
            <a:ext cx="2773680" cy="1810512"/>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42" name="Shape 40"/>
          <p:cNvSpPr/>
          <p:nvPr/>
        </p:nvSpPr>
        <p:spPr>
          <a:xfrm>
            <a:off x="3185160" y="3218688"/>
            <a:ext cx="2773680" cy="54864"/>
          </a:xfrm>
          <a:prstGeom prst="rect">
            <a:avLst/>
          </a:prstGeom>
          <a:solidFill>
            <a:srgbClr val="0D7680"/>
          </a:solidFill>
          <a:ln w="12700">
            <a:solidFill>
              <a:srgbClr val="0D7680"/>
            </a:solidFill>
            <a:prstDash val="solid"/>
          </a:ln>
        </p:spPr>
        <p:txBody>
          <a:bodyPr/>
          <a:lstStyle/>
          <a:p>
            <a:endParaRPr lang="fr-FR" noProof="0" dirty="0"/>
          </a:p>
        </p:txBody>
      </p:sp>
      <p:sp>
        <p:nvSpPr>
          <p:cNvPr id="43" name="Shape 41"/>
          <p:cNvSpPr/>
          <p:nvPr/>
        </p:nvSpPr>
        <p:spPr>
          <a:xfrm>
            <a:off x="4279392" y="3310128"/>
            <a:ext cx="585216" cy="585216"/>
          </a:xfrm>
          <a:prstGeom prst="ellipse">
            <a:avLst/>
          </a:prstGeom>
          <a:solidFill>
            <a:srgbClr val="1A2C56"/>
          </a:solidFill>
          <a:ln w="12700">
            <a:solidFill>
              <a:srgbClr val="1A2C56"/>
            </a:solidFill>
            <a:prstDash val="solid"/>
          </a:ln>
        </p:spPr>
        <p:txBody>
          <a:bodyPr/>
          <a:lstStyle/>
          <a:p>
            <a:endParaRPr lang="fr-FR" noProof="0" dirty="0"/>
          </a:p>
        </p:txBody>
      </p:sp>
      <p:sp>
        <p:nvSpPr>
          <p:cNvPr id="44" name="Text 42"/>
          <p:cNvSpPr/>
          <p:nvPr/>
        </p:nvSpPr>
        <p:spPr>
          <a:xfrm>
            <a:off x="4279392" y="3310128"/>
            <a:ext cx="585216" cy="585216"/>
          </a:xfrm>
          <a:prstGeom prst="rect">
            <a:avLst/>
          </a:prstGeom>
          <a:noFill/>
          <a:ln/>
        </p:spPr>
        <p:txBody>
          <a:bodyPr wrap="square" lIns="0" tIns="0" rIns="0" bIns="0" rtlCol="0" anchor="ctr"/>
          <a:lstStyle/>
          <a:p>
            <a:pPr marL="0" indent="0" algn="ctr">
              <a:buNone/>
            </a:pPr>
            <a:r>
              <a:rPr lang="fr-FR" sz="1500" b="1" noProof="0" dirty="0">
                <a:solidFill>
                  <a:srgbClr val="FFFFFF"/>
                </a:solidFill>
              </a:rPr>
              <a:t>6</a:t>
            </a:r>
            <a:endParaRPr lang="fr-FR" sz="1500" noProof="0" dirty="0"/>
          </a:p>
        </p:txBody>
      </p:sp>
      <p:sp>
        <p:nvSpPr>
          <p:cNvPr id="45" name="Text 43"/>
          <p:cNvSpPr/>
          <p:nvPr/>
        </p:nvSpPr>
        <p:spPr>
          <a:xfrm>
            <a:off x="3185160" y="3931920"/>
            <a:ext cx="2773680" cy="219456"/>
          </a:xfrm>
          <a:prstGeom prst="rect">
            <a:avLst/>
          </a:prstGeom>
          <a:noFill/>
          <a:ln/>
        </p:spPr>
        <p:txBody>
          <a:bodyPr wrap="square" lIns="0" tIns="0" rIns="0" bIns="0" rtlCol="0" anchor="ctr"/>
          <a:lstStyle/>
          <a:p>
            <a:pPr marL="0" indent="0" algn="ctr">
              <a:buNone/>
            </a:pPr>
            <a:r>
              <a:rPr lang="fr-FR" sz="900" noProof="0" dirty="0">
                <a:solidFill>
                  <a:srgbClr val="16A899"/>
                </a:solidFill>
              </a:rPr>
              <a:t>4.3.6</a:t>
            </a:r>
            <a:endParaRPr lang="fr-FR" sz="900" noProof="0" dirty="0"/>
          </a:p>
        </p:txBody>
      </p:sp>
      <p:sp>
        <p:nvSpPr>
          <p:cNvPr id="46" name="Text 44"/>
          <p:cNvSpPr/>
          <p:nvPr/>
        </p:nvSpPr>
        <p:spPr>
          <a:xfrm>
            <a:off x="3185160" y="4133088"/>
            <a:ext cx="2773680" cy="457200"/>
          </a:xfrm>
          <a:prstGeom prst="rect">
            <a:avLst/>
          </a:prstGeom>
          <a:noFill/>
          <a:ln/>
        </p:spPr>
        <p:txBody>
          <a:bodyPr wrap="square" lIns="25400" tIns="25400" rIns="25400" bIns="25400" rtlCol="0" anchor="ctr"/>
          <a:lstStyle/>
          <a:p>
            <a:pPr marL="0" indent="0" algn="ctr">
              <a:buNone/>
            </a:pPr>
            <a:r>
              <a:rPr lang="fr-FR" sz="1100" b="1" noProof="0" dirty="0">
                <a:solidFill>
                  <a:srgbClr val="1A2C56"/>
                </a:solidFill>
              </a:rPr>
              <a:t>Approuver un retrait (Admin)</a:t>
            </a:r>
            <a:endParaRPr lang="fr-FR" sz="1100" noProof="0" dirty="0"/>
          </a:p>
        </p:txBody>
      </p:sp>
      <p:sp>
        <p:nvSpPr>
          <p:cNvPr id="47" name="Text 45"/>
          <p:cNvSpPr/>
          <p:nvPr/>
        </p:nvSpPr>
        <p:spPr>
          <a:xfrm>
            <a:off x="3258312" y="4590288"/>
            <a:ext cx="2627376" cy="384048"/>
          </a:xfrm>
          <a:prstGeom prst="rect">
            <a:avLst/>
          </a:prstGeom>
          <a:noFill/>
          <a:ln/>
        </p:spPr>
        <p:txBody>
          <a:bodyPr wrap="square" lIns="25400" tIns="25400" rIns="25400" bIns="25400" rtlCol="0" anchor="ctr"/>
          <a:lstStyle/>
          <a:p>
            <a:pPr marL="0" indent="0" algn="l">
              <a:buNone/>
            </a:pPr>
            <a:r>
              <a:rPr lang="fr-FR" sz="1000" noProof="0" dirty="0">
                <a:solidFill>
                  <a:srgbClr val="64748B"/>
                </a:solidFill>
              </a:rPr>
              <a:t>Vérification RIB déchiffré, </a:t>
            </a:r>
            <a:r>
              <a:rPr lang="fr-FR" sz="1000" noProof="0" dirty="0" err="1">
                <a:solidFill>
                  <a:srgbClr val="64748B"/>
                </a:solidFill>
              </a:rPr>
              <a:t>payout</a:t>
            </a:r>
            <a:r>
              <a:rPr lang="fr-FR" sz="1000" noProof="0" dirty="0">
                <a:solidFill>
                  <a:srgbClr val="64748B"/>
                </a:solidFill>
              </a:rPr>
              <a:t>, notification porteur, commission 5%.</a:t>
            </a:r>
            <a:endParaRPr lang="fr-FR" sz="1000" noProof="0" dirty="0"/>
          </a:p>
        </p:txBody>
      </p:sp>
      <p:sp>
        <p:nvSpPr>
          <p:cNvPr id="48" name="Shape 46"/>
          <p:cNvSpPr/>
          <p:nvPr/>
        </p:nvSpPr>
        <p:spPr>
          <a:xfrm>
            <a:off x="6096000" y="3218688"/>
            <a:ext cx="2773680" cy="1810512"/>
          </a:xfrm>
          <a:prstGeom prst="rect">
            <a:avLst/>
          </a:prstGeom>
          <a:solidFill>
            <a:srgbClr val="FFFFFF"/>
          </a:solidFill>
          <a:ln w="12700">
            <a:solidFill>
              <a:srgbClr val="E2E8EE"/>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49" name="Shape 47"/>
          <p:cNvSpPr/>
          <p:nvPr/>
        </p:nvSpPr>
        <p:spPr>
          <a:xfrm>
            <a:off x="6096000" y="3218688"/>
            <a:ext cx="2773680" cy="54864"/>
          </a:xfrm>
          <a:prstGeom prst="rect">
            <a:avLst/>
          </a:prstGeom>
          <a:solidFill>
            <a:srgbClr val="0D7680"/>
          </a:solidFill>
          <a:ln w="12700">
            <a:solidFill>
              <a:srgbClr val="0D7680"/>
            </a:solidFill>
            <a:prstDash val="solid"/>
          </a:ln>
        </p:spPr>
        <p:txBody>
          <a:bodyPr/>
          <a:lstStyle/>
          <a:p>
            <a:endParaRPr lang="fr-FR" noProof="0" dirty="0"/>
          </a:p>
        </p:txBody>
      </p:sp>
      <p:sp>
        <p:nvSpPr>
          <p:cNvPr id="50" name="Shape 48"/>
          <p:cNvSpPr/>
          <p:nvPr/>
        </p:nvSpPr>
        <p:spPr>
          <a:xfrm>
            <a:off x="7190232" y="3310128"/>
            <a:ext cx="585216" cy="585216"/>
          </a:xfrm>
          <a:prstGeom prst="ellipse">
            <a:avLst/>
          </a:prstGeom>
          <a:solidFill>
            <a:srgbClr val="1A2C56"/>
          </a:solidFill>
          <a:ln w="12700">
            <a:solidFill>
              <a:srgbClr val="1A2C56"/>
            </a:solidFill>
            <a:prstDash val="solid"/>
          </a:ln>
        </p:spPr>
        <p:txBody>
          <a:bodyPr/>
          <a:lstStyle/>
          <a:p>
            <a:endParaRPr lang="fr-FR" noProof="0" dirty="0"/>
          </a:p>
        </p:txBody>
      </p:sp>
      <p:sp>
        <p:nvSpPr>
          <p:cNvPr id="51" name="Text 49"/>
          <p:cNvSpPr/>
          <p:nvPr/>
        </p:nvSpPr>
        <p:spPr>
          <a:xfrm>
            <a:off x="7190232" y="3310128"/>
            <a:ext cx="585216" cy="585216"/>
          </a:xfrm>
          <a:prstGeom prst="rect">
            <a:avLst/>
          </a:prstGeom>
          <a:noFill/>
          <a:ln/>
        </p:spPr>
        <p:txBody>
          <a:bodyPr wrap="square" lIns="0" tIns="0" rIns="0" bIns="0" rtlCol="0" anchor="ctr"/>
          <a:lstStyle/>
          <a:p>
            <a:pPr marL="0" indent="0" algn="ctr">
              <a:buNone/>
            </a:pPr>
            <a:r>
              <a:rPr lang="fr-FR" sz="1500" b="1" noProof="0" dirty="0">
                <a:solidFill>
                  <a:srgbClr val="FFFFFF"/>
                </a:solidFill>
              </a:rPr>
              <a:t>7</a:t>
            </a:r>
            <a:endParaRPr lang="fr-FR" sz="1500" noProof="0" dirty="0"/>
          </a:p>
        </p:txBody>
      </p:sp>
      <p:sp>
        <p:nvSpPr>
          <p:cNvPr id="52" name="Text 50"/>
          <p:cNvSpPr/>
          <p:nvPr/>
        </p:nvSpPr>
        <p:spPr>
          <a:xfrm>
            <a:off x="6096000" y="3931920"/>
            <a:ext cx="2773680" cy="219456"/>
          </a:xfrm>
          <a:prstGeom prst="rect">
            <a:avLst/>
          </a:prstGeom>
          <a:noFill/>
          <a:ln/>
        </p:spPr>
        <p:txBody>
          <a:bodyPr wrap="square" lIns="0" tIns="0" rIns="0" bIns="0" rtlCol="0" anchor="ctr"/>
          <a:lstStyle/>
          <a:p>
            <a:pPr marL="0" indent="0" algn="ctr">
              <a:buNone/>
            </a:pPr>
            <a:r>
              <a:rPr lang="fr-FR" sz="900" noProof="0" dirty="0">
                <a:solidFill>
                  <a:srgbClr val="16A899"/>
                </a:solidFill>
              </a:rPr>
              <a:t>4.3.7</a:t>
            </a:r>
            <a:endParaRPr lang="fr-FR" sz="900" noProof="0" dirty="0"/>
          </a:p>
        </p:txBody>
      </p:sp>
      <p:sp>
        <p:nvSpPr>
          <p:cNvPr id="53" name="Text 51"/>
          <p:cNvSpPr/>
          <p:nvPr/>
        </p:nvSpPr>
        <p:spPr>
          <a:xfrm>
            <a:off x="6096000" y="4133088"/>
            <a:ext cx="2773680" cy="457200"/>
          </a:xfrm>
          <a:prstGeom prst="rect">
            <a:avLst/>
          </a:prstGeom>
          <a:noFill/>
          <a:ln/>
        </p:spPr>
        <p:txBody>
          <a:bodyPr wrap="square" lIns="25400" tIns="25400" rIns="25400" bIns="25400" rtlCol="0" anchor="ctr"/>
          <a:lstStyle/>
          <a:p>
            <a:pPr marL="0" indent="0" algn="ctr">
              <a:buNone/>
            </a:pPr>
            <a:r>
              <a:rPr lang="fr-FR" sz="1100" b="1" noProof="0" dirty="0">
                <a:solidFill>
                  <a:srgbClr val="1A2C56"/>
                </a:solidFill>
              </a:rPr>
              <a:t>Suspendre / réactiver (Admin)</a:t>
            </a:r>
            <a:endParaRPr lang="fr-FR" sz="1100" noProof="0" dirty="0"/>
          </a:p>
        </p:txBody>
      </p:sp>
      <p:sp>
        <p:nvSpPr>
          <p:cNvPr id="54" name="Text 52"/>
          <p:cNvSpPr/>
          <p:nvPr/>
        </p:nvSpPr>
        <p:spPr>
          <a:xfrm>
            <a:off x="6169152" y="4590288"/>
            <a:ext cx="2627376" cy="384048"/>
          </a:xfrm>
          <a:prstGeom prst="rect">
            <a:avLst/>
          </a:prstGeom>
          <a:noFill/>
          <a:ln/>
        </p:spPr>
        <p:txBody>
          <a:bodyPr wrap="square" lIns="25400" tIns="25400" rIns="25400" bIns="25400" rtlCol="0" anchor="ctr"/>
          <a:lstStyle/>
          <a:p>
            <a:pPr marL="0" indent="0" algn="l">
              <a:buNone/>
            </a:pPr>
            <a:r>
              <a:rPr lang="fr-FR" sz="1000" noProof="0" dirty="0">
                <a:solidFill>
                  <a:srgbClr val="64748B"/>
                </a:solidFill>
              </a:rPr>
              <a:t>Transition ACTIVE ↔ SUSPENDED, journal d'audit (</a:t>
            </a:r>
            <a:r>
              <a:rPr lang="fr-FR" sz="1000" noProof="0" dirty="0" err="1">
                <a:solidFill>
                  <a:srgbClr val="64748B"/>
                </a:solidFill>
              </a:rPr>
              <a:t>AuditLog</a:t>
            </a:r>
            <a:r>
              <a:rPr lang="fr-FR" sz="1000" noProof="0" dirty="0">
                <a:solidFill>
                  <a:srgbClr val="64748B"/>
                </a:solidFill>
              </a:rPr>
              <a:t>).</a:t>
            </a:r>
            <a:endParaRPr lang="fr-FR" sz="1000" noProof="0" dirty="0"/>
          </a:p>
        </p:txBody>
      </p:sp>
      <p:sp>
        <p:nvSpPr>
          <p:cNvPr id="9001" name="PageNum11"/>
          <p:cNvSpPr txBox="1"/>
          <p:nvPr/>
        </p:nvSpPr>
        <p:spPr>
          <a:xfrm>
            <a:off x="8200000" y="4900000"/>
            <a:ext cx="800000" cy="200000"/>
          </a:xfrm>
          <a:prstGeom prst="rect">
            <a:avLst/>
          </a:prstGeom>
          <a:noFill/>
        </p:spPr>
        <p:txBody>
          <a:bodyPr anchor="ctr">
            <a:noAutofit/>
          </a:bodyPr>
          <a:lstStyle/>
          <a:p>
            <a:pPr algn="r"/>
            <a:r>
              <a:rPr lang="fr-FR" sz="1000" b="0" dirty="0">
                <a:solidFill>
                  <a:srgbClr val="1A2C56"/>
                </a:solidFill>
              </a:rPr>
              <a:t>11 / 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A2C56"/>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7680"/>
          </a:solidFill>
          <a:ln w="12700">
            <a:solidFill>
              <a:srgbClr val="0D7680"/>
            </a:solidFill>
            <a:prstDash val="solid"/>
          </a:ln>
        </p:spPr>
        <p:txBody>
          <a:bodyPr/>
          <a:lstStyle/>
          <a:p>
            <a:endParaRPr lang="fr-FR" noProof="0" dirty="0"/>
          </a:p>
        </p:txBody>
      </p:sp>
      <p:sp>
        <p:nvSpPr>
          <p:cNvPr id="3" name="Shape 1"/>
          <p:cNvSpPr/>
          <p:nvPr/>
        </p:nvSpPr>
        <p:spPr>
          <a:xfrm>
            <a:off x="118872" y="0"/>
            <a:ext cx="9025128" cy="749808"/>
          </a:xfrm>
          <a:prstGeom prst="rect">
            <a:avLst/>
          </a:prstGeom>
          <a:solidFill>
            <a:srgbClr val="162240"/>
          </a:solidFill>
          <a:ln w="12700">
            <a:solidFill>
              <a:srgbClr val="162240"/>
            </a:solidFill>
            <a:prstDash val="solid"/>
          </a:ln>
        </p:spPr>
        <p:txBody>
          <a:bodyPr/>
          <a:lstStyle/>
          <a:p>
            <a:endParaRPr lang="fr-FR" noProof="0" dirty="0"/>
          </a:p>
        </p:txBody>
      </p:sp>
      <p:sp>
        <p:nvSpPr>
          <p:cNvPr id="4" name="Text 2"/>
          <p:cNvSpPr/>
          <p:nvPr/>
        </p:nvSpPr>
        <p:spPr>
          <a:xfrm>
            <a:off x="274320" y="0"/>
            <a:ext cx="8686800" cy="749808"/>
          </a:xfrm>
          <a:prstGeom prst="rect">
            <a:avLst/>
          </a:prstGeom>
          <a:noFill/>
          <a:ln/>
        </p:spPr>
        <p:txBody>
          <a:bodyPr wrap="square" lIns="0" tIns="0" rIns="0" bIns="0" rtlCol="0" anchor="ctr"/>
          <a:lstStyle/>
          <a:p>
            <a:pPr marL="0" indent="0">
              <a:buNone/>
            </a:pPr>
            <a:r>
              <a:rPr lang="fr-FR" sz="1550" b="1" noProof="0" dirty="0">
                <a:solidFill>
                  <a:schemeClr val="bg1"/>
                </a:solidFill>
              </a:rPr>
              <a:t>7  —  </a:t>
            </a:r>
            <a:r>
              <a:rPr lang="fr-FR" sz="1550" b="1" noProof="0" dirty="0">
                <a:solidFill>
                  <a:srgbClr val="FFFFFF"/>
                </a:solidFill>
              </a:rPr>
              <a:t>CONCLUSION — TRAVAUX RÉALISÉS, LIMITES &amp; PERSPECTIVES</a:t>
            </a:r>
            <a:endParaRPr lang="fr-FR" sz="1550" noProof="0" dirty="0"/>
          </a:p>
        </p:txBody>
      </p:sp>
      <p:sp>
        <p:nvSpPr>
          <p:cNvPr id="5" name="Shape 3"/>
          <p:cNvSpPr/>
          <p:nvPr/>
        </p:nvSpPr>
        <p:spPr>
          <a:xfrm>
            <a:off x="118872" y="749808"/>
            <a:ext cx="9025128" cy="36576"/>
          </a:xfrm>
          <a:prstGeom prst="rect">
            <a:avLst/>
          </a:prstGeom>
          <a:solidFill>
            <a:srgbClr val="0D7680"/>
          </a:solidFill>
          <a:ln w="12700">
            <a:solidFill>
              <a:srgbClr val="0D7680"/>
            </a:solidFill>
            <a:prstDash val="solid"/>
          </a:ln>
        </p:spPr>
        <p:txBody>
          <a:bodyPr/>
          <a:lstStyle/>
          <a:p>
            <a:endParaRPr lang="fr-FR" noProof="0" dirty="0"/>
          </a:p>
        </p:txBody>
      </p:sp>
      <p:sp>
        <p:nvSpPr>
          <p:cNvPr id="6" name="Shape 4"/>
          <p:cNvSpPr/>
          <p:nvPr/>
        </p:nvSpPr>
        <p:spPr>
          <a:xfrm>
            <a:off x="256032" y="932688"/>
            <a:ext cx="2779776" cy="3950208"/>
          </a:xfrm>
          <a:prstGeom prst="rect">
            <a:avLst/>
          </a:prstGeom>
          <a:solidFill>
            <a:srgbClr val="162240"/>
          </a:solidFill>
          <a:ln w="12700">
            <a:solidFill>
              <a:srgbClr val="0D7680"/>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7" name="Shape 5"/>
          <p:cNvSpPr/>
          <p:nvPr/>
        </p:nvSpPr>
        <p:spPr>
          <a:xfrm>
            <a:off x="256032" y="932688"/>
            <a:ext cx="2779776" cy="54864"/>
          </a:xfrm>
          <a:prstGeom prst="rect">
            <a:avLst/>
          </a:prstGeom>
          <a:solidFill>
            <a:srgbClr val="0D7680"/>
          </a:solidFill>
          <a:ln w="12700">
            <a:solidFill>
              <a:srgbClr val="0D7680"/>
            </a:solidFill>
            <a:prstDash val="solid"/>
          </a:ln>
        </p:spPr>
        <p:txBody>
          <a:bodyPr/>
          <a:lstStyle/>
          <a:p>
            <a:endParaRPr lang="fr-FR" noProof="0" dirty="0"/>
          </a:p>
        </p:txBody>
      </p:sp>
      <p:sp>
        <p:nvSpPr>
          <p:cNvPr id="8" name="Text 6"/>
          <p:cNvSpPr/>
          <p:nvPr/>
        </p:nvSpPr>
        <p:spPr>
          <a:xfrm>
            <a:off x="256032" y="1005840"/>
            <a:ext cx="2779776" cy="457200"/>
          </a:xfrm>
          <a:prstGeom prst="rect">
            <a:avLst/>
          </a:prstGeom>
          <a:noFill/>
          <a:ln/>
        </p:spPr>
        <p:txBody>
          <a:bodyPr wrap="square" lIns="76200" tIns="76200" rIns="76200" bIns="76200" rtlCol="0" anchor="ctr"/>
          <a:lstStyle/>
          <a:p>
            <a:pPr marL="0" indent="0" algn="l">
              <a:buNone/>
            </a:pPr>
            <a:r>
              <a:rPr lang="fr-FR" sz="1200" b="1" noProof="0" dirty="0">
                <a:solidFill>
                  <a:srgbClr val="0D7680"/>
                </a:solidFill>
              </a:rPr>
              <a:t>  Travaux réalisés</a:t>
            </a:r>
            <a:endParaRPr lang="fr-FR" sz="1200" noProof="0" dirty="0"/>
          </a:p>
        </p:txBody>
      </p:sp>
      <p:sp>
        <p:nvSpPr>
          <p:cNvPr id="9" name="Text 7"/>
          <p:cNvSpPr/>
          <p:nvPr/>
        </p:nvSpPr>
        <p:spPr>
          <a:xfrm>
            <a:off x="256032" y="1508760"/>
            <a:ext cx="2779776" cy="3310128"/>
          </a:xfrm>
          <a:prstGeom prst="rect">
            <a:avLst/>
          </a:prstGeom>
          <a:noFill/>
          <a:ln/>
        </p:spPr>
        <p:txBody>
          <a:bodyPr wrap="square" lIns="76200" tIns="76200" rIns="76200" bIns="76200" rtlCol="0" anchor="ctr"/>
          <a:lstStyle/>
          <a:p>
            <a:pPr marL="342900" indent="-342900">
              <a:buSzPct val="100000"/>
              <a:buChar char="•"/>
            </a:pPr>
            <a:r>
              <a:rPr lang="fr-FR" sz="1050" noProof="0" dirty="0">
                <a:solidFill>
                  <a:srgbClr val="B8C8D8"/>
                </a:solidFill>
              </a:rPr>
              <a:t>Parcours complet porteur : DRAFT → analyse IA → validation → FUNDED → retrait avec facture</a:t>
            </a:r>
            <a:endParaRPr lang="fr-FR" sz="1050" noProof="0" dirty="0"/>
          </a:p>
          <a:p>
            <a:pPr marL="342900" indent="-342900">
              <a:buSzPct val="100000"/>
              <a:buChar char="•"/>
            </a:pPr>
            <a:r>
              <a:rPr lang="fr-FR" sz="1050" noProof="0" dirty="0">
                <a:solidFill>
                  <a:srgbClr val="B8C8D8"/>
                </a:solidFill>
              </a:rPr>
              <a:t>Parcours complet investisseur : contribution, annulation, remboursement conditionnel</a:t>
            </a:r>
            <a:endParaRPr lang="fr-FR" sz="1050" noProof="0" dirty="0"/>
          </a:p>
          <a:p>
            <a:pPr marL="342900" indent="-342900">
              <a:buSzPct val="100000"/>
              <a:buChar char="•"/>
            </a:pPr>
            <a:r>
              <a:rPr lang="fr-FR" sz="1050" noProof="0" dirty="0">
                <a:solidFill>
                  <a:srgbClr val="B8C8D8"/>
                </a:solidFill>
              </a:rPr>
              <a:t>Aides à la décision : rapport Gemini structuré + recommandations personnalisées + assistant chat</a:t>
            </a:r>
            <a:endParaRPr lang="fr-FR" sz="1050" noProof="0" dirty="0"/>
          </a:p>
          <a:p>
            <a:pPr marL="342900" indent="-342900">
              <a:buSzPct val="100000"/>
              <a:buChar char="•"/>
            </a:pPr>
            <a:r>
              <a:rPr lang="fr-FR" sz="1050" noProof="0" dirty="0">
                <a:solidFill>
                  <a:srgbClr val="B8C8D8"/>
                </a:solidFill>
              </a:rPr>
              <a:t>Gouvernance : RBAC, modération, signalements, </a:t>
            </a:r>
            <a:r>
              <a:rPr lang="fr-FR" sz="1050" noProof="0" dirty="0" err="1">
                <a:solidFill>
                  <a:srgbClr val="B8C8D8"/>
                </a:solidFill>
              </a:rPr>
              <a:t>AuditLog</a:t>
            </a:r>
            <a:r>
              <a:rPr lang="fr-FR" sz="1050" noProof="0" dirty="0">
                <a:solidFill>
                  <a:srgbClr val="B8C8D8"/>
                </a:solidFill>
              </a:rPr>
              <a:t>, notifications, relances DLQ</a:t>
            </a:r>
            <a:endParaRPr lang="fr-FR" sz="1050" noProof="0" dirty="0"/>
          </a:p>
          <a:p>
            <a:pPr marL="342900" indent="-342900">
              <a:buSzPct val="100000"/>
              <a:buChar char="•"/>
            </a:pPr>
            <a:r>
              <a:rPr lang="fr-FR" sz="1050" noProof="0" dirty="0">
                <a:solidFill>
                  <a:srgbClr val="B8C8D8"/>
                </a:solidFill>
              </a:rPr>
              <a:t>Sécurité : HMAC, AES-256-GCM, JWT </a:t>
            </a:r>
            <a:r>
              <a:rPr lang="fr-FR" sz="1050" noProof="0" dirty="0" err="1">
                <a:solidFill>
                  <a:srgbClr val="B8C8D8"/>
                </a:solidFill>
              </a:rPr>
              <a:t>HttpOnly</a:t>
            </a:r>
            <a:r>
              <a:rPr lang="fr-FR" sz="1050" noProof="0" dirty="0">
                <a:solidFill>
                  <a:srgbClr val="B8C8D8"/>
                </a:solidFill>
              </a:rPr>
              <a:t>, rate </a:t>
            </a:r>
            <a:r>
              <a:rPr lang="fr-FR" sz="1050" noProof="0" dirty="0" err="1">
                <a:solidFill>
                  <a:srgbClr val="B8C8D8"/>
                </a:solidFill>
              </a:rPr>
              <a:t>limiting</a:t>
            </a:r>
            <a:r>
              <a:rPr lang="fr-FR" sz="1050" noProof="0" dirty="0">
                <a:solidFill>
                  <a:srgbClr val="B8C8D8"/>
                </a:solidFill>
              </a:rPr>
              <a:t> — conformité OWASP</a:t>
            </a:r>
            <a:endParaRPr lang="fr-FR" sz="1050" noProof="0" dirty="0"/>
          </a:p>
        </p:txBody>
      </p:sp>
      <p:sp>
        <p:nvSpPr>
          <p:cNvPr id="10" name="Shape 8"/>
          <p:cNvSpPr/>
          <p:nvPr/>
        </p:nvSpPr>
        <p:spPr>
          <a:xfrm>
            <a:off x="3163824" y="932688"/>
            <a:ext cx="2779776" cy="3950208"/>
          </a:xfrm>
          <a:prstGeom prst="rect">
            <a:avLst/>
          </a:prstGeom>
          <a:solidFill>
            <a:srgbClr val="162240"/>
          </a:solidFill>
          <a:ln w="12700">
            <a:solidFill>
              <a:srgbClr val="C77B2B"/>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1" name="Shape 9"/>
          <p:cNvSpPr/>
          <p:nvPr/>
        </p:nvSpPr>
        <p:spPr>
          <a:xfrm>
            <a:off x="3163824" y="932688"/>
            <a:ext cx="2779776" cy="54864"/>
          </a:xfrm>
          <a:prstGeom prst="rect">
            <a:avLst/>
          </a:prstGeom>
          <a:solidFill>
            <a:srgbClr val="C77B2B"/>
          </a:solidFill>
          <a:ln w="12700">
            <a:solidFill>
              <a:srgbClr val="C77B2B"/>
            </a:solidFill>
            <a:prstDash val="solid"/>
          </a:ln>
        </p:spPr>
        <p:txBody>
          <a:bodyPr/>
          <a:lstStyle/>
          <a:p>
            <a:endParaRPr lang="fr-FR" noProof="0" dirty="0"/>
          </a:p>
        </p:txBody>
      </p:sp>
      <p:sp>
        <p:nvSpPr>
          <p:cNvPr id="12" name="Text 10"/>
          <p:cNvSpPr/>
          <p:nvPr/>
        </p:nvSpPr>
        <p:spPr>
          <a:xfrm>
            <a:off x="3163824" y="1005840"/>
            <a:ext cx="2779776" cy="457200"/>
          </a:xfrm>
          <a:prstGeom prst="rect">
            <a:avLst/>
          </a:prstGeom>
          <a:noFill/>
          <a:ln/>
        </p:spPr>
        <p:txBody>
          <a:bodyPr wrap="square" lIns="76200" tIns="76200" rIns="76200" bIns="76200" rtlCol="0" anchor="ctr"/>
          <a:lstStyle/>
          <a:p>
            <a:r>
              <a:rPr lang="fr-FR" sz="1200" b="1" noProof="0" dirty="0">
                <a:solidFill>
                  <a:srgbClr val="C77B2B"/>
                </a:solidFill>
              </a:rPr>
              <a:t> Limites</a:t>
            </a:r>
            <a:endParaRPr lang="fr-FR" sz="1200" noProof="0" dirty="0"/>
          </a:p>
        </p:txBody>
      </p:sp>
      <p:sp>
        <p:nvSpPr>
          <p:cNvPr id="13" name="Text 11"/>
          <p:cNvSpPr/>
          <p:nvPr/>
        </p:nvSpPr>
        <p:spPr>
          <a:xfrm>
            <a:off x="3163824" y="1508760"/>
            <a:ext cx="2779776" cy="3310128"/>
          </a:xfrm>
          <a:prstGeom prst="rect">
            <a:avLst/>
          </a:prstGeom>
          <a:noFill/>
          <a:ln/>
        </p:spPr>
        <p:txBody>
          <a:bodyPr wrap="square" lIns="76200" tIns="76200" rIns="76200" bIns="76200" rtlCol="0" anchor="ctr"/>
          <a:lstStyle/>
          <a:p>
            <a:pPr>
              <a:buSzPct val="100000"/>
            </a:pPr>
            <a:endParaRPr lang="fr-FR" sz="950" noProof="0" dirty="0">
              <a:solidFill>
                <a:srgbClr val="B8C8D8"/>
              </a:solidFill>
              <a:ea typeface="Calibri"/>
              <a:cs typeface="Calibri"/>
            </a:endParaRPr>
          </a:p>
          <a:p>
            <a:pPr marL="342900" indent="-342900">
              <a:buSzPct val="100000"/>
              <a:buChar char="•"/>
            </a:pPr>
            <a:r>
              <a:rPr lang="fr-FR" sz="1050" noProof="0" dirty="0">
                <a:solidFill>
                  <a:srgbClr val="B8C8D8"/>
                </a:solidFill>
              </a:rPr>
              <a:t>Recommandations déterministes — sans historique d'apprentissage</a:t>
            </a:r>
            <a:endParaRPr lang="fr-FR" sz="1050" noProof="0" dirty="0"/>
          </a:p>
          <a:p>
            <a:pPr marL="342900" indent="-342900">
              <a:buSzPct val="100000"/>
              <a:buChar char="•"/>
            </a:pPr>
            <a:r>
              <a:rPr lang="fr-FR" sz="1050" noProof="0" dirty="0">
                <a:solidFill>
                  <a:srgbClr val="B8C8D8"/>
                </a:solidFill>
              </a:rPr>
              <a:t>Tests UI non automatisés (Cypress / </a:t>
            </a:r>
            <a:r>
              <a:rPr lang="fr-FR" sz="1050" noProof="0" dirty="0" err="1">
                <a:solidFill>
                  <a:srgbClr val="B8C8D8"/>
                </a:solidFill>
              </a:rPr>
              <a:t>Playwright</a:t>
            </a:r>
            <a:r>
              <a:rPr lang="fr-FR" sz="1050" noProof="0" dirty="0">
                <a:solidFill>
                  <a:srgbClr val="B8C8D8"/>
                </a:solidFill>
              </a:rPr>
              <a:t> absent</a:t>
            </a:r>
            <a:r>
              <a:rPr lang="fr-FR" sz="950" noProof="0" dirty="0">
                <a:solidFill>
                  <a:srgbClr val="B8C8D8"/>
                </a:solidFill>
              </a:rPr>
              <a:t>)</a:t>
            </a:r>
            <a:endParaRPr lang="fr-FR" sz="950" noProof="0" dirty="0"/>
          </a:p>
        </p:txBody>
      </p:sp>
      <p:sp>
        <p:nvSpPr>
          <p:cNvPr id="14" name="Shape 12"/>
          <p:cNvSpPr/>
          <p:nvPr/>
        </p:nvSpPr>
        <p:spPr>
          <a:xfrm>
            <a:off x="6071616" y="932688"/>
            <a:ext cx="2779776" cy="3950208"/>
          </a:xfrm>
          <a:prstGeom prst="rect">
            <a:avLst/>
          </a:prstGeom>
          <a:solidFill>
            <a:srgbClr val="162240"/>
          </a:solidFill>
          <a:ln w="12700">
            <a:solidFill>
              <a:srgbClr val="1A5C82"/>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5" name="Shape 13"/>
          <p:cNvSpPr/>
          <p:nvPr/>
        </p:nvSpPr>
        <p:spPr>
          <a:xfrm>
            <a:off x="6071616" y="932688"/>
            <a:ext cx="2779776" cy="54864"/>
          </a:xfrm>
          <a:prstGeom prst="rect">
            <a:avLst/>
          </a:prstGeom>
          <a:solidFill>
            <a:srgbClr val="1A5C82"/>
          </a:solidFill>
          <a:ln w="12700">
            <a:solidFill>
              <a:srgbClr val="1A5C82"/>
            </a:solidFill>
            <a:prstDash val="solid"/>
          </a:ln>
        </p:spPr>
        <p:txBody>
          <a:bodyPr/>
          <a:lstStyle/>
          <a:p>
            <a:endParaRPr lang="fr-FR" noProof="0" dirty="0"/>
          </a:p>
        </p:txBody>
      </p:sp>
      <p:sp>
        <p:nvSpPr>
          <p:cNvPr id="16" name="Text 14"/>
          <p:cNvSpPr/>
          <p:nvPr/>
        </p:nvSpPr>
        <p:spPr>
          <a:xfrm>
            <a:off x="6071616" y="1005840"/>
            <a:ext cx="2779776" cy="457200"/>
          </a:xfrm>
          <a:prstGeom prst="rect">
            <a:avLst/>
          </a:prstGeom>
          <a:noFill/>
          <a:ln/>
        </p:spPr>
        <p:txBody>
          <a:bodyPr wrap="square" lIns="76200" tIns="76200" rIns="76200" bIns="76200" rtlCol="0" anchor="ctr"/>
          <a:lstStyle/>
          <a:p>
            <a:r>
              <a:rPr lang="fr-FR" sz="1200" b="1" noProof="0" dirty="0">
                <a:solidFill>
                  <a:srgbClr val="1A5C82"/>
                </a:solidFill>
              </a:rPr>
              <a:t> Perspectives</a:t>
            </a:r>
            <a:endParaRPr lang="fr-FR" sz="1200" noProof="0" dirty="0"/>
          </a:p>
        </p:txBody>
      </p:sp>
      <p:sp>
        <p:nvSpPr>
          <p:cNvPr id="17" name="Text 15"/>
          <p:cNvSpPr/>
          <p:nvPr/>
        </p:nvSpPr>
        <p:spPr>
          <a:xfrm>
            <a:off x="6071616" y="1508760"/>
            <a:ext cx="2779776" cy="3310128"/>
          </a:xfrm>
          <a:prstGeom prst="rect">
            <a:avLst/>
          </a:prstGeom>
          <a:noFill/>
          <a:ln/>
        </p:spPr>
        <p:txBody>
          <a:bodyPr wrap="square" lIns="76200" tIns="76200" rIns="76200" bIns="76200" rtlCol="0" anchor="ctr"/>
          <a:lstStyle/>
          <a:p>
            <a:pPr>
              <a:buSzPct val="100000"/>
            </a:pPr>
            <a:endParaRPr lang="fr-FR" sz="950" noProof="0" dirty="0">
              <a:solidFill>
                <a:srgbClr val="B8C8D8"/>
              </a:solidFill>
              <a:ea typeface="Calibri"/>
              <a:cs typeface="Calibri"/>
            </a:endParaRPr>
          </a:p>
          <a:p>
            <a:pPr marL="342900" indent="-342900">
              <a:buSzPct val="100000"/>
              <a:buChar char="•"/>
            </a:pPr>
            <a:r>
              <a:rPr lang="fr-FR" sz="1050" noProof="0" dirty="0">
                <a:solidFill>
                  <a:srgbClr val="B8C8D8"/>
                </a:solidFill>
              </a:rPr>
              <a:t>Mesure de l'impact social : emplois créés, projets financés, réinvestissement communautaire</a:t>
            </a:r>
            <a:endParaRPr lang="fr-FR" sz="1050" noProof="0" dirty="0"/>
          </a:p>
          <a:p>
            <a:pPr marL="342900" indent="-342900">
              <a:buSzPct val="100000"/>
              <a:buChar char="•"/>
            </a:pPr>
            <a:r>
              <a:rPr lang="fr-FR" sz="1050" noProof="0" dirty="0">
                <a:solidFill>
                  <a:srgbClr val="B8C8D8"/>
                </a:solidFill>
              </a:rPr>
              <a:t>IA améliorée : meilleure explication du score, apprentissage progressif</a:t>
            </a:r>
            <a:endParaRPr lang="fr-FR" sz="1050" noProof="0" dirty="0"/>
          </a:p>
          <a:p>
            <a:pPr marL="342900" indent="-342900">
              <a:buSzPct val="100000"/>
              <a:buChar char="•"/>
            </a:pPr>
            <a:r>
              <a:rPr lang="fr-FR" sz="1050" noProof="0" dirty="0">
                <a:solidFill>
                  <a:srgbClr val="B8C8D8"/>
                </a:solidFill>
              </a:rPr>
              <a:t>Extension aux diaspora tunisienne : permettre le soutien transfrontalier</a:t>
            </a:r>
            <a:endParaRPr lang="fr-FR" sz="1050" noProof="0" dirty="0"/>
          </a:p>
        </p:txBody>
      </p:sp>
      <p:sp>
        <p:nvSpPr>
          <p:cNvPr id="9001" name="PageNum12"/>
          <p:cNvSpPr txBox="1"/>
          <p:nvPr/>
        </p:nvSpPr>
        <p:spPr>
          <a:xfrm>
            <a:off x="8200000" y="4900000"/>
            <a:ext cx="800000" cy="200000"/>
          </a:xfrm>
          <a:prstGeom prst="rect">
            <a:avLst/>
          </a:prstGeom>
          <a:noFill/>
        </p:spPr>
        <p:txBody>
          <a:bodyPr anchor="ctr">
            <a:noAutofit/>
          </a:bodyPr>
          <a:lstStyle/>
          <a:p>
            <a:pPr algn="r"/>
            <a:r>
              <a:rPr lang="fr-FR" sz="1000" b="0" dirty="0">
                <a:solidFill>
                  <a:srgbClr val="FFFFFF"/>
                </a:solidFill>
              </a:rPr>
              <a:t>12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A2C56"/>
        </a:solidFill>
        <a:effectLst/>
      </p:bgPr>
    </p:bg>
    <p:spTree>
      <p:nvGrpSpPr>
        <p:cNvPr id="1" name=""/>
        <p:cNvGrpSpPr/>
        <p:nvPr/>
      </p:nvGrpSpPr>
      <p:grpSpPr>
        <a:xfrm>
          <a:off x="0" y="0"/>
          <a:ext cx="0" cy="0"/>
          <a:chOff x="0" y="0"/>
          <a:chExt cx="0" cy="0"/>
        </a:xfrm>
      </p:grpSpPr>
      <p:sp>
        <p:nvSpPr>
          <p:cNvPr id="2" name="Shape 0"/>
          <p:cNvSpPr/>
          <p:nvPr/>
        </p:nvSpPr>
        <p:spPr>
          <a:xfrm>
            <a:off x="0" y="0"/>
            <a:ext cx="118872" cy="5143500"/>
          </a:xfrm>
          <a:prstGeom prst="rect">
            <a:avLst/>
          </a:prstGeom>
          <a:solidFill>
            <a:srgbClr val="0D7680"/>
          </a:solidFill>
          <a:ln w="12700">
            <a:solidFill>
              <a:srgbClr val="0D7680"/>
            </a:solidFill>
            <a:prstDash val="solid"/>
          </a:ln>
        </p:spPr>
        <p:txBody>
          <a:bodyPr/>
          <a:lstStyle/>
          <a:p>
            <a:endParaRPr lang="fr-FR" noProof="0" dirty="0"/>
          </a:p>
        </p:txBody>
      </p:sp>
      <p:sp>
        <p:nvSpPr>
          <p:cNvPr id="3" name="Text 1"/>
          <p:cNvSpPr/>
          <p:nvPr/>
        </p:nvSpPr>
        <p:spPr>
          <a:xfrm>
            <a:off x="256032" y="1371600"/>
            <a:ext cx="8595360" cy="914400"/>
          </a:xfrm>
          <a:prstGeom prst="rect">
            <a:avLst/>
          </a:prstGeom>
          <a:noFill/>
          <a:ln/>
        </p:spPr>
        <p:txBody>
          <a:bodyPr wrap="square" lIns="0" tIns="0" rIns="0" bIns="0" rtlCol="0" anchor="ctr"/>
          <a:lstStyle/>
          <a:p>
            <a:pPr marL="0" indent="0" algn="ctr">
              <a:buNone/>
            </a:pPr>
            <a:r>
              <a:rPr lang="fr-FR" sz="4400" b="1" noProof="0" dirty="0">
                <a:solidFill>
                  <a:srgbClr val="FFFFFF"/>
                </a:solidFill>
              </a:rPr>
              <a:t>Merci de votre attention</a:t>
            </a:r>
            <a:endParaRPr lang="fr-FR" sz="4400" noProof="0" dirty="0"/>
          </a:p>
        </p:txBody>
      </p:sp>
      <p:sp>
        <p:nvSpPr>
          <p:cNvPr id="4" name="Shape 2"/>
          <p:cNvSpPr/>
          <p:nvPr/>
        </p:nvSpPr>
        <p:spPr>
          <a:xfrm>
            <a:off x="2011680" y="2487168"/>
            <a:ext cx="5120640" cy="45720"/>
          </a:xfrm>
          <a:prstGeom prst="rect">
            <a:avLst/>
          </a:prstGeom>
          <a:solidFill>
            <a:srgbClr val="0D7680"/>
          </a:solidFill>
          <a:ln w="12700">
            <a:solidFill>
              <a:srgbClr val="0D7680"/>
            </a:solidFill>
            <a:prstDash val="solid"/>
          </a:ln>
        </p:spPr>
        <p:txBody>
          <a:bodyPr/>
          <a:lstStyle/>
          <a:p>
            <a:endParaRPr lang="fr-FR" noProof="0" dirty="0"/>
          </a:p>
        </p:txBody>
      </p:sp>
      <p:sp>
        <p:nvSpPr>
          <p:cNvPr id="5" name="Text 3"/>
          <p:cNvSpPr/>
          <p:nvPr/>
        </p:nvSpPr>
        <p:spPr>
          <a:xfrm>
            <a:off x="256032" y="2651760"/>
            <a:ext cx="8595360" cy="594360"/>
          </a:xfrm>
          <a:prstGeom prst="rect">
            <a:avLst/>
          </a:prstGeom>
          <a:noFill/>
          <a:ln/>
        </p:spPr>
        <p:txBody>
          <a:bodyPr wrap="square" lIns="0" tIns="0" rIns="0" bIns="0" rtlCol="0" anchor="ctr"/>
          <a:lstStyle/>
          <a:p>
            <a:pPr marL="0" indent="0" algn="ctr">
              <a:buNone/>
            </a:pPr>
            <a:r>
              <a:rPr lang="fr-FR" sz="2600" i="1" noProof="0" dirty="0">
                <a:solidFill>
                  <a:srgbClr val="16A899"/>
                </a:solidFill>
              </a:rPr>
              <a:t>Questions &amp; Réponses</a:t>
            </a:r>
            <a:endParaRPr lang="fr-FR" sz="2600" noProof="0" dirty="0"/>
          </a:p>
        </p:txBody>
      </p:sp>
      <p:sp>
        <p:nvSpPr>
          <p:cNvPr id="6" name="Text 4"/>
          <p:cNvSpPr/>
          <p:nvPr/>
        </p:nvSpPr>
        <p:spPr>
          <a:xfrm>
            <a:off x="256032" y="4206240"/>
            <a:ext cx="8595360" cy="384048"/>
          </a:xfrm>
          <a:prstGeom prst="rect">
            <a:avLst/>
          </a:prstGeom>
          <a:noFill/>
          <a:ln/>
        </p:spPr>
        <p:txBody>
          <a:bodyPr wrap="square" lIns="0" tIns="0" rIns="0" bIns="0" rtlCol="0" anchor="ctr"/>
          <a:lstStyle/>
          <a:p>
            <a:pPr marL="0" indent="0" algn="ctr">
              <a:buNone/>
            </a:pPr>
            <a:r>
              <a:rPr lang="fr-FR" sz="1100" noProof="0" dirty="0" err="1">
                <a:solidFill>
                  <a:srgbClr val="B8C8D8"/>
                </a:solidFill>
              </a:rPr>
              <a:t>Gdoura</a:t>
            </a:r>
            <a:r>
              <a:rPr lang="fr-FR" sz="1100" noProof="0" dirty="0">
                <a:solidFill>
                  <a:srgbClr val="B8C8D8"/>
                </a:solidFill>
              </a:rPr>
              <a:t> Karim  |  Licence Informatique de Gestion  |  FSEG Sfax  |  2025/2026</a:t>
            </a:r>
            <a:endParaRPr lang="fr-FR" sz="1100" noProof="0" dirty="0"/>
          </a:p>
        </p:txBody>
      </p:sp>
      <p:sp>
        <p:nvSpPr>
          <p:cNvPr id="7" name="Text 5"/>
          <p:cNvSpPr/>
          <p:nvPr/>
        </p:nvSpPr>
        <p:spPr>
          <a:xfrm>
            <a:off x="256032" y="4617720"/>
            <a:ext cx="8595360" cy="384048"/>
          </a:xfrm>
          <a:prstGeom prst="rect">
            <a:avLst/>
          </a:prstGeom>
          <a:noFill/>
          <a:ln/>
        </p:spPr>
        <p:txBody>
          <a:bodyPr wrap="square" lIns="0" tIns="0" rIns="0" bIns="0" rtlCol="0" anchor="ctr"/>
          <a:lstStyle/>
          <a:p>
            <a:pPr marL="0" indent="0" algn="ctr">
              <a:buNone/>
            </a:pPr>
            <a:r>
              <a:rPr lang="fr-FR" sz="1100" noProof="0" dirty="0">
                <a:solidFill>
                  <a:srgbClr val="B8C8D8"/>
                </a:solidFill>
              </a:rPr>
              <a:t>Encadrant : M. Iskandar </a:t>
            </a:r>
            <a:r>
              <a:rPr lang="fr-FR" sz="1100" noProof="0" dirty="0" err="1">
                <a:solidFill>
                  <a:srgbClr val="B8C8D8"/>
                </a:solidFill>
              </a:rPr>
              <a:t>Keskes</a:t>
            </a:r>
            <a:r>
              <a:rPr lang="fr-FR" sz="1100" noProof="0" dirty="0">
                <a:solidFill>
                  <a:srgbClr val="B8C8D8"/>
                </a:solidFill>
              </a:rPr>
              <a:t>  |  </a:t>
            </a:r>
            <a:r>
              <a:rPr lang="fr-FR" sz="1100" noProof="0" dirty="0" err="1">
                <a:solidFill>
                  <a:srgbClr val="B8C8D8"/>
                </a:solidFill>
              </a:rPr>
              <a:t>Aziin</a:t>
            </a:r>
            <a:r>
              <a:rPr lang="fr-FR" sz="1100" noProof="0" dirty="0">
                <a:solidFill>
                  <a:srgbClr val="B8C8D8"/>
                </a:solidFill>
              </a:rPr>
              <a:t> Engineering Solution, Sfax</a:t>
            </a:r>
            <a:endParaRPr lang="fr-FR" sz="1100" noProof="0" dirty="0"/>
          </a:p>
        </p:txBody>
      </p:sp>
      <p:sp>
        <p:nvSpPr>
          <p:cNvPr id="9001" name="PageNum13"/>
          <p:cNvSpPr txBox="1"/>
          <p:nvPr/>
        </p:nvSpPr>
        <p:spPr>
          <a:xfrm>
            <a:off x="8200000" y="4900000"/>
            <a:ext cx="800000" cy="200000"/>
          </a:xfrm>
          <a:prstGeom prst="rect">
            <a:avLst/>
          </a:prstGeom>
          <a:noFill/>
        </p:spPr>
        <p:txBody>
          <a:bodyPr anchor="ctr">
            <a:noAutofit/>
          </a:bodyPr>
          <a:lstStyle/>
          <a:p>
            <a:pPr algn="r"/>
            <a:r>
              <a:rPr lang="fr-FR" sz="1000" b="0" dirty="0">
                <a:solidFill>
                  <a:srgbClr val="FFFFFF"/>
                </a:solidFill>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3050</Words>
  <Application>Microsoft Office PowerPoint</Application>
  <PresentationFormat>Affichage à l'écran (16:9)</PresentationFormat>
  <Paragraphs>318</Paragraphs>
  <Slides>14</Slides>
  <Notes>14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Calibri</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PFE — Plateforme de Financement Collaboratif</dc:title>
  <dc:subject>PptxGenJS Presentation</dc:subject>
  <dc:creator>Gdoura Karim</dc:creator>
  <cp:lastModifiedBy>karim gdoura1</cp:lastModifiedBy>
  <cp:revision>131</cp:revision>
  <dcterms:created xsi:type="dcterms:W3CDTF">2026-05-30T09:46:43Z</dcterms:created>
  <dcterms:modified xsi:type="dcterms:W3CDTF">2026-06-05T12:21:23Z</dcterms:modified>
</cp:coreProperties>
</file>