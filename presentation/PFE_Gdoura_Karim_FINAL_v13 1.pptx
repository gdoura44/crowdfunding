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240"/>
    <a:srgbClr val="3E5669"/>
    <a:srgbClr val="1A2C56"/>
    <a:srgbClr val="0D7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7C42F-60F9-30FF-F5E7-C588837459A1}" v="21" dt="2026-05-31T21:45:24.045"/>
    <p1510:client id="{558829B4-F309-E747-C008-85B91EC49042}" v="14" dt="2026-05-30T11:29:48.845"/>
    <p1510:client id="{6EF49537-5814-DD03-EC1D-D192386207A9}" v="71" dt="2026-06-01T06:51:29.878"/>
    <p1510:client id="{CB4B5AB2-06FE-503F-97DD-2687BA443BE9}" v="39" dt="2026-05-30T11:12:25.479"/>
    <p1510:client id="{D8F0BDDB-06AC-8EEF-03C2-35AA04AD8CD3}" v="17" dt="2026-05-30T10:53:01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E6A83-13F4-4BC4-AB07-219FD4E3A85F}" type="datetimeFigureOut"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C23B6-115C-4C3A-A495-370E942D89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55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3A3F6-7695-03ED-9BAC-937B3562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3CF02-8A81-8AC5-AD04-68944723C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8DF21-F91C-155C-E53F-B597AD4B3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5AB90-11F0-6DE5-813E-9AB9AE864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53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i="1" noProof="0" dirty="0">
                <a:solidFill>
                  <a:schemeClr val="bg1"/>
                </a:solidFill>
              </a:rPr>
              <a:t>Aucune solution existante ne couvre l'ensemble de ces critères dans le contexte tunisien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3585633" y="984001"/>
            <a:ext cx="16984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i="1" noProof="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Projet de Fin d'Études</a:t>
            </a:r>
            <a:endParaRPr lang="fr-FR" sz="1400" noProof="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62845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B8C8D8"/>
                </a:solidFill>
              </a:rPr>
              <a:t>Conception et Réalisation d'une</a:t>
            </a:r>
            <a:endParaRPr lang="fr-F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574118"/>
            <a:ext cx="8046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800" b="1" noProof="0" dirty="0">
                <a:solidFill>
                  <a:srgbClr val="FFFFFF"/>
                </a:solidFill>
              </a:rPr>
              <a:t>Plateforme</a:t>
            </a:r>
            <a:r>
              <a:rPr lang="fr-FR" sz="4400" b="1" noProof="0" dirty="0">
                <a:solidFill>
                  <a:srgbClr val="FFFFFF"/>
                </a:solidFill>
              </a:rPr>
              <a:t> </a:t>
            </a:r>
            <a:r>
              <a:rPr lang="fr-FR" sz="4800" b="1" noProof="0" dirty="0">
                <a:solidFill>
                  <a:srgbClr val="FFFFFF"/>
                </a:solidFill>
              </a:rPr>
              <a:t>de</a:t>
            </a:r>
            <a:endParaRPr lang="fr-FR" sz="4400" noProof="0" dirty="0"/>
          </a:p>
          <a:p>
            <a:pPr marL="0" indent="0" algn="ctr">
              <a:buNone/>
            </a:pPr>
            <a:r>
              <a:rPr lang="fr-FR" sz="4800" b="1" noProof="0" dirty="0">
                <a:solidFill>
                  <a:srgbClr val="FFFFFF"/>
                </a:solidFill>
              </a:rPr>
              <a:t>Financement</a:t>
            </a:r>
            <a:r>
              <a:rPr lang="fr-FR" sz="4400" b="1" noProof="0" dirty="0">
                <a:solidFill>
                  <a:srgbClr val="FFFFFF"/>
                </a:solidFill>
              </a:rPr>
              <a:t> </a:t>
            </a:r>
            <a:r>
              <a:rPr lang="fr-FR" sz="4800" b="1" noProof="0" dirty="0">
                <a:solidFill>
                  <a:srgbClr val="FFFFFF"/>
                </a:solidFill>
              </a:rPr>
              <a:t>Collaboratif</a:t>
            </a:r>
            <a:endParaRPr lang="fr-FR" sz="44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3310128"/>
            <a:ext cx="4114800" cy="3657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341985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noProof="0" dirty="0">
                <a:solidFill>
                  <a:srgbClr val="B8C8D8"/>
                </a:solidFill>
              </a:rPr>
              <a:t>Organisme d'accueil : </a:t>
            </a:r>
            <a:r>
              <a:rPr lang="fr-FR" sz="1150" b="1" noProof="0" dirty="0" err="1">
                <a:solidFill>
                  <a:srgbClr val="FFFFFF"/>
                </a:solidFill>
              </a:rPr>
              <a:t>Aziin</a:t>
            </a:r>
            <a:r>
              <a:rPr lang="fr-FR" sz="1150" b="1" noProof="0" dirty="0">
                <a:solidFill>
                  <a:srgbClr val="FFFFFF"/>
                </a:solidFill>
              </a:rPr>
              <a:t> Engineering Solution, Sfax</a:t>
            </a:r>
            <a:endParaRPr lang="fr-FR" sz="1150" noProof="0" dirty="0"/>
          </a:p>
        </p:txBody>
      </p:sp>
      <p:sp>
        <p:nvSpPr>
          <p:cNvPr id="10" name="Text 8"/>
          <p:cNvSpPr/>
          <p:nvPr/>
        </p:nvSpPr>
        <p:spPr>
          <a:xfrm>
            <a:off x="320040" y="37490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noProof="0" dirty="0">
                <a:solidFill>
                  <a:srgbClr val="B8C8D8"/>
                </a:solidFill>
              </a:rPr>
              <a:t>Élaboré par : </a:t>
            </a:r>
            <a:r>
              <a:rPr lang="fr-FR" sz="1150" b="1" noProof="0" dirty="0" err="1">
                <a:solidFill>
                  <a:srgbClr val="FFFFFF"/>
                </a:solidFill>
              </a:rPr>
              <a:t>Gdoura</a:t>
            </a:r>
            <a:r>
              <a:rPr lang="fr-FR" sz="1150" b="1" noProof="0" dirty="0">
                <a:solidFill>
                  <a:srgbClr val="FFFFFF"/>
                </a:solidFill>
              </a:rPr>
              <a:t> Karim</a:t>
            </a:r>
            <a:endParaRPr lang="fr-F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320040" y="40782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noProof="0" dirty="0">
                <a:solidFill>
                  <a:srgbClr val="B8C8D8"/>
                </a:solidFill>
              </a:rPr>
              <a:t>Encadrant : </a:t>
            </a:r>
            <a:r>
              <a:rPr lang="fr-FR" sz="1150" b="1" noProof="0" dirty="0">
                <a:solidFill>
                  <a:srgbClr val="FFFFFF"/>
                </a:solidFill>
              </a:rPr>
              <a:t>M. Iskandar </a:t>
            </a:r>
            <a:r>
              <a:rPr lang="fr-FR" sz="1150" b="1" noProof="0" dirty="0" err="1">
                <a:solidFill>
                  <a:srgbClr val="FFFFFF"/>
                </a:solidFill>
              </a:rPr>
              <a:t>Keskes</a:t>
            </a:r>
            <a:endParaRPr lang="fr-FR" sz="1150" noProof="0" dirty="0"/>
          </a:p>
        </p:txBody>
      </p:sp>
      <p:sp>
        <p:nvSpPr>
          <p:cNvPr id="12" name="Text 10"/>
          <p:cNvSpPr/>
          <p:nvPr/>
        </p:nvSpPr>
        <p:spPr>
          <a:xfrm>
            <a:off x="1554480" y="46309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50" noProof="0" dirty="0">
                <a:solidFill>
                  <a:srgbClr val="B8C8D8"/>
                </a:solidFill>
              </a:rPr>
              <a:t>Année universitaire : </a:t>
            </a:r>
            <a:r>
              <a:rPr lang="fr-FR" sz="1150" b="1" noProof="0" dirty="0">
                <a:solidFill>
                  <a:srgbClr val="FFFFFF"/>
                </a:solidFill>
              </a:rPr>
              <a:t>2025–2026</a:t>
            </a:r>
            <a:endParaRPr lang="fr-FR" sz="1150" noProof="0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EEFCFA7A-BA90-2877-A541-F4BBE1C2ED37}"/>
              </a:ext>
            </a:extLst>
          </p:cNvPr>
          <p:cNvGrpSpPr/>
          <p:nvPr/>
        </p:nvGrpSpPr>
        <p:grpSpPr>
          <a:xfrm>
            <a:off x="182880" y="172790"/>
            <a:ext cx="1158240" cy="1116246"/>
            <a:chOff x="45720" y="53557"/>
            <a:chExt cx="1158240" cy="1116246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84F6D29-7DF7-BBA7-309B-52C1A320F0F7}"/>
                </a:ext>
              </a:extLst>
            </p:cNvPr>
            <p:cNvSpPr/>
            <p:nvPr/>
          </p:nvSpPr>
          <p:spPr>
            <a:xfrm>
              <a:off x="45720" y="53557"/>
              <a:ext cx="1158240" cy="1116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80AE8344-F1C3-9E75-FE89-2BF033062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148" y="194465"/>
              <a:ext cx="799384" cy="834429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C689531-1222-47D8-652E-30A52BF0648C}"/>
              </a:ext>
            </a:extLst>
          </p:cNvPr>
          <p:cNvGrpSpPr/>
          <p:nvPr/>
        </p:nvGrpSpPr>
        <p:grpSpPr>
          <a:xfrm>
            <a:off x="7787640" y="156811"/>
            <a:ext cx="1158240" cy="1116246"/>
            <a:chOff x="7057282" y="156811"/>
            <a:chExt cx="1158240" cy="1116246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9BF74F4E-A8FE-8056-7C3D-DAB9A9E0A630}"/>
                </a:ext>
              </a:extLst>
            </p:cNvPr>
            <p:cNvSpPr/>
            <p:nvPr/>
          </p:nvSpPr>
          <p:spPr>
            <a:xfrm>
              <a:off x="7057282" y="156811"/>
              <a:ext cx="1158240" cy="1116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11E8582-78BE-5990-983B-DE658DD67FBD}"/>
                </a:ext>
              </a:extLst>
            </p:cNvPr>
            <p:cNvSpPr/>
            <p:nvPr/>
          </p:nvSpPr>
          <p:spPr>
            <a:xfrm>
              <a:off x="7284156" y="340663"/>
              <a:ext cx="704492" cy="748541"/>
            </a:xfrm>
            <a:custGeom>
              <a:avLst/>
              <a:gdLst/>
              <a:ahLst/>
              <a:cxnLst/>
              <a:rect l="l" t="t" r="r" b="b"/>
              <a:pathLst>
                <a:path w="1788191" h="1812856">
                  <a:moveTo>
                    <a:pt x="0" y="0"/>
                  </a:moveTo>
                  <a:lnTo>
                    <a:pt x="1788191" y="0"/>
                  </a:lnTo>
                  <a:lnTo>
                    <a:pt x="1788191" y="1812855"/>
                  </a:lnTo>
                  <a:lnTo>
                    <a:pt x="0" y="1812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</a:rPr>
              <a:t>PLAN DE LA PRÉSENTATION</a:t>
            </a:r>
            <a:endParaRPr lang="fr-FR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029968" cy="202996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56032" y="96926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01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56616" y="1856232"/>
            <a:ext cx="18288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</a:rPr>
              <a:t>Mise en Contexte</a:t>
            </a:r>
          </a:p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</a:rPr>
              <a:t>&amp; Organisme d'accueil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2432304" y="914400"/>
            <a:ext cx="2029968" cy="20299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2432304" y="96926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02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08576" y="914400"/>
            <a:ext cx="2029968" cy="2029968"/>
          </a:xfrm>
          <a:prstGeom prst="rect">
            <a:avLst/>
          </a:prstGeom>
          <a:solidFill>
            <a:srgbClr val="1A6B82"/>
          </a:solidFill>
          <a:ln w="12700">
            <a:solidFill>
              <a:srgbClr val="1A6B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2633472" y="1645920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2432304" y="1755648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FFFFFF"/>
                </a:solidFill>
              </a:rPr>
              <a:t>Problématique</a:t>
            </a:r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608576" y="96926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03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9744" y="1645920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608576" y="1740950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</a:rPr>
              <a:t>Solution Proposée</a:t>
            </a:r>
            <a:endParaRPr lang="fr-FR" sz="1600" noProof="0" dirty="0"/>
          </a:p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</a:rPr>
              <a:t>&amp; Avantages</a:t>
            </a:r>
            <a:endParaRPr lang="fr-FR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6784848" y="914400"/>
            <a:ext cx="2029968" cy="2029968"/>
          </a:xfrm>
          <a:prstGeom prst="rect">
            <a:avLst/>
          </a:prstGeom>
          <a:solidFill>
            <a:srgbClr val="145F70"/>
          </a:solidFill>
          <a:ln w="12700">
            <a:solidFill>
              <a:srgbClr val="145F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6784848" y="96926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04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86016" y="1645920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6784848" y="1700784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FFFFFF"/>
                </a:solidFill>
              </a:rPr>
              <a:t>Cas d'Utilisation</a:t>
            </a:r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256032" y="3053283"/>
            <a:ext cx="2029968" cy="2029968"/>
          </a:xfrm>
          <a:prstGeom prst="rect">
            <a:avLst/>
          </a:prstGeom>
          <a:solidFill>
            <a:srgbClr val="0A4F5E"/>
          </a:solidFill>
          <a:ln w="12700">
            <a:solidFill>
              <a:srgbClr val="0A4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256032" y="3108147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05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56032" y="3784803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256032" y="3839667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</a:rPr>
              <a:t>Modèle du Domaine</a:t>
            </a:r>
            <a:endParaRPr lang="fr-FR" sz="1600" noProof="0" dirty="0"/>
          </a:p>
        </p:txBody>
      </p:sp>
      <p:sp>
        <p:nvSpPr>
          <p:cNvPr id="30" name="Shape 28"/>
          <p:cNvSpPr/>
          <p:nvPr/>
        </p:nvSpPr>
        <p:spPr>
          <a:xfrm>
            <a:off x="2432304" y="3053283"/>
            <a:ext cx="2029968" cy="202996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7D3C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2432304" y="3108147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06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432304" y="3784803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2432304" y="3839667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FFFFFF"/>
                </a:solidFill>
              </a:rPr>
              <a:t>Architecture</a:t>
            </a:r>
            <a:endParaRPr lang="fr-FR" noProof="0" dirty="0"/>
          </a:p>
          <a:p>
            <a:pPr marL="0" indent="0" algn="ctr">
              <a:buNone/>
            </a:pPr>
            <a:r>
              <a:rPr lang="fr-FR" b="1" noProof="0" dirty="0">
                <a:solidFill>
                  <a:srgbClr val="FFFFFF"/>
                </a:solidFill>
              </a:rPr>
              <a:t>&amp; Technologies</a:t>
            </a:r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4608576" y="3053283"/>
            <a:ext cx="2029968" cy="20299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4608576" y="3108147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07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08576" y="3784803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4608576" y="3839667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FFFFFF"/>
                </a:solidFill>
              </a:rPr>
              <a:t>Réalisation</a:t>
            </a:r>
            <a:endParaRPr lang="fr-FR" noProof="0" dirty="0"/>
          </a:p>
        </p:txBody>
      </p:sp>
      <p:sp>
        <p:nvSpPr>
          <p:cNvPr id="9" name="Shape 33"/>
          <p:cNvSpPr/>
          <p:nvPr/>
        </p:nvSpPr>
        <p:spPr>
          <a:xfrm>
            <a:off x="6784848" y="3053283"/>
            <a:ext cx="2029968" cy="20299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34"/>
          <p:cNvSpPr/>
          <p:nvPr/>
        </p:nvSpPr>
        <p:spPr>
          <a:xfrm>
            <a:off x="6784848" y="3108147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chemeClr val="bg1"/>
                </a:solidFill>
              </a:rPr>
              <a:t>08</a:t>
            </a:r>
            <a:endParaRPr lang="fr-FR" sz="3000" noProof="0" dirty="0">
              <a:solidFill>
                <a:schemeClr val="bg1"/>
              </a:solidFill>
            </a:endParaRPr>
          </a:p>
        </p:txBody>
      </p:sp>
      <p:sp>
        <p:nvSpPr>
          <p:cNvPr id="19" name="Shape 35"/>
          <p:cNvSpPr/>
          <p:nvPr/>
        </p:nvSpPr>
        <p:spPr>
          <a:xfrm>
            <a:off x="6784848" y="3784803"/>
            <a:ext cx="1627632" cy="32918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36"/>
          <p:cNvSpPr/>
          <p:nvPr/>
        </p:nvSpPr>
        <p:spPr>
          <a:xfrm>
            <a:off x="6784848" y="3839667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FFFFFF"/>
                </a:solidFill>
              </a:rPr>
              <a:t>Conclusion</a:t>
            </a:r>
            <a:endParaRPr lang="fr-F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F011-8AAC-EF07-9E87-68BABA7FC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AC3927-5119-D723-2922-570DFC92E196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5510FF-7DF2-ACA5-38D6-32ACE73E3969}"/>
              </a:ext>
            </a:extLst>
          </p:cNvPr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D57397-04DA-3D0F-E1D8-8007B707CEEC}"/>
              </a:ext>
            </a:extLst>
          </p:cNvPr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b="1" noProof="0" dirty="0">
                <a:solidFill>
                  <a:schemeClr val="bg1"/>
                </a:solidFill>
              </a:rPr>
              <a:t>01  —  MISE EN CONTEXTE &amp; ORGANISME D'ACCUEIL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85039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2C56"/>
                </a:solidFill>
                <a:latin typeface="Calibri"/>
              </a:rPr>
              <a:t>Organisme</a:t>
            </a:r>
            <a:r>
              <a:rPr sz="1400" b="1" i="0" dirty="0">
                <a:solidFill>
                  <a:srgbClr val="1A2C56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2C56"/>
                </a:solidFill>
                <a:latin typeface="Calibri"/>
              </a:rPr>
              <a:t>d'accueil</a:t>
            </a:r>
            <a:endParaRPr lang="en-US" sz="1400" b="1" i="0" dirty="0" err="1">
              <a:solidFill>
                <a:srgbClr val="1A2C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4572000" cy="3520440"/>
          </a:xfrm>
          <a:prstGeom prst="rect">
            <a:avLst/>
          </a:prstGeom>
          <a:solidFill>
            <a:srgbClr val="162240"/>
          </a:solidFill>
          <a:ln w="12700">
            <a:solidFill>
              <a:srgbClr val="0D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572000" cy="54864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5331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899"/>
                </a:solidFill>
                <a:latin typeface="Calibri"/>
              </a:rPr>
              <a:t>Aziin Engineering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783080"/>
            <a:ext cx="42976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 i="0" dirty="0">
                <a:solidFill>
                  <a:srgbClr val="B8C8D8"/>
                </a:solidFill>
                <a:latin typeface="Calibri"/>
              </a:rPr>
              <a:t>Sfax, </a:t>
            </a:r>
            <a:r>
              <a:rPr sz="1200" b="0" i="0" dirty="0" err="1">
                <a:solidFill>
                  <a:srgbClr val="B8C8D8"/>
                </a:solidFill>
                <a:latin typeface="Calibri"/>
              </a:rPr>
              <a:t>Tunisie</a:t>
            </a:r>
            <a:endParaRPr lang="en-US" sz="1200" b="0" i="0" dirty="0" err="1">
              <a:solidFill>
                <a:srgbClr val="B8C8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" y="2212848"/>
            <a:ext cx="10972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1" i="0" dirty="0" err="1">
                <a:solidFill>
                  <a:srgbClr val="16A899"/>
                </a:solidFill>
                <a:latin typeface="Calibri"/>
              </a:rPr>
              <a:t>Activité</a:t>
            </a:r>
            <a:r>
              <a:rPr sz="1200" b="1" i="0" dirty="0">
                <a:solidFill>
                  <a:srgbClr val="16A899"/>
                </a:solidFill>
                <a:latin typeface="Calibri"/>
              </a:rPr>
              <a:t> :</a:t>
            </a:r>
            <a:endParaRPr lang="en-US" sz="1200" b="1" i="0" dirty="0">
              <a:solidFill>
                <a:srgbClr val="16A89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7632" y="2212848"/>
            <a:ext cx="31546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Conception et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développement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de solutions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informatiques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sur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mesure</a:t>
            </a:r>
            <a:endParaRPr lang="en-US" sz="1200" b="0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" y="2926080"/>
            <a:ext cx="10972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1" i="0">
                <a:solidFill>
                  <a:srgbClr val="16A899"/>
                </a:solidFill>
                <a:latin typeface="Calibri"/>
              </a:rPr>
              <a:t>Nature :</a:t>
            </a:r>
            <a:endParaRPr lang="en-US" sz="1200" b="1" i="0">
              <a:solidFill>
                <a:srgbClr val="16A89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27632" y="2926080"/>
            <a:ext cx="31546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Société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privée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— équipe agile, communication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directe</a:t>
            </a:r>
            <a:endParaRPr lang="en-US" sz="1200" b="0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" y="3639312"/>
            <a:ext cx="10972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1" i="0">
                <a:solidFill>
                  <a:srgbClr val="16A899"/>
                </a:solidFill>
                <a:latin typeface="Calibri"/>
              </a:rPr>
              <a:t>Mission :</a:t>
            </a:r>
            <a:endParaRPr lang="en-US" sz="1200" b="1" i="0">
              <a:solidFill>
                <a:srgbClr val="16A89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27632" y="3639312"/>
            <a:ext cx="31546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Porter la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plateforme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l'expression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du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besoin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jusqu'au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produit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final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opérationnel</a:t>
            </a:r>
            <a:endParaRPr lang="en-US" sz="1200" b="0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0" y="1278680"/>
            <a:ext cx="3715422" cy="3510221"/>
          </a:xfrm>
          <a:prstGeom prst="rect">
            <a:avLst/>
          </a:prstGeom>
          <a:solidFill>
            <a:srgbClr val="0D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0" y="1261872"/>
            <a:ext cx="3749039" cy="54864"/>
          </a:xfrm>
          <a:prstGeom prst="rect">
            <a:avLst/>
          </a:prstGeom>
          <a:solidFill>
            <a:srgbClr val="16A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335024"/>
            <a:ext cx="347472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Rôle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dans le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projet</a:t>
            </a:r>
            <a:endParaRPr lang="en-US" sz="1600" b="1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55581" y="1703743"/>
            <a:ext cx="3480637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 dirty="0" err="1">
                <a:solidFill>
                  <a:srgbClr val="FFFFFF"/>
                </a:solidFill>
                <a:latin typeface="Calibri"/>
              </a:rPr>
              <a:t>Encadrement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et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accompagnement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du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développement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— de la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définition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du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besoin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fonctionnel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jusqu'à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la livraison du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produit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final.</a:t>
            </a:r>
          </a:p>
        </p:txBody>
      </p:sp>
    </p:spTree>
    <p:extLst>
      <p:ext uri="{BB962C8B-B14F-4D97-AF65-F5344CB8AC3E}">
        <p14:creationId xmlns:p14="http://schemas.microsoft.com/office/powerpoint/2010/main" val="93030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b="1" noProof="0" dirty="0">
                <a:solidFill>
                  <a:schemeClr val="bg1"/>
                </a:solidFill>
              </a:rPr>
              <a:t>01  —  </a:t>
            </a:r>
            <a:r>
              <a:rPr lang="fr-FR" sz="1650" b="1" noProof="0" dirty="0">
                <a:solidFill>
                  <a:srgbClr val="FFFFFF"/>
                </a:solidFill>
              </a:rPr>
              <a:t>MISE EN CONTEXTE &amp; ORGANISME D'ACCUEIL</a:t>
            </a:r>
            <a:endParaRPr lang="fr-FR" sz="1650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Contexte du projet</a:t>
            </a:r>
            <a:endParaRPr lang="fr-FR" sz="1150" noProof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750909" y="1303087"/>
            <a:ext cx="614239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1750910" y="1303087"/>
            <a:ext cx="64008" cy="113385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>
              <a:solidFill>
                <a:srgbClr val="0D768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915500" y="1442617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rgbClr val="1A2C56"/>
                </a:solidFill>
              </a:rPr>
              <a:t>Un financement solidaire, sans retour financier</a:t>
            </a:r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915501" y="1741999"/>
            <a:ext cx="5433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64748B"/>
                </a:solidFill>
              </a:rPr>
              <a:t>Don participative, soutien des projets par conviction et solidarité sans attendre de retour financier. (Opérations encadrées par la loi n°2020-37 (BCT, 2020)).</a:t>
            </a:r>
            <a:endParaRPr lang="fr-F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1750910" y="2537527"/>
            <a:ext cx="614239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1750910" y="2537527"/>
            <a:ext cx="64008" cy="113385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1915500" y="2647255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rgbClr val="1A2C56"/>
                </a:solidFill>
              </a:rPr>
              <a:t>Aider chacun à réaliser son projet</a:t>
            </a:r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1915502" y="2976439"/>
            <a:ext cx="5629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64748B"/>
                </a:solidFill>
              </a:rPr>
              <a:t>Mission : Permettre la concrétisation de projets porteurs de sens, créateurs d'emplois et moteurs de croissance économique.</a:t>
            </a:r>
            <a:endParaRPr lang="fr-F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1750910" y="3771967"/>
            <a:ext cx="614239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1750910" y="3771967"/>
            <a:ext cx="64008" cy="113385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1915500" y="3905233"/>
            <a:ext cx="5264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rgbClr val="1A2C56"/>
                </a:solidFill>
              </a:rPr>
              <a:t>Les entreprises communautaires au cœur du projet</a:t>
            </a:r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1915502" y="4210879"/>
            <a:ext cx="61423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64748B"/>
                </a:solidFill>
              </a:rPr>
              <a:t>Obligation légale de réinvestir ~35% de leurs bénéfices dans leur communauté. </a:t>
            </a:r>
          </a:p>
          <a:p>
            <a:r>
              <a:rPr lang="fr-FR" sz="1200" noProof="0" dirty="0">
                <a:solidFill>
                  <a:srgbClr val="64748B"/>
                </a:solidFill>
              </a:rPr>
              <a:t>Les financer </a:t>
            </a:r>
            <a:r>
              <a:rPr lang="fr-FR" sz="1200" noProof="0" dirty="0">
                <a:solidFill>
                  <a:srgbClr val="64748B"/>
                </a:solidFill>
                <a:sym typeface="Wingdings" panose="05000000000000000000" pitchFamily="2" charset="2"/>
              </a:rPr>
              <a:t></a:t>
            </a:r>
            <a:r>
              <a:rPr lang="fr-FR" sz="1200" noProof="0" dirty="0">
                <a:solidFill>
                  <a:srgbClr val="64748B"/>
                </a:solidFill>
              </a:rPr>
              <a:t> Créer un </a:t>
            </a:r>
            <a:r>
              <a:rPr lang="fr-FR" sz="1200" dirty="0">
                <a:solidFill>
                  <a:srgbClr val="64748B"/>
                </a:solidFill>
              </a:rPr>
              <a:t>cercle vertueux (Emplois locaux, services de proximité, développement territorial durable).</a:t>
            </a:r>
            <a:endParaRPr lang="fr-FR" sz="1200" noProof="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0F85F15-AAA8-F445-6C0A-F5D7685C8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97" y="3826320"/>
            <a:ext cx="1090848" cy="109084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67547EA-8079-B127-4AF2-BCF8D1984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44" y="2662371"/>
            <a:ext cx="951155" cy="95115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BEF5EC34-55DA-D66C-747A-F166B1A7C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47" y="1448048"/>
            <a:ext cx="951155" cy="951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b="1" noProof="0" dirty="0">
                <a:solidFill>
                  <a:schemeClr val="bg1"/>
                </a:solidFill>
              </a:rPr>
              <a:t>02  —  PROBLÉMATIQUE</a:t>
            </a:r>
          </a:p>
        </p:txBody>
      </p:sp>
      <p:sp>
        <p:nvSpPr>
          <p:cNvPr id="6" name="Text 4"/>
          <p:cNvSpPr/>
          <p:nvPr/>
        </p:nvSpPr>
        <p:spPr>
          <a:xfrm>
            <a:off x="2700000" y="830000"/>
            <a:ext cx="6200000" cy="820000"/>
          </a:xfrm>
          <a:prstGeom prst="rect">
            <a:avLst/>
          </a:prstGeom>
          <a:noFill/>
          <a:ln/>
        </p:spPr>
        <p:txBody>
          <a:bodyPr wrap="square" lIns="50800" tIns="30000" rIns="50800" bIns="30000" rtlCol="0" anchor="t"/>
          <a:lstStyle/>
          <a:p>
            <a:r>
              <a:rPr lang="fr-FR" sz="1050" b="1" noProof="0">
                <a:solidFill>
                  <a:srgbClr val="0D7680"/>
                </a:solidFill>
              </a:rPr>
              <a:t>•</a:t>
            </a:r>
            <a:r>
              <a:rPr lang="fr-FR" sz="1100" b="1" noProof="0" dirty="0">
                <a:solidFill>
                  <a:srgbClr val="0D7680"/>
                </a:solidFill>
              </a:rPr>
              <a:t> </a:t>
            </a:r>
            <a:r>
              <a:rPr lang="fr-FR" sz="1100" b="1" dirty="0">
                <a:solidFill>
                  <a:srgbClr val="0D7680"/>
                </a:solidFill>
              </a:rPr>
              <a:t> </a:t>
            </a:r>
            <a:r>
              <a:rPr lang="fr-FR" sz="1100" b="1">
                <a:solidFill>
                  <a:srgbClr val="0D7680"/>
                </a:solidFill>
                <a:ea typeface="+mn-lt"/>
                <a:cs typeface="+mn-lt"/>
              </a:rPr>
              <a:t>le</a:t>
            </a:r>
            <a:r>
              <a:rPr lang="fr-FR" sz="1100" b="1" noProof="0">
                <a:solidFill>
                  <a:srgbClr val="0D7680"/>
                </a:solidFill>
                <a:ea typeface="+mn-lt"/>
                <a:cs typeface="+mn-lt"/>
              </a:rPr>
              <a:t> potentiel </a:t>
            </a:r>
            <a:r>
              <a:rPr lang="fr-FR" sz="1100" b="1">
                <a:solidFill>
                  <a:srgbClr val="0D7680"/>
                </a:solidFill>
                <a:ea typeface="+mn-lt"/>
                <a:cs typeface="+mn-lt"/>
              </a:rPr>
              <a:t>des entreprises communautaires</a:t>
            </a:r>
            <a:r>
              <a:rPr lang="fr-FR" sz="1100" b="1">
                <a:solidFill>
                  <a:srgbClr val="0D7680"/>
                </a:solidFill>
              </a:rPr>
              <a:t> </a:t>
            </a:r>
            <a:r>
              <a:rPr lang="fr-FR" sz="1100" b="1" noProof="0">
                <a:solidFill>
                  <a:srgbClr val="0D7680"/>
                </a:solidFill>
              </a:rPr>
              <a:t>économique reste sous-exploité : elles manquent d’accès au financement participatif et de visibilité auprès du </a:t>
            </a:r>
            <a:r>
              <a:rPr lang="fr-FR" sz="1100" b="1" noProof="0" dirty="0">
                <a:solidFill>
                  <a:srgbClr val="0D7680"/>
                </a:solidFill>
              </a:rPr>
              <a:t>grand public.</a:t>
            </a:r>
            <a:endParaRPr lang="fr-FR" sz="1100" b="1" noProof="0">
              <a:solidFill>
                <a:srgbClr val="0D7680"/>
              </a:solidFill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fr-FR" sz="1100" b="1" noProof="0" dirty="0">
                <a:solidFill>
                  <a:srgbClr val="0D7680"/>
                </a:solidFill>
              </a:rPr>
              <a:t>•  Il n’existe aucune plateforme conforme au cadre BCT 2020 couvrant l’ensemble du cycle : collecte, validation, retrait et traçabilité.</a:t>
            </a:r>
            <a:endParaRPr lang="fr-FR" sz="1100" b="1" noProof="0">
              <a:solidFill>
                <a:srgbClr val="0D7680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46120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2</a:t>
            </a:r>
            <a:endParaRPr lang="fr-FR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6126480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3</a:t>
            </a:r>
            <a:endParaRPr lang="fr-FR" sz="1400" noProof="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842D08C0-79DB-2392-FFCB-B23C2B86F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113" y="1471050"/>
            <a:ext cx="2931500" cy="2931500"/>
          </a:xfrm>
          <a:prstGeom prst="rect">
            <a:avLst/>
          </a:prstGeom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ADBF6363-396E-522F-543F-9E8E19974375}"/>
              </a:ext>
            </a:extLst>
          </p:cNvPr>
          <p:cNvSpPr txBox="1"/>
          <p:nvPr/>
        </p:nvSpPr>
        <p:spPr>
          <a:xfrm>
            <a:off x="2169914" y="1691015"/>
            <a:ext cx="65168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2400" b="1" i="1" noProof="0" dirty="0">
                <a:solidFill>
                  <a:srgbClr val="162240"/>
                </a:solidFill>
              </a:rPr>
              <a:t>Comment concevoir une plateforme de financement participatif qui catalyse l’essor des entreprises communautaires tunisiennes, stimule la création d’emplois locaux et le réinvestissement économique territorial — tout en garantissant la confiance des contributeurs, la transparence des fonds collectés et la conformité au cadre réglementaire BCT ?</a:t>
            </a:r>
            <a:endParaRPr lang="fr-FR" sz="2400" noProof="0" dirty="0">
              <a:solidFill>
                <a:srgbClr val="16224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b="1" noProof="0" dirty="0">
                <a:solidFill>
                  <a:schemeClr val="bg1"/>
                </a:solidFill>
              </a:rPr>
              <a:t>03  —  SOLUTION PROPOSÉE &amp; AVANTAGES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859535"/>
            <a:ext cx="8595360" cy="91480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859535"/>
            <a:ext cx="54864" cy="91480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438912" y="859535"/>
            <a:ext cx="8430768" cy="914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noProof="0">
                <a:solidFill>
                  <a:srgbClr val="C00000"/>
                </a:solidFill>
              </a:rPr>
              <a:t>Plateforme web</a:t>
            </a:r>
            <a:r>
              <a:rPr lang="fr-FR" sz="1600" b="1">
                <a:solidFill>
                  <a:srgbClr val="C00000"/>
                </a:solidFill>
              </a:rPr>
              <a:t> </a:t>
            </a:r>
            <a:r>
              <a:rPr lang="fr-FR" sz="1600" noProof="0">
                <a:solidFill>
                  <a:srgbClr val="1E2D3D"/>
                </a:solidFill>
              </a:rPr>
              <a:t>mettant en relation porteurs de projet, investisseurs, experts et </a:t>
            </a:r>
            <a:r>
              <a:rPr lang="fr-FR" sz="1600" noProof="0" dirty="0">
                <a:solidFill>
                  <a:srgbClr val="1E2D3D"/>
                </a:solidFill>
              </a:rPr>
              <a:t>administrateurs, combinant crowdfunding, analyse IA, assistant conversationnel, consultation expert et gouvernance explicite du cycle de vie, conforme au cadre BCT.</a:t>
            </a:r>
            <a:endParaRPr lang="fr-FR" sz="16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555027"/>
              </p:ext>
            </p:extLst>
          </p:nvPr>
        </p:nvGraphicFramePr>
        <p:xfrm>
          <a:off x="301752" y="1851151"/>
          <a:ext cx="8595360" cy="29748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Kickstarter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 err="1">
                          <a:solidFill>
                            <a:srgbClr val="FFFFFF"/>
                          </a:solidFill>
                        </a:rPr>
                        <a:t>Indiegogo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 err="1">
                          <a:solidFill>
                            <a:srgbClr val="FFFFFF"/>
                          </a:solidFill>
                        </a:rPr>
                        <a:t>CoFundy</a:t>
                      </a: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 (TN)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 err="1">
                          <a:solidFill>
                            <a:srgbClr val="FFFFFF"/>
                          </a:solidFill>
                        </a:rPr>
                        <a:t>Kaoun</a:t>
                      </a: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 (TN)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Notre solution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Analyse de risque automatisée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Oui — IA + heuristiques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6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Recommandations personnalisées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Limité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Oui — score déterministe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6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Assistance investisseur (IA/expert)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Limitée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Limitée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Assistant + consultation ≥30%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6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Paiement &amp; retraits (contexte TN)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Non/US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Non/US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Partiel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Oui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Oui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6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Gouvernance (modération, audit)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Partielle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Partielle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Partielle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noProof="0" dirty="0">
                          <a:solidFill>
                            <a:srgbClr val="000000"/>
                          </a:solidFill>
                        </a:rPr>
                        <a:t>Limitée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400" b="1" noProof="0" dirty="0">
                          <a:solidFill>
                            <a:srgbClr val="FFFFFF"/>
                          </a:solidFill>
                        </a:rPr>
                        <a:t>Complète</a:t>
                      </a:r>
                      <a:endParaRPr lang="fr-FR" sz="1400" noProof="0" dirty="0"/>
                    </a:p>
                  </a:txBody>
                  <a:tcPr>
                    <a:lnL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6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noProof="0" dirty="0">
                <a:solidFill>
                  <a:srgbClr val="16A899"/>
                </a:solidFill>
              </a:rPr>
              <a:t>04  —  </a:t>
            </a:r>
            <a:r>
              <a:rPr lang="fr-FR" sz="1650" b="1" noProof="0" dirty="0">
                <a:solidFill>
                  <a:srgbClr val="FFFFFF"/>
                </a:solidFill>
              </a:rPr>
              <a:t>ACTEURS &amp; DIAGRAMME DES CAS D'UTILISATION</a:t>
            </a:r>
            <a:endParaRPr lang="fr-FR" sz="1650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C56"/>
                </a:solidFill>
              </a:rPr>
              <a:t>Acteurs (§2.2)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514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64008" cy="76809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420624" y="1316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C56"/>
                </a:solidFill>
              </a:rPr>
              <a:t>Visiteur</a:t>
            </a:r>
            <a:endParaRPr lang="fr-FR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420624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Consulte les projets publics et peut s'inscrire sur la plateforme</a:t>
            </a:r>
            <a:endParaRPr lang="fr-F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2514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64008" cy="76809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20624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C56"/>
                </a:solidFill>
              </a:rPr>
              <a:t>Utilisateur</a:t>
            </a:r>
            <a:endParaRPr lang="fr-F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20624" y="2468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Porteur de projet (crée, soumet) et/ou Investisseur (contribue)</a:t>
            </a:r>
            <a:endParaRPr lang="fr-F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2514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64008" cy="768096"/>
          </a:xfrm>
          <a:prstGeom prst="rect">
            <a:avLst/>
          </a:prstGeom>
          <a:solidFill>
            <a:srgbClr val="1A6B82"/>
          </a:solidFill>
          <a:ln w="12700">
            <a:solidFill>
              <a:srgbClr val="1A6B8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20624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C56"/>
                </a:solidFill>
              </a:rPr>
              <a:t>Expert en finance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20624" y="3310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Évalue les projets soumis et accompagne les consultations ≥ 30%</a:t>
            </a:r>
            <a:endParaRPr lang="fr-FR" sz="90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3785616"/>
            <a:ext cx="2514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3785616"/>
            <a:ext cx="64008" cy="768096"/>
          </a:xfrm>
          <a:prstGeom prst="rect">
            <a:avLst/>
          </a:prstGeom>
          <a:solidFill>
            <a:srgbClr val="145F70"/>
          </a:solidFill>
          <a:ln w="12700">
            <a:solidFill>
              <a:srgbClr val="145F7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20624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C56"/>
                </a:solidFill>
              </a:rPr>
              <a:t>Administrateur</a:t>
            </a:r>
            <a:endParaRPr lang="fr-F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20624" y="4151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</a:rPr>
              <a:t>Gère la gouvernance globale : publication, modération, retraits</a:t>
            </a:r>
            <a:endParaRPr lang="fr-FR" sz="900" noProof="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1800" y="868680"/>
            <a:ext cx="5943600" cy="4114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975244" y="4987362"/>
            <a:ext cx="1525985" cy="154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00" i="1">
                <a:solidFill>
                  <a:srgbClr val="64748B"/>
                </a:solidFill>
              </a:rPr>
              <a:t> </a:t>
            </a:r>
            <a:r>
              <a:rPr lang="fr-FR" sz="800" i="1" noProof="0">
                <a:solidFill>
                  <a:srgbClr val="64748B"/>
                </a:solidFill>
              </a:rPr>
              <a:t>Diagramme des cas d'utilisation</a:t>
            </a:r>
            <a:endParaRPr lang="fr-FR" sz="800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noProof="0" dirty="0">
                <a:solidFill>
                  <a:srgbClr val="16A899"/>
                </a:solidFill>
              </a:rPr>
              <a:t>04  —  </a:t>
            </a:r>
            <a:r>
              <a:rPr lang="fr-FR" sz="1650" b="1" noProof="0" dirty="0">
                <a:solidFill>
                  <a:srgbClr val="FFFFFF"/>
                </a:solidFill>
              </a:rPr>
              <a:t>CYCLE DE VIE D'UN PROJET — 9 ÉTATS (§1.2.2)</a:t>
            </a:r>
            <a:endParaRPr lang="fr-FR" sz="165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536192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DRAFT</a:t>
            </a:r>
            <a:endParaRPr lang="fr-FR" sz="850" noProof="0" dirty="0"/>
          </a:p>
        </p:txBody>
      </p:sp>
      <p:sp>
        <p:nvSpPr>
          <p:cNvPr id="7" name="Shape 5"/>
          <p:cNvSpPr/>
          <p:nvPr/>
        </p:nvSpPr>
        <p:spPr>
          <a:xfrm>
            <a:off x="1938528" y="987552"/>
            <a:ext cx="1536192" cy="530352"/>
          </a:xfrm>
          <a:prstGeom prst="rect">
            <a:avLst/>
          </a:prstGeom>
          <a:solidFill>
            <a:srgbClr val="1A6B82"/>
          </a:solidFill>
          <a:ln w="12700">
            <a:solidFill>
              <a:srgbClr val="1A6B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1938528" y="987552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AWAITING_AI</a:t>
            </a:r>
            <a:endParaRPr lang="fr-FR" sz="850" noProof="0" dirty="0"/>
          </a:p>
        </p:txBody>
      </p:sp>
      <p:sp>
        <p:nvSpPr>
          <p:cNvPr id="9" name="Shape 7"/>
          <p:cNvSpPr/>
          <p:nvPr/>
        </p:nvSpPr>
        <p:spPr>
          <a:xfrm>
            <a:off x="3621024" y="987552"/>
            <a:ext cx="1536192" cy="53035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621024" y="987552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UNDER_REVIEW</a:t>
            </a:r>
            <a:endParaRPr lang="fr-FR" sz="850" noProof="0" dirty="0"/>
          </a:p>
        </p:txBody>
      </p:sp>
      <p:sp>
        <p:nvSpPr>
          <p:cNvPr id="11" name="Shape 9"/>
          <p:cNvSpPr/>
          <p:nvPr/>
        </p:nvSpPr>
        <p:spPr>
          <a:xfrm>
            <a:off x="5303520" y="987552"/>
            <a:ext cx="1536192" cy="530352"/>
          </a:xfrm>
          <a:prstGeom prst="rect">
            <a:avLst/>
          </a:prstGeom>
          <a:solidFill>
            <a:srgbClr val="0A7A48"/>
          </a:solidFill>
          <a:ln w="12700">
            <a:solidFill>
              <a:srgbClr val="0A7A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5303520" y="987552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APPROVED</a:t>
            </a:r>
            <a:endParaRPr lang="fr-FR" sz="850" noProof="0" dirty="0"/>
          </a:p>
        </p:txBody>
      </p:sp>
      <p:sp>
        <p:nvSpPr>
          <p:cNvPr id="13" name="Shape 11"/>
          <p:cNvSpPr/>
          <p:nvPr/>
        </p:nvSpPr>
        <p:spPr>
          <a:xfrm>
            <a:off x="6986016" y="987552"/>
            <a:ext cx="1536192" cy="530352"/>
          </a:xfrm>
          <a:prstGeom prst="rect">
            <a:avLst/>
          </a:prstGeom>
          <a:solidFill>
            <a:srgbClr val="1A8C50"/>
          </a:solidFill>
          <a:ln w="12700">
            <a:solidFill>
              <a:srgbClr val="1A8C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6986016" y="987552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ACTIVE</a:t>
            </a:r>
            <a:endParaRPr lang="fr-FR" sz="850" noProof="0" dirty="0"/>
          </a:p>
        </p:txBody>
      </p:sp>
      <p:sp>
        <p:nvSpPr>
          <p:cNvPr id="15" name="Shape 13"/>
          <p:cNvSpPr/>
          <p:nvPr/>
        </p:nvSpPr>
        <p:spPr>
          <a:xfrm>
            <a:off x="3621024" y="2197504"/>
            <a:ext cx="1536192" cy="530352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621025" y="2197504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REJECTED</a:t>
            </a:r>
            <a:endParaRPr lang="fr-FR" sz="850" noProof="0" dirty="0"/>
          </a:p>
        </p:txBody>
      </p:sp>
      <p:sp>
        <p:nvSpPr>
          <p:cNvPr id="17" name="Shape 15"/>
          <p:cNvSpPr/>
          <p:nvPr/>
        </p:nvSpPr>
        <p:spPr>
          <a:xfrm>
            <a:off x="5295691" y="2197504"/>
            <a:ext cx="1536192" cy="530352"/>
          </a:xfrm>
          <a:prstGeom prst="rect">
            <a:avLst/>
          </a:prstGeom>
          <a:solidFill>
            <a:srgbClr val="1A5C82"/>
          </a:solidFill>
          <a:ln w="12700">
            <a:solidFill>
              <a:srgbClr val="1A5C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5303520" y="2197504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FUNDED</a:t>
            </a:r>
            <a:endParaRPr lang="fr-FR" sz="850" noProof="0" dirty="0"/>
          </a:p>
        </p:txBody>
      </p:sp>
      <p:sp>
        <p:nvSpPr>
          <p:cNvPr id="19" name="Shape 17"/>
          <p:cNvSpPr/>
          <p:nvPr/>
        </p:nvSpPr>
        <p:spPr>
          <a:xfrm>
            <a:off x="5295691" y="2939921"/>
            <a:ext cx="1536192" cy="5303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5295691" y="2939921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CLOSED</a:t>
            </a:r>
            <a:endParaRPr lang="fr-FR" sz="850" noProof="0" dirty="0"/>
          </a:p>
        </p:txBody>
      </p:sp>
      <p:sp>
        <p:nvSpPr>
          <p:cNvPr id="23" name="Shape 21"/>
          <p:cNvSpPr/>
          <p:nvPr/>
        </p:nvSpPr>
        <p:spPr>
          <a:xfrm>
            <a:off x="6986016" y="2189675"/>
            <a:ext cx="1536192" cy="53035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6986016" y="2189675"/>
            <a:ext cx="153619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SUSPENDED</a:t>
            </a:r>
            <a:endParaRPr lang="fr-FR" sz="850" noProof="0" dirty="0"/>
          </a:p>
        </p:txBody>
      </p:sp>
      <p:sp>
        <p:nvSpPr>
          <p:cNvPr id="25" name="Shape 23"/>
          <p:cNvSpPr/>
          <p:nvPr/>
        </p:nvSpPr>
        <p:spPr>
          <a:xfrm>
            <a:off x="1792224" y="1252728"/>
            <a:ext cx="146304" cy="0"/>
          </a:xfrm>
          <a:prstGeom prst="line">
            <a:avLst/>
          </a:prstGeom>
          <a:noFill/>
          <a:ln w="2032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3474720" y="1252728"/>
            <a:ext cx="146304" cy="0"/>
          </a:xfrm>
          <a:prstGeom prst="line">
            <a:avLst/>
          </a:prstGeom>
          <a:noFill/>
          <a:ln w="2032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5157216" y="1252728"/>
            <a:ext cx="146304" cy="0"/>
          </a:xfrm>
          <a:prstGeom prst="line">
            <a:avLst/>
          </a:prstGeom>
          <a:noFill/>
          <a:ln w="2032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6839712" y="1252728"/>
            <a:ext cx="146304" cy="0"/>
          </a:xfrm>
          <a:prstGeom prst="line">
            <a:avLst/>
          </a:prstGeom>
          <a:noFill/>
          <a:ln w="2032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 flipH="1">
            <a:off x="4412605" y="1517904"/>
            <a:ext cx="1" cy="663942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7754112" y="1517904"/>
            <a:ext cx="0" cy="671771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6071616" y="1517904"/>
            <a:ext cx="0" cy="671771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6071616" y="2712198"/>
            <a:ext cx="0" cy="219894"/>
          </a:xfrm>
          <a:prstGeom prst="line">
            <a:avLst/>
          </a:prstGeom>
          <a:noFill/>
          <a:ln w="2032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7754112" y="1517904"/>
            <a:ext cx="0" cy="671771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256032" y="4315968"/>
            <a:ext cx="8631936" cy="566928"/>
          </a:xfrm>
          <a:prstGeom prst="rect">
            <a:avLst/>
          </a:prstGeom>
          <a:solidFill>
            <a:srgbClr val="162240"/>
          </a:solidFill>
          <a:ln w="12700">
            <a:solidFill>
              <a:srgbClr val="1622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384048" y="4352544"/>
            <a:ext cx="8366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50" i="1" noProof="0" dirty="0">
                <a:solidFill>
                  <a:srgbClr val="B8C8D8"/>
                </a:solidFill>
              </a:rPr>
              <a:t>Chaque transition déclenche une notification personnalisée. La cohérence est garantie par des mises à jour conditionnelles atomiques MongoDB.</a:t>
            </a:r>
            <a:endParaRPr lang="fr-FR" sz="950" noProof="0" dirty="0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46CDB000-4477-D216-196A-DBA5ABF91F5A}"/>
              </a:ext>
            </a:extLst>
          </p:cNvPr>
          <p:cNvSpPr/>
          <p:nvPr/>
        </p:nvSpPr>
        <p:spPr>
          <a:xfrm>
            <a:off x="200" y="200"/>
            <a:ext cx="0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5"/>
          <p:cNvSpPr/>
          <p:nvPr/>
        </p:nvSpPr>
        <p:spPr>
          <a:xfrm>
            <a:off x="200" y="200"/>
            <a:ext cx="0" cy="0"/>
          </a:xfrm>
          <a:prstGeom prst="line">
            <a:avLst/>
          </a:prstGeom>
          <a:noFill/>
          <a:ln w="17780">
            <a:solidFill>
              <a:srgbClr val="999999"/>
            </a:solidFill>
            <a:prstDash val="solid"/>
            <a:tailEnd type="none"/>
          </a:ln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noProof="0" dirty="0">
                <a:solidFill>
                  <a:srgbClr val="16A899"/>
                </a:solidFill>
              </a:rPr>
              <a:t>05  —  </a:t>
            </a:r>
            <a:r>
              <a:rPr lang="fr-FR" sz="1650" b="1" noProof="0" dirty="0">
                <a:solidFill>
                  <a:srgbClr val="FFFFFF"/>
                </a:solidFill>
              </a:rPr>
              <a:t>MODÈLE DU DOMAINE — CLASSES &amp; ASSOCIATIONS (§3.3)</a:t>
            </a:r>
            <a:endParaRPr lang="fr-FR" sz="165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868680"/>
            <a:ext cx="8869680" cy="4096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i="1" noProof="0" dirty="0">
                <a:solidFill>
                  <a:srgbClr val="64748B"/>
                </a:solidFill>
              </a:rPr>
              <a:t>15 classes métier · 10+ énumérations · Associations : Utilisateur, Projet, Investissement, Transaction, Retrait, </a:t>
            </a:r>
            <a:r>
              <a:rPr lang="fr-FR" sz="800" i="1" noProof="0" dirty="0" err="1">
                <a:solidFill>
                  <a:srgbClr val="64748B"/>
                </a:solidFill>
              </a:rPr>
              <a:t>RapportRisque</a:t>
            </a:r>
            <a:r>
              <a:rPr lang="fr-FR" sz="800" i="1" noProof="0" dirty="0">
                <a:solidFill>
                  <a:srgbClr val="64748B"/>
                </a:solidFill>
              </a:rPr>
              <a:t>, </a:t>
            </a:r>
            <a:r>
              <a:rPr lang="fr-FR" sz="800" i="1" noProof="0" dirty="0" err="1">
                <a:solidFill>
                  <a:srgbClr val="64748B"/>
                </a:solidFill>
              </a:rPr>
              <a:t>ConsultationExpert</a:t>
            </a:r>
            <a:r>
              <a:rPr lang="fr-FR" sz="800" i="1" noProof="0" dirty="0">
                <a:solidFill>
                  <a:srgbClr val="64748B"/>
                </a:solidFill>
              </a:rPr>
              <a:t>, Signalement, Notification, </a:t>
            </a:r>
            <a:r>
              <a:rPr lang="fr-FR" sz="800" i="1" noProof="0" dirty="0" err="1">
                <a:solidFill>
                  <a:srgbClr val="64748B"/>
                </a:solidFill>
              </a:rPr>
              <a:t>AuditLog</a:t>
            </a:r>
            <a:r>
              <a:rPr lang="fr-FR" sz="800" i="1" noProof="0" dirty="0">
                <a:solidFill>
                  <a:srgbClr val="64748B"/>
                </a:solidFill>
              </a:rPr>
              <a:t>…</a:t>
            </a:r>
            <a:endParaRPr lang="fr-FR" sz="8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noProof="0" dirty="0">
                <a:solidFill>
                  <a:srgbClr val="16A899"/>
                </a:solidFill>
              </a:rPr>
              <a:t>06  —  </a:t>
            </a:r>
            <a:r>
              <a:rPr lang="fr-FR" sz="1650" b="1" noProof="0" dirty="0">
                <a:solidFill>
                  <a:srgbClr val="FFFFFF"/>
                </a:solidFill>
              </a:rPr>
              <a:t>ARCHITECTURE SYSTÈME &amp; TECHNOLOGIES (§3.4 &amp; Tableaux 14–15)</a:t>
            </a:r>
            <a:endParaRPr lang="fr-FR" sz="1650" noProof="0" dirty="0"/>
          </a:p>
        </p:txBody>
      </p:sp>
      <p:sp>
        <p:nvSpPr>
          <p:cNvPr id="5" name="Text 3"/>
          <p:cNvSpPr/>
          <p:nvPr/>
        </p:nvSpPr>
        <p:spPr>
          <a:xfrm>
            <a:off x="256032" y="87782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C56"/>
                </a:solidFill>
              </a:rPr>
              <a:t>Architecture client-serveur en 3 couches (§3.4.1)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56032" y="1243584"/>
            <a:ext cx="5074920" cy="84124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47472" y="1289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FFFFFF"/>
                </a:solidFill>
              </a:rPr>
              <a:t>Couche Présentation</a:t>
            </a:r>
            <a:endParaRPr lang="fr-FR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347472" y="168249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B8C8D8"/>
                </a:solidFill>
              </a:rPr>
              <a:t>React</a:t>
            </a:r>
            <a:r>
              <a:rPr lang="fr-FR" sz="950" noProof="0" dirty="0">
                <a:solidFill>
                  <a:srgbClr val="B8C8D8"/>
                </a:solidFill>
              </a:rPr>
              <a:t> 19 + Vite + </a:t>
            </a:r>
            <a:r>
              <a:rPr lang="fr-FR" sz="950" noProof="0" dirty="0" err="1">
                <a:solidFill>
                  <a:srgbClr val="B8C8D8"/>
                </a:solidFill>
              </a:rPr>
              <a:t>Tailwind</a:t>
            </a:r>
            <a:r>
              <a:rPr lang="fr-FR" sz="950" noProof="0" dirty="0">
                <a:solidFill>
                  <a:srgbClr val="B8C8D8"/>
                </a:solidFill>
              </a:rPr>
              <a:t> CSS v4 + </a:t>
            </a:r>
            <a:r>
              <a:rPr lang="fr-FR" sz="950" noProof="0" dirty="0" err="1">
                <a:solidFill>
                  <a:srgbClr val="B8C8D8"/>
                </a:solidFill>
              </a:rPr>
              <a:t>Shadcn</a:t>
            </a:r>
            <a:r>
              <a:rPr lang="fr-FR" sz="950" noProof="0" dirty="0">
                <a:solidFill>
                  <a:srgbClr val="B8C8D8"/>
                </a:solidFill>
              </a:rPr>
              <a:t> UI</a:t>
            </a:r>
            <a:endParaRPr lang="fr-FR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256032" y="2194560"/>
            <a:ext cx="5074920" cy="84124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47472" y="2240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FFFFFF"/>
                </a:solidFill>
              </a:rPr>
              <a:t>Couche Métier</a:t>
            </a:r>
            <a:endParaRPr lang="fr-F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347472" y="26334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B8C8D8"/>
                </a:solidFill>
              </a:rPr>
              <a:t>Node.js + Express 5 + </a:t>
            </a:r>
            <a:r>
              <a:rPr lang="fr-FR" sz="950" noProof="0" dirty="0" err="1">
                <a:solidFill>
                  <a:srgbClr val="B8C8D8"/>
                </a:solidFill>
              </a:rPr>
              <a:t>Zod</a:t>
            </a:r>
            <a:r>
              <a:rPr lang="fr-FR" sz="950" noProof="0" dirty="0">
                <a:solidFill>
                  <a:srgbClr val="B8C8D8"/>
                </a:solidFill>
              </a:rPr>
              <a:t> 4 + </a:t>
            </a:r>
            <a:r>
              <a:rPr lang="fr-FR" sz="950" noProof="0" dirty="0" err="1">
                <a:solidFill>
                  <a:srgbClr val="B8C8D8"/>
                </a:solidFill>
              </a:rPr>
              <a:t>Mongoose</a:t>
            </a:r>
            <a:r>
              <a:rPr lang="fr-FR" sz="950" noProof="0" dirty="0">
                <a:solidFill>
                  <a:srgbClr val="B8C8D8"/>
                </a:solidFill>
              </a:rPr>
              <a:t> 9 — orchestre les services internes ; </a:t>
            </a:r>
            <a:r>
              <a:rPr lang="fr-FR" sz="950" noProof="0" dirty="0" err="1">
                <a:solidFill>
                  <a:srgbClr val="B8C8D8"/>
                </a:solidFill>
              </a:rPr>
              <a:t>BullMQ</a:t>
            </a:r>
            <a:r>
              <a:rPr lang="fr-FR" sz="950" noProof="0" dirty="0">
                <a:solidFill>
                  <a:srgbClr val="B8C8D8"/>
                </a:solidFill>
              </a:rPr>
              <a:t>/Redis (files asynchrones) et n8n (analyse IA) sont des composants de cette couche</a:t>
            </a:r>
            <a:endParaRPr lang="fr-FR" sz="950" noProof="0" dirty="0"/>
          </a:p>
        </p:txBody>
      </p:sp>
      <p:sp>
        <p:nvSpPr>
          <p:cNvPr id="15" name="Shape 13"/>
          <p:cNvSpPr/>
          <p:nvPr/>
        </p:nvSpPr>
        <p:spPr>
          <a:xfrm>
            <a:off x="256032" y="3151632"/>
            <a:ext cx="5074920" cy="841248"/>
          </a:xfrm>
          <a:prstGeom prst="rect">
            <a:avLst/>
          </a:prstGeom>
          <a:solidFill>
            <a:srgbClr val="145F70"/>
          </a:solidFill>
          <a:ln w="12700">
            <a:solidFill>
              <a:srgbClr val="145F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47472" y="3197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FFFFFF"/>
                </a:solidFill>
              </a:rPr>
              <a:t>Couche Données</a:t>
            </a:r>
            <a:endParaRPr lang="fr-F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347472" y="359054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B8C8D8"/>
                </a:solidFill>
              </a:rPr>
              <a:t>MongoDB — collections, index, transactions multi-documents</a:t>
            </a:r>
            <a:endParaRPr lang="fr-FR" sz="950" noProof="0" dirty="0"/>
          </a:p>
        </p:txBody>
      </p:sp>
      <p:sp>
        <p:nvSpPr>
          <p:cNvPr id="18" name="Text 16"/>
          <p:cNvSpPr/>
          <p:nvPr/>
        </p:nvSpPr>
        <p:spPr>
          <a:xfrm>
            <a:off x="5577840" y="87782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C56"/>
                </a:solidFill>
              </a:rPr>
              <a:t>Technologies utilisées</a:t>
            </a:r>
            <a:endParaRPr lang="fr-F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5577840" y="1243584"/>
            <a:ext cx="1609344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5577840" y="1243584"/>
            <a:ext cx="1609344" cy="329184"/>
          </a:xfrm>
          <a:prstGeom prst="rect">
            <a:avLst/>
          </a:prstGeom>
          <a:solidFill>
            <a:srgbClr val="1565A7"/>
          </a:solidFill>
          <a:ln w="12700">
            <a:solidFill>
              <a:srgbClr val="1565A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5577840" y="124358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Présentation</a:t>
            </a:r>
            <a:endParaRPr lang="fr-FR" sz="850" noProof="0" dirty="0"/>
          </a:p>
        </p:txBody>
      </p:sp>
      <p:sp>
        <p:nvSpPr>
          <p:cNvPr id="22" name="Text 20"/>
          <p:cNvSpPr/>
          <p:nvPr/>
        </p:nvSpPr>
        <p:spPr>
          <a:xfrm>
            <a:off x="5623560" y="1609344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fr-FR" sz="800" noProof="0" dirty="0" err="1">
                <a:solidFill>
                  <a:srgbClr val="1E2D3D"/>
                </a:solidFill>
              </a:rPr>
              <a:t>React</a:t>
            </a:r>
            <a:r>
              <a:rPr lang="fr-FR" sz="800" noProof="0" dirty="0">
                <a:solidFill>
                  <a:srgbClr val="1E2D3D"/>
                </a:solidFill>
              </a:rPr>
              <a:t> 19 + Vite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 err="1">
                <a:solidFill>
                  <a:srgbClr val="1E2D3D"/>
                </a:solidFill>
              </a:rPr>
              <a:t>Tailwind</a:t>
            </a:r>
            <a:r>
              <a:rPr lang="fr-FR" sz="800" noProof="0" dirty="0">
                <a:solidFill>
                  <a:srgbClr val="1E2D3D"/>
                </a:solidFill>
              </a:rPr>
              <a:t> CSS v4 + </a:t>
            </a:r>
            <a:r>
              <a:rPr lang="fr-FR" sz="800" noProof="0" dirty="0" err="1">
                <a:solidFill>
                  <a:srgbClr val="1E2D3D"/>
                </a:solidFill>
              </a:rPr>
              <a:t>Shadcn</a:t>
            </a:r>
            <a:r>
              <a:rPr lang="fr-FR" sz="800" noProof="0" dirty="0">
                <a:solidFill>
                  <a:srgbClr val="1E2D3D"/>
                </a:solidFill>
              </a:rPr>
              <a:t> UI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 err="1">
                <a:solidFill>
                  <a:srgbClr val="1E2D3D"/>
                </a:solidFill>
              </a:rPr>
              <a:t>React</a:t>
            </a:r>
            <a:r>
              <a:rPr lang="fr-FR" sz="800" noProof="0" dirty="0">
                <a:solidFill>
                  <a:srgbClr val="1E2D3D"/>
                </a:solidFill>
              </a:rPr>
              <a:t> Router + Axios</a:t>
            </a:r>
            <a:endParaRPr lang="fr-FR" sz="800" noProof="0" dirty="0"/>
          </a:p>
        </p:txBody>
      </p:sp>
      <p:sp>
        <p:nvSpPr>
          <p:cNvPr id="23" name="Shape 21"/>
          <p:cNvSpPr/>
          <p:nvPr/>
        </p:nvSpPr>
        <p:spPr>
          <a:xfrm>
            <a:off x="7278624" y="1243584"/>
            <a:ext cx="1609344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2"/>
          <p:cNvSpPr/>
          <p:nvPr/>
        </p:nvSpPr>
        <p:spPr>
          <a:xfrm>
            <a:off x="7278624" y="1243584"/>
            <a:ext cx="1609344" cy="32918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7278624" y="124358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Métier &amp; Sécurité</a:t>
            </a:r>
            <a:endParaRPr lang="fr-FR" sz="850" noProof="0" dirty="0"/>
          </a:p>
        </p:txBody>
      </p:sp>
      <p:sp>
        <p:nvSpPr>
          <p:cNvPr id="26" name="Text 24"/>
          <p:cNvSpPr/>
          <p:nvPr/>
        </p:nvSpPr>
        <p:spPr>
          <a:xfrm>
            <a:off x="7324344" y="1609344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Node.js + Express 5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JWT </a:t>
            </a:r>
            <a:r>
              <a:rPr lang="fr-FR" sz="800" noProof="0" dirty="0" err="1">
                <a:solidFill>
                  <a:srgbClr val="1E2D3D"/>
                </a:solidFill>
              </a:rPr>
              <a:t>HttpOnly</a:t>
            </a:r>
            <a:r>
              <a:rPr lang="fr-FR" sz="800" noProof="0" dirty="0">
                <a:solidFill>
                  <a:srgbClr val="1E2D3D"/>
                </a:solidFill>
              </a:rPr>
              <a:t> + </a:t>
            </a:r>
            <a:r>
              <a:rPr lang="fr-FR" sz="800" noProof="0" dirty="0" err="1">
                <a:solidFill>
                  <a:srgbClr val="1E2D3D"/>
                </a:solidFill>
              </a:rPr>
              <a:t>bcrypt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RBAC + Rate </a:t>
            </a:r>
            <a:r>
              <a:rPr lang="fr-FR" sz="800" noProof="0" dirty="0" err="1">
                <a:solidFill>
                  <a:srgbClr val="1E2D3D"/>
                </a:solidFill>
              </a:rPr>
              <a:t>limiting</a:t>
            </a:r>
            <a:endParaRPr lang="fr-FR" sz="800" noProof="0" dirty="0"/>
          </a:p>
        </p:txBody>
      </p:sp>
      <p:sp>
        <p:nvSpPr>
          <p:cNvPr id="27" name="Shape 25"/>
          <p:cNvSpPr/>
          <p:nvPr/>
        </p:nvSpPr>
        <p:spPr>
          <a:xfrm>
            <a:off x="5577840" y="2505456"/>
            <a:ext cx="1609344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5577840" y="2505456"/>
            <a:ext cx="1609344" cy="329184"/>
          </a:xfrm>
          <a:prstGeom prst="rect">
            <a:avLst/>
          </a:prstGeom>
          <a:solidFill>
            <a:srgbClr val="145F70"/>
          </a:solidFill>
          <a:ln w="12700">
            <a:solidFill>
              <a:srgbClr val="145F7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5577840" y="250545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Données</a:t>
            </a:r>
            <a:endParaRPr lang="fr-FR" sz="850" noProof="0" dirty="0"/>
          </a:p>
        </p:txBody>
      </p:sp>
      <p:sp>
        <p:nvSpPr>
          <p:cNvPr id="30" name="Text 28"/>
          <p:cNvSpPr/>
          <p:nvPr/>
        </p:nvSpPr>
        <p:spPr>
          <a:xfrm>
            <a:off x="5623560" y="2871216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MongoDB + </a:t>
            </a:r>
            <a:r>
              <a:rPr lang="fr-FR" sz="800" noProof="0" dirty="0" err="1">
                <a:solidFill>
                  <a:srgbClr val="1E2D3D"/>
                </a:solidFill>
              </a:rPr>
              <a:t>Mongoose</a:t>
            </a:r>
            <a:r>
              <a:rPr lang="fr-FR" sz="800" noProof="0" dirty="0">
                <a:solidFill>
                  <a:srgbClr val="1E2D3D"/>
                </a:solidFill>
              </a:rPr>
              <a:t> 9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Transactions multi-docs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Index (provider, </a:t>
            </a:r>
            <a:r>
              <a:rPr lang="fr-FR" sz="800" noProof="0" dirty="0" err="1">
                <a:solidFill>
                  <a:srgbClr val="1E2D3D"/>
                </a:solidFill>
              </a:rPr>
              <a:t>paymentId</a:t>
            </a:r>
            <a:r>
              <a:rPr lang="fr-FR" sz="800" noProof="0" dirty="0">
                <a:solidFill>
                  <a:srgbClr val="1E2D3D"/>
                </a:solidFill>
              </a:rPr>
              <a:t>)</a:t>
            </a:r>
            <a:endParaRPr lang="fr-FR" sz="800" noProof="0" dirty="0"/>
          </a:p>
        </p:txBody>
      </p:sp>
      <p:sp>
        <p:nvSpPr>
          <p:cNvPr id="31" name="Shape 29"/>
          <p:cNvSpPr/>
          <p:nvPr/>
        </p:nvSpPr>
        <p:spPr>
          <a:xfrm>
            <a:off x="7278624" y="2505456"/>
            <a:ext cx="1609344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7278624" y="2505456"/>
            <a:ext cx="1609344" cy="32918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7278624" y="250545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IA &amp; Orchestration</a:t>
            </a:r>
            <a:endParaRPr lang="fr-FR" sz="850" noProof="0" dirty="0"/>
          </a:p>
        </p:txBody>
      </p:sp>
      <p:sp>
        <p:nvSpPr>
          <p:cNvPr id="34" name="Text 32"/>
          <p:cNvSpPr/>
          <p:nvPr/>
        </p:nvSpPr>
        <p:spPr>
          <a:xfrm>
            <a:off x="7324344" y="2871216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Google Gemini API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n8n (Docker) + </a:t>
            </a:r>
            <a:r>
              <a:rPr lang="fr-FR" sz="800" noProof="0" dirty="0" err="1">
                <a:solidFill>
                  <a:srgbClr val="1E2D3D"/>
                </a:solidFill>
              </a:rPr>
              <a:t>BullMQ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4 Dead-Letter Queues</a:t>
            </a:r>
            <a:endParaRPr lang="fr-FR" sz="800" noProof="0" dirty="0"/>
          </a:p>
        </p:txBody>
      </p:sp>
      <p:sp>
        <p:nvSpPr>
          <p:cNvPr id="35" name="Shape 33"/>
          <p:cNvSpPr/>
          <p:nvPr/>
        </p:nvSpPr>
        <p:spPr>
          <a:xfrm>
            <a:off x="5577840" y="3767328"/>
            <a:ext cx="1609344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5577840" y="3767328"/>
            <a:ext cx="1609344" cy="329184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5577840" y="376732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Chiffrement</a:t>
            </a:r>
            <a:endParaRPr lang="fr-FR" sz="850" noProof="0" dirty="0"/>
          </a:p>
        </p:txBody>
      </p:sp>
      <p:sp>
        <p:nvSpPr>
          <p:cNvPr id="38" name="Text 36"/>
          <p:cNvSpPr/>
          <p:nvPr/>
        </p:nvSpPr>
        <p:spPr>
          <a:xfrm>
            <a:off x="5623560" y="4133088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AES-256-GCM (RIB)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HMAC </a:t>
            </a:r>
            <a:r>
              <a:rPr lang="fr-FR" sz="800" noProof="0" dirty="0" err="1">
                <a:solidFill>
                  <a:srgbClr val="1E2D3D"/>
                </a:solidFill>
              </a:rPr>
              <a:t>Webhook</a:t>
            </a:r>
            <a:r>
              <a:rPr lang="fr-FR" sz="800" noProof="0" dirty="0">
                <a:solidFill>
                  <a:srgbClr val="1E2D3D"/>
                </a:solidFill>
              </a:rPr>
              <a:t> signé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IV unique par enregistrement</a:t>
            </a:r>
            <a:endParaRPr lang="fr-FR" sz="800" noProof="0" dirty="0"/>
          </a:p>
        </p:txBody>
      </p:sp>
      <p:sp>
        <p:nvSpPr>
          <p:cNvPr id="39" name="Shape 37"/>
          <p:cNvSpPr/>
          <p:nvPr/>
        </p:nvSpPr>
        <p:spPr>
          <a:xfrm>
            <a:off x="7278624" y="3767328"/>
            <a:ext cx="1609344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8"/>
          <p:cNvSpPr/>
          <p:nvPr/>
        </p:nvSpPr>
        <p:spPr>
          <a:xfrm>
            <a:off x="7278624" y="3767328"/>
            <a:ext cx="1609344" cy="32918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7278624" y="376732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noProof="0" dirty="0">
                <a:solidFill>
                  <a:srgbClr val="FFFFFF"/>
                </a:solidFill>
              </a:rPr>
              <a:t>DevOps &amp; Tests</a:t>
            </a:r>
            <a:endParaRPr lang="fr-FR" sz="850" noProof="0" dirty="0"/>
          </a:p>
        </p:txBody>
      </p:sp>
      <p:sp>
        <p:nvSpPr>
          <p:cNvPr id="42" name="Text 40"/>
          <p:cNvSpPr/>
          <p:nvPr/>
        </p:nvSpPr>
        <p:spPr>
          <a:xfrm>
            <a:off x="7324344" y="4133088"/>
            <a:ext cx="150876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Docker + GitHub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Scripts E2E Node.js</a:t>
            </a:r>
            <a:endParaRPr lang="fr-FR" sz="800" noProof="0" dirty="0"/>
          </a:p>
          <a:p>
            <a:pPr marL="342900" indent="-342900">
              <a:buSzPct val="100000"/>
              <a:buChar char="•"/>
            </a:pPr>
            <a:r>
              <a:rPr lang="fr-FR" sz="800" noProof="0" dirty="0">
                <a:solidFill>
                  <a:srgbClr val="1E2D3D"/>
                </a:solidFill>
              </a:rPr>
              <a:t>Tests manuels UI</a:t>
            </a:r>
            <a:endParaRPr lang="fr-FR" sz="8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noProof="0" dirty="0">
                <a:solidFill>
                  <a:srgbClr val="16A899"/>
                </a:solidFill>
              </a:rPr>
              <a:t>06  —  </a:t>
            </a:r>
            <a:r>
              <a:rPr lang="fr-FR" sz="1650" b="1" noProof="0" dirty="0">
                <a:solidFill>
                  <a:srgbClr val="FFFFFF"/>
                </a:solidFill>
              </a:rPr>
              <a:t>DÉCISIONS D'ARCHITECTURE &amp; SÉCURITÉ (§3.4.3)</a:t>
            </a:r>
            <a:endParaRPr lang="fr-FR" sz="165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25196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54864" cy="131673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1042416"/>
            <a:ext cx="457200" cy="457200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1</a:t>
            </a:r>
            <a:endParaRPr lang="fr-FR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10241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A2C56"/>
                </a:solidFill>
              </a:rPr>
              <a:t>JWT — Cookies </a:t>
            </a:r>
            <a:r>
              <a:rPr lang="fr-FR" sz="1050" b="1" noProof="0" dirty="0" err="1">
                <a:solidFill>
                  <a:srgbClr val="1A2C56"/>
                </a:solidFill>
              </a:rPr>
              <a:t>HttpOnly</a:t>
            </a:r>
            <a:endParaRPr lang="fr-FR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4041648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4748B"/>
                </a:solidFill>
              </a:rPr>
              <a:t>Access </a:t>
            </a:r>
            <a:r>
              <a:rPr lang="fr-FR" sz="950" noProof="0" dirty="0" err="1">
                <a:solidFill>
                  <a:srgbClr val="64748B"/>
                </a:solidFill>
              </a:rPr>
              <a:t>token</a:t>
            </a:r>
            <a:r>
              <a:rPr lang="fr-FR" sz="950" noProof="0" dirty="0">
                <a:solidFill>
                  <a:srgbClr val="64748B"/>
                </a:solidFill>
              </a:rPr>
              <a:t> (15 min) + </a:t>
            </a:r>
            <a:r>
              <a:rPr lang="fr-FR" sz="950" noProof="0" dirty="0" err="1">
                <a:solidFill>
                  <a:srgbClr val="64748B"/>
                </a:solidFill>
              </a:rPr>
              <a:t>refresh</a:t>
            </a:r>
            <a:r>
              <a:rPr lang="fr-FR" sz="950" noProof="0" dirty="0">
                <a:solidFill>
                  <a:srgbClr val="64748B"/>
                </a:solidFill>
              </a:rPr>
              <a:t> </a:t>
            </a:r>
            <a:r>
              <a:rPr lang="fr-FR" sz="950" noProof="0" dirty="0" err="1">
                <a:solidFill>
                  <a:srgbClr val="64748B"/>
                </a:solidFill>
              </a:rPr>
              <a:t>token</a:t>
            </a:r>
            <a:r>
              <a:rPr lang="fr-FR" sz="950" noProof="0" dirty="0">
                <a:solidFill>
                  <a:srgbClr val="64748B"/>
                </a:solidFill>
              </a:rPr>
              <a:t> (7 j). </a:t>
            </a:r>
            <a:r>
              <a:rPr lang="fr-FR" sz="950" noProof="0" dirty="0" err="1">
                <a:solidFill>
                  <a:srgbClr val="64748B"/>
                </a:solidFill>
              </a:rPr>
              <a:t>SameSite</a:t>
            </a:r>
            <a:r>
              <a:rPr lang="fr-FR" sz="950" noProof="0" dirty="0">
                <a:solidFill>
                  <a:srgbClr val="64748B"/>
                </a:solidFill>
              </a:rPr>
              <a:t>=Strict, Secure, </a:t>
            </a:r>
            <a:r>
              <a:rPr lang="fr-FR" sz="950" noProof="0" dirty="0" err="1">
                <a:solidFill>
                  <a:srgbClr val="64748B"/>
                </a:solidFill>
              </a:rPr>
              <a:t>HttpOnly</a:t>
            </a:r>
            <a:r>
              <a:rPr lang="fr-FR" sz="950" noProof="0" dirty="0">
                <a:solidFill>
                  <a:srgbClr val="64748B"/>
                </a:solidFill>
              </a:rPr>
              <a:t> — protection CSRF/XSS sans stockage </a:t>
            </a:r>
            <a:r>
              <a:rPr lang="fr-FR" sz="950" noProof="0" dirty="0" err="1">
                <a:solidFill>
                  <a:srgbClr val="64748B"/>
                </a:solidFill>
              </a:rPr>
              <a:t>localStorage</a:t>
            </a:r>
            <a:r>
              <a:rPr lang="fr-FR" sz="950" noProof="0" dirty="0">
                <a:solidFill>
                  <a:srgbClr val="64748B"/>
                </a:solidFill>
              </a:rPr>
              <a:t>.</a:t>
            </a:r>
            <a:endParaRPr lang="fr-FR" sz="950" noProof="0" dirty="0"/>
          </a:p>
        </p:txBody>
      </p:sp>
      <p:sp>
        <p:nvSpPr>
          <p:cNvPr id="12" name="Shape 10"/>
          <p:cNvSpPr/>
          <p:nvPr/>
        </p:nvSpPr>
        <p:spPr>
          <a:xfrm>
            <a:off x="4700016" y="91440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4700016" y="914400"/>
            <a:ext cx="425196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4700016" y="914400"/>
            <a:ext cx="54864" cy="131673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4809744" y="1042416"/>
            <a:ext cx="457200" cy="457200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809744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2</a:t>
            </a:r>
            <a:endParaRPr lang="fr-FR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5358384" y="10241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 err="1">
                <a:solidFill>
                  <a:srgbClr val="1A2C56"/>
                </a:solidFill>
              </a:rPr>
              <a:t>Webhook</a:t>
            </a:r>
            <a:r>
              <a:rPr lang="fr-FR" sz="1050" b="1" noProof="0" dirty="0">
                <a:solidFill>
                  <a:srgbClr val="1A2C56"/>
                </a:solidFill>
              </a:rPr>
              <a:t> HMAC idempotent</a:t>
            </a:r>
            <a:endParaRPr lang="fr-FR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4809744" y="1481328"/>
            <a:ext cx="4041648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4748B"/>
                </a:solidFill>
              </a:rPr>
              <a:t>Signature HMAC-SHA256 vérifiée à réception. Index unique (provider, </a:t>
            </a:r>
            <a:r>
              <a:rPr lang="fr-FR" sz="950" noProof="0" dirty="0" err="1">
                <a:solidFill>
                  <a:srgbClr val="64748B"/>
                </a:solidFill>
              </a:rPr>
              <a:t>providerPaymentId</a:t>
            </a:r>
            <a:r>
              <a:rPr lang="fr-FR" sz="950" noProof="0" dirty="0">
                <a:solidFill>
                  <a:srgbClr val="64748B"/>
                </a:solidFill>
              </a:rPr>
              <a:t>) absorbe les </a:t>
            </a:r>
            <a:r>
              <a:rPr lang="fr-FR" sz="950" noProof="0" dirty="0" err="1">
                <a:solidFill>
                  <a:srgbClr val="64748B"/>
                </a:solidFill>
              </a:rPr>
              <a:t>retentatives</a:t>
            </a:r>
            <a:r>
              <a:rPr lang="fr-FR" sz="950" noProof="0" dirty="0">
                <a:solidFill>
                  <a:srgbClr val="64748B"/>
                </a:solidFill>
              </a:rPr>
              <a:t> sans créer de doublon.</a:t>
            </a:r>
            <a:endParaRPr lang="fr-FR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256032" y="233172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256032" y="2331720"/>
            <a:ext cx="425196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56032" y="2331720"/>
            <a:ext cx="54864" cy="131673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365760" y="2459736"/>
            <a:ext cx="457200" cy="457200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3</a:t>
            </a:r>
            <a:endParaRPr lang="fr-FR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914400" y="2441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A2C56"/>
                </a:solidFill>
              </a:rPr>
              <a:t>Mise à jour atomique</a:t>
            </a:r>
            <a:endParaRPr lang="fr-FR" sz="1050" noProof="0" dirty="0"/>
          </a:p>
        </p:txBody>
      </p:sp>
      <p:sp>
        <p:nvSpPr>
          <p:cNvPr id="25" name="Text 23"/>
          <p:cNvSpPr/>
          <p:nvPr/>
        </p:nvSpPr>
        <p:spPr>
          <a:xfrm>
            <a:off x="365760" y="2898648"/>
            <a:ext cx="4041648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64748B"/>
                </a:solidFill>
              </a:rPr>
              <a:t>updateOne</a:t>
            </a:r>
            <a:r>
              <a:rPr lang="fr-FR" sz="950" noProof="0" dirty="0">
                <a:solidFill>
                  <a:srgbClr val="64748B"/>
                </a:solidFill>
              </a:rPr>
              <a:t> conditionnel : </a:t>
            </a:r>
            <a:r>
              <a:rPr lang="fr-FR" sz="950" noProof="0" dirty="0" err="1">
                <a:solidFill>
                  <a:srgbClr val="64748B"/>
                </a:solidFill>
              </a:rPr>
              <a:t>currentFunding</a:t>
            </a:r>
            <a:r>
              <a:rPr lang="fr-FR" sz="950" noProof="0" dirty="0">
                <a:solidFill>
                  <a:srgbClr val="64748B"/>
                </a:solidFill>
              </a:rPr>
              <a:t> + montant ≤ </a:t>
            </a:r>
            <a:r>
              <a:rPr lang="fr-FR" sz="950" noProof="0" dirty="0" err="1">
                <a:solidFill>
                  <a:srgbClr val="64748B"/>
                </a:solidFill>
              </a:rPr>
              <a:t>fundingGoal</a:t>
            </a:r>
            <a:r>
              <a:rPr lang="fr-FR" sz="950" noProof="0" dirty="0">
                <a:solidFill>
                  <a:srgbClr val="64748B"/>
                </a:solidFill>
              </a:rPr>
              <a:t> garantit l'intégrité financière sous charge concurrente (anti-sur-financement).</a:t>
            </a:r>
            <a:endParaRPr lang="fr-FR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4700016" y="233172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4700016" y="2331720"/>
            <a:ext cx="425196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4700016" y="2331720"/>
            <a:ext cx="54864" cy="131673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>
            <a:off x="4809744" y="2459736"/>
            <a:ext cx="457200" cy="457200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4809744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4</a:t>
            </a:r>
            <a:endParaRPr lang="fr-FR" sz="1400" noProof="0" dirty="0"/>
          </a:p>
        </p:txBody>
      </p:sp>
      <p:sp>
        <p:nvSpPr>
          <p:cNvPr id="31" name="Text 29"/>
          <p:cNvSpPr/>
          <p:nvPr/>
        </p:nvSpPr>
        <p:spPr>
          <a:xfrm>
            <a:off x="5358384" y="2441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A2C56"/>
                </a:solidFill>
              </a:rPr>
              <a:t>AES-256-GCM (coordonnées RIB)</a:t>
            </a:r>
            <a:endParaRPr lang="fr-FR" sz="1050" noProof="0" dirty="0"/>
          </a:p>
        </p:txBody>
      </p:sp>
      <p:sp>
        <p:nvSpPr>
          <p:cNvPr id="32" name="Text 30"/>
          <p:cNvSpPr/>
          <p:nvPr/>
        </p:nvSpPr>
        <p:spPr>
          <a:xfrm>
            <a:off x="4809744" y="2898648"/>
            <a:ext cx="4041648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4748B"/>
                </a:solidFill>
              </a:rPr>
              <a:t>Chiffrement applicatif avec IV unique par enregistrement. Clé maître chargée depuis variable d'environnement — jamais dans le code source.</a:t>
            </a:r>
            <a:endParaRPr lang="fr-FR" sz="950" noProof="0" dirty="0"/>
          </a:p>
        </p:txBody>
      </p:sp>
      <p:sp>
        <p:nvSpPr>
          <p:cNvPr id="33" name="Shape 31"/>
          <p:cNvSpPr/>
          <p:nvPr/>
        </p:nvSpPr>
        <p:spPr>
          <a:xfrm>
            <a:off x="256032" y="374904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256032" y="3749040"/>
            <a:ext cx="425196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256032" y="3749040"/>
            <a:ext cx="54864" cy="131673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457200" cy="457200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36576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5</a:t>
            </a:r>
            <a:endParaRPr lang="fr-FR" sz="1400" noProof="0" dirty="0"/>
          </a:p>
        </p:txBody>
      </p:sp>
      <p:sp>
        <p:nvSpPr>
          <p:cNvPr id="38" name="Text 36"/>
          <p:cNvSpPr/>
          <p:nvPr/>
        </p:nvSpPr>
        <p:spPr>
          <a:xfrm>
            <a:off x="914400" y="38587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A2C56"/>
                </a:solidFill>
              </a:rPr>
              <a:t>4 Files Dead-Letter (DLQ)</a:t>
            </a:r>
            <a:endParaRPr lang="fr-FR" sz="1050" noProof="0" dirty="0"/>
          </a:p>
        </p:txBody>
      </p:sp>
      <p:sp>
        <p:nvSpPr>
          <p:cNvPr id="39" name="Text 37"/>
          <p:cNvSpPr/>
          <p:nvPr/>
        </p:nvSpPr>
        <p:spPr>
          <a:xfrm>
            <a:off x="365760" y="4315968"/>
            <a:ext cx="4041648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fr-FR" sz="950" noProof="0" dirty="0" err="1">
                <a:solidFill>
                  <a:srgbClr val="64748B"/>
                </a:solidFill>
              </a:rPr>
              <a:t>failedWorkflowEvents</a:t>
            </a:r>
            <a:r>
              <a:rPr lang="fr-FR" sz="950" noProof="0" dirty="0">
                <a:solidFill>
                  <a:srgbClr val="64748B"/>
                </a:solidFill>
              </a:rPr>
              <a:t>, </a:t>
            </a:r>
            <a:r>
              <a:rPr lang="fr-FR" sz="950" noProof="0" dirty="0" err="1">
                <a:solidFill>
                  <a:srgbClr val="64748B"/>
                </a:solidFill>
              </a:rPr>
              <a:t>failedRefundEvents</a:t>
            </a:r>
            <a:r>
              <a:rPr lang="fr-FR" sz="950" noProof="0" dirty="0">
                <a:solidFill>
                  <a:srgbClr val="64748B"/>
                </a:solidFill>
              </a:rPr>
              <a:t>, </a:t>
            </a:r>
            <a:r>
              <a:rPr lang="fr-FR" sz="950" noProof="0" dirty="0" err="1">
                <a:solidFill>
                  <a:srgbClr val="64748B"/>
                </a:solidFill>
              </a:rPr>
              <a:t>failedPayoutEvents</a:t>
            </a:r>
            <a:r>
              <a:rPr lang="fr-FR" sz="950" noProof="0" dirty="0">
                <a:solidFill>
                  <a:srgbClr val="64748B"/>
                </a:solidFill>
              </a:rPr>
              <a:t>, </a:t>
            </a:r>
            <a:r>
              <a:rPr lang="fr-FR" sz="950" noProof="0" dirty="0" err="1">
                <a:solidFill>
                  <a:srgbClr val="64748B"/>
                </a:solidFill>
              </a:rPr>
              <a:t>failedCancellationEvents</a:t>
            </a:r>
            <a:r>
              <a:rPr lang="fr-FR" sz="950" noProof="0" dirty="0">
                <a:solidFill>
                  <a:srgbClr val="64748B"/>
                </a:solidFill>
              </a:rPr>
              <a:t> — toute erreur définitive est visible et </a:t>
            </a:r>
            <a:r>
              <a:rPr lang="fr-FR" sz="950" noProof="0" dirty="0" err="1">
                <a:solidFill>
                  <a:srgbClr val="64748B"/>
                </a:solidFill>
              </a:rPr>
              <a:t>repriseable</a:t>
            </a:r>
            <a:r>
              <a:rPr lang="fr-FR" sz="950" noProof="0" dirty="0">
                <a:solidFill>
                  <a:srgbClr val="64748B"/>
                </a:solidFill>
              </a:rPr>
              <a:t>.</a:t>
            </a:r>
            <a:endParaRPr lang="fr-FR" sz="950" noProof="0" dirty="0"/>
          </a:p>
        </p:txBody>
      </p:sp>
      <p:sp>
        <p:nvSpPr>
          <p:cNvPr id="40" name="Shape 38"/>
          <p:cNvSpPr/>
          <p:nvPr/>
        </p:nvSpPr>
        <p:spPr>
          <a:xfrm>
            <a:off x="4700016" y="3749040"/>
            <a:ext cx="4251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39"/>
          <p:cNvSpPr/>
          <p:nvPr/>
        </p:nvSpPr>
        <p:spPr>
          <a:xfrm>
            <a:off x="4700016" y="3749040"/>
            <a:ext cx="425196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4700016" y="3749040"/>
            <a:ext cx="54864" cy="1316736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Shape 41"/>
          <p:cNvSpPr/>
          <p:nvPr/>
        </p:nvSpPr>
        <p:spPr>
          <a:xfrm>
            <a:off x="4809744" y="3877056"/>
            <a:ext cx="457200" cy="457200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/>
          <p:cNvSpPr/>
          <p:nvPr/>
        </p:nvSpPr>
        <p:spPr>
          <a:xfrm>
            <a:off x="4809744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</a:rPr>
              <a:t>6</a:t>
            </a:r>
            <a:endParaRPr lang="fr-FR" sz="1400" noProof="0" dirty="0"/>
          </a:p>
        </p:txBody>
      </p:sp>
      <p:sp>
        <p:nvSpPr>
          <p:cNvPr id="45" name="Text 43"/>
          <p:cNvSpPr/>
          <p:nvPr/>
        </p:nvSpPr>
        <p:spPr>
          <a:xfrm>
            <a:off x="5358384" y="38587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A2C56"/>
                </a:solidFill>
              </a:rPr>
              <a:t>RBAC + Rate </a:t>
            </a:r>
            <a:r>
              <a:rPr lang="fr-FR" sz="1050" b="1" noProof="0" dirty="0" err="1">
                <a:solidFill>
                  <a:srgbClr val="1A2C56"/>
                </a:solidFill>
              </a:rPr>
              <a:t>limiting</a:t>
            </a:r>
            <a:endParaRPr lang="fr-FR" sz="1050" noProof="0" dirty="0"/>
          </a:p>
        </p:txBody>
      </p:sp>
      <p:sp>
        <p:nvSpPr>
          <p:cNvPr id="46" name="Text 44"/>
          <p:cNvSpPr/>
          <p:nvPr/>
        </p:nvSpPr>
        <p:spPr>
          <a:xfrm>
            <a:off x="4809744" y="4315968"/>
            <a:ext cx="4041648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4748B"/>
                </a:solidFill>
              </a:rPr>
              <a:t>Middleware </a:t>
            </a:r>
            <a:r>
              <a:rPr lang="fr-FR" sz="950" noProof="0" dirty="0" err="1">
                <a:solidFill>
                  <a:srgbClr val="64748B"/>
                </a:solidFill>
              </a:rPr>
              <a:t>checkRole</a:t>
            </a:r>
            <a:r>
              <a:rPr lang="fr-FR" sz="950" noProof="0" dirty="0">
                <a:solidFill>
                  <a:srgbClr val="64748B"/>
                </a:solidFill>
              </a:rPr>
              <a:t>() sur chaque route sensible. express-rate-</a:t>
            </a:r>
            <a:r>
              <a:rPr lang="fr-FR" sz="950" noProof="0" dirty="0" err="1">
                <a:solidFill>
                  <a:srgbClr val="64748B"/>
                </a:solidFill>
              </a:rPr>
              <a:t>limit</a:t>
            </a:r>
            <a:r>
              <a:rPr lang="fr-FR" sz="950" noProof="0" dirty="0">
                <a:solidFill>
                  <a:srgbClr val="64748B"/>
                </a:solidFill>
              </a:rPr>
              <a:t> protège les </a:t>
            </a:r>
            <a:r>
              <a:rPr lang="fr-FR" sz="950" noProof="0" dirty="0" err="1">
                <a:solidFill>
                  <a:srgbClr val="64748B"/>
                </a:solidFill>
              </a:rPr>
              <a:t>endpoints</a:t>
            </a:r>
            <a:r>
              <a:rPr lang="fr-FR" sz="950" noProof="0" dirty="0">
                <a:solidFill>
                  <a:srgbClr val="64748B"/>
                </a:solidFill>
              </a:rPr>
              <a:t> d'authentification et les actions critiques.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840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noProof="0" dirty="0">
                <a:solidFill>
                  <a:srgbClr val="16A899"/>
                </a:solidFill>
              </a:rPr>
              <a:t>06  —  </a:t>
            </a:r>
            <a:r>
              <a:rPr lang="fr-FR" sz="1650" b="1" noProof="0" dirty="0">
                <a:solidFill>
                  <a:srgbClr val="FFFFFF"/>
                </a:solidFill>
              </a:rPr>
              <a:t>RÉALISATION — 7 CAS D'UTILISATION IMPLÉMENTÉS (§4.3)</a:t>
            </a:r>
            <a:endParaRPr lang="fr-FR" sz="1650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 noProof="0" dirty="0">
                <a:solidFill>
                  <a:srgbClr val="64748B"/>
                </a:solidFill>
              </a:rPr>
              <a:t>Chaque cas fait l'objet d'une description technique : capture d'écran, extrait de code, bibliothèques, composants mobilisés — alignés sur les diagrammes UML du chapitre 3 (Tableau 16).</a:t>
            </a:r>
            <a:endParaRPr lang="fr-FR" sz="10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04597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04597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1004697" y="1389888"/>
            <a:ext cx="585216" cy="585216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004697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</a:rPr>
              <a:t>1</a:t>
            </a:r>
            <a:endParaRPr lang="fr-F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2045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16A899"/>
                </a:solidFill>
              </a:rPr>
              <a:t>4.3.1</a:t>
            </a:r>
            <a:endParaRPr lang="fr-FR" sz="800" noProof="0" dirty="0"/>
          </a:p>
        </p:txBody>
      </p:sp>
      <p:sp>
        <p:nvSpPr>
          <p:cNvPr id="11" name="Text 9"/>
          <p:cNvSpPr/>
          <p:nvPr/>
        </p:nvSpPr>
        <p:spPr>
          <a:xfrm>
            <a:off x="274320" y="2212848"/>
            <a:ext cx="20459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1A2C56"/>
                </a:solidFill>
              </a:rPr>
              <a:t>Annuler une contribution</a:t>
            </a:r>
            <a:endParaRPr lang="fr-FR" sz="950" noProof="0" dirty="0"/>
          </a:p>
        </p:txBody>
      </p:sp>
      <p:sp>
        <p:nvSpPr>
          <p:cNvPr id="12" name="Text 10"/>
          <p:cNvSpPr/>
          <p:nvPr/>
        </p:nvSpPr>
        <p:spPr>
          <a:xfrm>
            <a:off x="347472" y="2670048"/>
            <a:ext cx="189966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Vérification état, remboursement conditionnel, mise à jour atomique.</a:t>
            </a:r>
            <a:endParaRPr lang="fr-FR" sz="850" noProof="0" dirty="0"/>
          </a:p>
        </p:txBody>
      </p:sp>
      <p:sp>
        <p:nvSpPr>
          <p:cNvPr id="13" name="Shape 11"/>
          <p:cNvSpPr/>
          <p:nvPr/>
        </p:nvSpPr>
        <p:spPr>
          <a:xfrm>
            <a:off x="2457450" y="1298448"/>
            <a:ext cx="204597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2457450" y="1298448"/>
            <a:ext cx="204597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3187827" y="1389888"/>
            <a:ext cx="585216" cy="585216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187827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</a:rPr>
              <a:t>2</a:t>
            </a:r>
            <a:endParaRPr lang="fr-FR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2457450" y="2011680"/>
            <a:ext cx="2045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16A899"/>
                </a:solidFill>
              </a:rPr>
              <a:t>4.3.2</a:t>
            </a:r>
            <a:endParaRPr lang="fr-FR" sz="800" noProof="0" dirty="0"/>
          </a:p>
        </p:txBody>
      </p:sp>
      <p:sp>
        <p:nvSpPr>
          <p:cNvPr id="18" name="Text 16"/>
          <p:cNvSpPr/>
          <p:nvPr/>
        </p:nvSpPr>
        <p:spPr>
          <a:xfrm>
            <a:off x="2457450" y="2212848"/>
            <a:ext cx="20459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1A2C56"/>
                </a:solidFill>
              </a:rPr>
              <a:t>Créer &amp; soumettre un projet (IA)</a:t>
            </a:r>
            <a:endParaRPr lang="fr-FR" sz="950" noProof="0" dirty="0"/>
          </a:p>
        </p:txBody>
      </p:sp>
      <p:sp>
        <p:nvSpPr>
          <p:cNvPr id="19" name="Text 17"/>
          <p:cNvSpPr/>
          <p:nvPr/>
        </p:nvSpPr>
        <p:spPr>
          <a:xfrm>
            <a:off x="2530602" y="2670048"/>
            <a:ext cx="189966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DRAFT → AWAITING_AI → rapport Gemini via n8n/</a:t>
            </a:r>
            <a:r>
              <a:rPr lang="fr-FR" sz="850" noProof="0" dirty="0" err="1">
                <a:solidFill>
                  <a:srgbClr val="64748B"/>
                </a:solidFill>
              </a:rPr>
              <a:t>BullMQ</a:t>
            </a:r>
            <a:r>
              <a:rPr lang="fr-FR" sz="850" noProof="0" dirty="0">
                <a:solidFill>
                  <a:srgbClr val="64748B"/>
                </a:solidFill>
              </a:rPr>
              <a:t>, repli déterministe.</a:t>
            </a:r>
            <a:endParaRPr lang="fr-FR" sz="850" noProof="0" dirty="0"/>
          </a:p>
        </p:txBody>
      </p:sp>
      <p:sp>
        <p:nvSpPr>
          <p:cNvPr id="20" name="Shape 18"/>
          <p:cNvSpPr/>
          <p:nvPr/>
        </p:nvSpPr>
        <p:spPr>
          <a:xfrm>
            <a:off x="4640580" y="1298448"/>
            <a:ext cx="204597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4640580" y="1298448"/>
            <a:ext cx="204597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5370957" y="1389888"/>
            <a:ext cx="585216" cy="585216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5370957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</a:rPr>
              <a:t>3</a:t>
            </a:r>
            <a:endParaRPr lang="fr-FR" sz="1500" noProof="0" dirty="0"/>
          </a:p>
        </p:txBody>
      </p:sp>
      <p:sp>
        <p:nvSpPr>
          <p:cNvPr id="24" name="Text 22"/>
          <p:cNvSpPr/>
          <p:nvPr/>
        </p:nvSpPr>
        <p:spPr>
          <a:xfrm>
            <a:off x="4640580" y="2011680"/>
            <a:ext cx="2045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16A899"/>
                </a:solidFill>
              </a:rPr>
              <a:t>4.3.3</a:t>
            </a:r>
            <a:endParaRPr lang="fr-FR" sz="800" noProof="0" dirty="0"/>
          </a:p>
        </p:txBody>
      </p:sp>
      <p:sp>
        <p:nvSpPr>
          <p:cNvPr id="25" name="Text 23"/>
          <p:cNvSpPr/>
          <p:nvPr/>
        </p:nvSpPr>
        <p:spPr>
          <a:xfrm>
            <a:off x="4640580" y="2212848"/>
            <a:ext cx="20459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1A2C56"/>
                </a:solidFill>
              </a:rPr>
              <a:t>Investir (paiement simulé)</a:t>
            </a:r>
            <a:endParaRPr lang="fr-FR" sz="950" noProof="0" dirty="0"/>
          </a:p>
        </p:txBody>
      </p:sp>
      <p:sp>
        <p:nvSpPr>
          <p:cNvPr id="26" name="Text 24"/>
          <p:cNvSpPr/>
          <p:nvPr/>
        </p:nvSpPr>
        <p:spPr>
          <a:xfrm>
            <a:off x="4713732" y="2670048"/>
            <a:ext cx="189966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fr-FR" sz="850" noProof="0" dirty="0" err="1">
                <a:solidFill>
                  <a:srgbClr val="64748B"/>
                </a:solidFill>
              </a:rPr>
              <a:t>Webhook</a:t>
            </a:r>
            <a:r>
              <a:rPr lang="fr-FR" sz="850" noProof="0" dirty="0">
                <a:solidFill>
                  <a:srgbClr val="64748B"/>
                </a:solidFill>
              </a:rPr>
              <a:t> HMAC, idempotence (index unique), anti-sur-financement atomique.</a:t>
            </a:r>
            <a:endParaRPr lang="fr-FR" sz="850" noProof="0" dirty="0"/>
          </a:p>
        </p:txBody>
      </p:sp>
      <p:sp>
        <p:nvSpPr>
          <p:cNvPr id="27" name="Shape 25"/>
          <p:cNvSpPr/>
          <p:nvPr/>
        </p:nvSpPr>
        <p:spPr>
          <a:xfrm>
            <a:off x="6823710" y="1298448"/>
            <a:ext cx="204597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6823710" y="1298448"/>
            <a:ext cx="204597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>
            <a:off x="7554087" y="1389888"/>
            <a:ext cx="585216" cy="585216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7554087" y="13898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</a:rPr>
              <a:t>4</a:t>
            </a:r>
            <a:endParaRPr lang="fr-FR" sz="1500" noProof="0" dirty="0"/>
          </a:p>
        </p:txBody>
      </p:sp>
      <p:sp>
        <p:nvSpPr>
          <p:cNvPr id="31" name="Text 29"/>
          <p:cNvSpPr/>
          <p:nvPr/>
        </p:nvSpPr>
        <p:spPr>
          <a:xfrm>
            <a:off x="6823710" y="2011680"/>
            <a:ext cx="2045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16A899"/>
                </a:solidFill>
              </a:rPr>
              <a:t>4.3.4</a:t>
            </a:r>
            <a:endParaRPr lang="fr-FR" sz="800" noProof="0" dirty="0"/>
          </a:p>
        </p:txBody>
      </p:sp>
      <p:sp>
        <p:nvSpPr>
          <p:cNvPr id="32" name="Text 30"/>
          <p:cNvSpPr/>
          <p:nvPr/>
        </p:nvSpPr>
        <p:spPr>
          <a:xfrm>
            <a:off x="6823710" y="2212848"/>
            <a:ext cx="20459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1A2C56"/>
                </a:solidFill>
              </a:rPr>
              <a:t>Valider / rejeter (Expert &amp; Admin)</a:t>
            </a:r>
            <a:endParaRPr lang="fr-FR" sz="950" noProof="0" dirty="0"/>
          </a:p>
        </p:txBody>
      </p:sp>
      <p:sp>
        <p:nvSpPr>
          <p:cNvPr id="33" name="Text 31"/>
          <p:cNvSpPr/>
          <p:nvPr/>
        </p:nvSpPr>
        <p:spPr>
          <a:xfrm>
            <a:off x="6896862" y="2670048"/>
            <a:ext cx="189966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UNDER_REVIEW → APPROVED (expert) → ACTIVE (admin) + notification porteur.</a:t>
            </a:r>
            <a:endParaRPr lang="fr-FR" sz="850" noProof="0" dirty="0"/>
          </a:p>
        </p:txBody>
      </p:sp>
      <p:sp>
        <p:nvSpPr>
          <p:cNvPr id="34" name="Shape 32"/>
          <p:cNvSpPr/>
          <p:nvPr/>
        </p:nvSpPr>
        <p:spPr>
          <a:xfrm>
            <a:off x="274320" y="3218688"/>
            <a:ext cx="2773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274320" y="3218688"/>
            <a:ext cx="277368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1368552" y="3310128"/>
            <a:ext cx="585216" cy="585216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1368552" y="3310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</a:rPr>
              <a:t>5</a:t>
            </a:r>
            <a:endParaRPr lang="fr-FR" sz="1500" noProof="0" dirty="0"/>
          </a:p>
        </p:txBody>
      </p:sp>
      <p:sp>
        <p:nvSpPr>
          <p:cNvPr id="38" name="Text 36"/>
          <p:cNvSpPr/>
          <p:nvPr/>
        </p:nvSpPr>
        <p:spPr>
          <a:xfrm>
            <a:off x="274320" y="3931920"/>
            <a:ext cx="277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16A899"/>
                </a:solidFill>
              </a:rPr>
              <a:t>4.3.5</a:t>
            </a:r>
            <a:endParaRPr lang="fr-FR" sz="800" noProof="0" dirty="0"/>
          </a:p>
        </p:txBody>
      </p:sp>
      <p:sp>
        <p:nvSpPr>
          <p:cNvPr id="39" name="Text 37"/>
          <p:cNvSpPr/>
          <p:nvPr/>
        </p:nvSpPr>
        <p:spPr>
          <a:xfrm>
            <a:off x="274320" y="4133088"/>
            <a:ext cx="2773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1A2C56"/>
                </a:solidFill>
              </a:rPr>
              <a:t>Coordonnées bancaires &amp; retrait</a:t>
            </a:r>
            <a:endParaRPr lang="fr-FR" sz="950" noProof="0" dirty="0"/>
          </a:p>
        </p:txBody>
      </p:sp>
      <p:sp>
        <p:nvSpPr>
          <p:cNvPr id="40" name="Text 38"/>
          <p:cNvSpPr/>
          <p:nvPr/>
        </p:nvSpPr>
        <p:spPr>
          <a:xfrm>
            <a:off x="347472" y="4590288"/>
            <a:ext cx="262737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Saisie chiffrée AES-256-GCM, génération facture PDF (INVESTMENT + PAYOUT).</a:t>
            </a:r>
            <a:endParaRPr lang="fr-FR" sz="850" noProof="0" dirty="0"/>
          </a:p>
        </p:txBody>
      </p:sp>
      <p:sp>
        <p:nvSpPr>
          <p:cNvPr id="41" name="Shape 39"/>
          <p:cNvSpPr/>
          <p:nvPr/>
        </p:nvSpPr>
        <p:spPr>
          <a:xfrm>
            <a:off x="3185160" y="3218688"/>
            <a:ext cx="2773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3185160" y="3218688"/>
            <a:ext cx="277368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Shape 41"/>
          <p:cNvSpPr/>
          <p:nvPr/>
        </p:nvSpPr>
        <p:spPr>
          <a:xfrm>
            <a:off x="4279392" y="3310128"/>
            <a:ext cx="585216" cy="585216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/>
          <p:cNvSpPr/>
          <p:nvPr/>
        </p:nvSpPr>
        <p:spPr>
          <a:xfrm>
            <a:off x="4279392" y="3310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</a:rPr>
              <a:t>6</a:t>
            </a:r>
            <a:endParaRPr lang="fr-FR" sz="1500" noProof="0" dirty="0"/>
          </a:p>
        </p:txBody>
      </p:sp>
      <p:sp>
        <p:nvSpPr>
          <p:cNvPr id="45" name="Text 43"/>
          <p:cNvSpPr/>
          <p:nvPr/>
        </p:nvSpPr>
        <p:spPr>
          <a:xfrm>
            <a:off x="3185160" y="3931920"/>
            <a:ext cx="277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16A899"/>
                </a:solidFill>
              </a:rPr>
              <a:t>4.3.6</a:t>
            </a:r>
            <a:endParaRPr lang="fr-FR" sz="800" noProof="0" dirty="0"/>
          </a:p>
        </p:txBody>
      </p:sp>
      <p:sp>
        <p:nvSpPr>
          <p:cNvPr id="46" name="Text 44"/>
          <p:cNvSpPr/>
          <p:nvPr/>
        </p:nvSpPr>
        <p:spPr>
          <a:xfrm>
            <a:off x="3185160" y="4133088"/>
            <a:ext cx="2773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1A2C56"/>
                </a:solidFill>
              </a:rPr>
              <a:t>Approuver un retrait (Admin)</a:t>
            </a:r>
            <a:endParaRPr lang="fr-FR" sz="950" noProof="0" dirty="0"/>
          </a:p>
        </p:txBody>
      </p:sp>
      <p:sp>
        <p:nvSpPr>
          <p:cNvPr id="47" name="Text 45"/>
          <p:cNvSpPr/>
          <p:nvPr/>
        </p:nvSpPr>
        <p:spPr>
          <a:xfrm>
            <a:off x="3258312" y="4590288"/>
            <a:ext cx="262737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Vérification RIB déchiffré, </a:t>
            </a:r>
            <a:r>
              <a:rPr lang="fr-FR" sz="850" noProof="0" dirty="0" err="1">
                <a:solidFill>
                  <a:srgbClr val="64748B"/>
                </a:solidFill>
              </a:rPr>
              <a:t>payout</a:t>
            </a:r>
            <a:r>
              <a:rPr lang="fr-FR" sz="850" noProof="0" dirty="0">
                <a:solidFill>
                  <a:srgbClr val="64748B"/>
                </a:solidFill>
              </a:rPr>
              <a:t>, notification porteur, commission 5%.</a:t>
            </a:r>
            <a:endParaRPr lang="fr-FR" sz="850" noProof="0" dirty="0"/>
          </a:p>
        </p:txBody>
      </p:sp>
      <p:sp>
        <p:nvSpPr>
          <p:cNvPr id="48" name="Shape 46"/>
          <p:cNvSpPr/>
          <p:nvPr/>
        </p:nvSpPr>
        <p:spPr>
          <a:xfrm>
            <a:off x="6096000" y="3218688"/>
            <a:ext cx="2773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Shape 47"/>
          <p:cNvSpPr/>
          <p:nvPr/>
        </p:nvSpPr>
        <p:spPr>
          <a:xfrm>
            <a:off x="6096000" y="3218688"/>
            <a:ext cx="2773680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Shape 48"/>
          <p:cNvSpPr/>
          <p:nvPr/>
        </p:nvSpPr>
        <p:spPr>
          <a:xfrm>
            <a:off x="7190232" y="3310128"/>
            <a:ext cx="585216" cy="585216"/>
          </a:xfrm>
          <a:prstGeom prst="ellipse">
            <a:avLst/>
          </a:prstGeom>
          <a:solidFill>
            <a:srgbClr val="1A2C56"/>
          </a:solidFill>
          <a:ln w="12700">
            <a:solidFill>
              <a:srgbClr val="1A2C5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9"/>
          <p:cNvSpPr/>
          <p:nvPr/>
        </p:nvSpPr>
        <p:spPr>
          <a:xfrm>
            <a:off x="7190232" y="3310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</a:rPr>
              <a:t>7</a:t>
            </a:r>
            <a:endParaRPr lang="fr-FR" sz="1500" noProof="0" dirty="0"/>
          </a:p>
        </p:txBody>
      </p:sp>
      <p:sp>
        <p:nvSpPr>
          <p:cNvPr id="52" name="Text 50"/>
          <p:cNvSpPr/>
          <p:nvPr/>
        </p:nvSpPr>
        <p:spPr>
          <a:xfrm>
            <a:off x="6096000" y="3931920"/>
            <a:ext cx="277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16A899"/>
                </a:solidFill>
              </a:rPr>
              <a:t>4.3.7</a:t>
            </a:r>
            <a:endParaRPr lang="fr-FR" sz="800" noProof="0" dirty="0"/>
          </a:p>
        </p:txBody>
      </p:sp>
      <p:sp>
        <p:nvSpPr>
          <p:cNvPr id="53" name="Text 51"/>
          <p:cNvSpPr/>
          <p:nvPr/>
        </p:nvSpPr>
        <p:spPr>
          <a:xfrm>
            <a:off x="6096000" y="4133088"/>
            <a:ext cx="2773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1A2C56"/>
                </a:solidFill>
              </a:rPr>
              <a:t>Suspendre / réactiver (Admin)</a:t>
            </a:r>
            <a:endParaRPr lang="fr-FR" sz="950" noProof="0" dirty="0"/>
          </a:p>
        </p:txBody>
      </p:sp>
      <p:sp>
        <p:nvSpPr>
          <p:cNvPr id="54" name="Text 52"/>
          <p:cNvSpPr/>
          <p:nvPr/>
        </p:nvSpPr>
        <p:spPr>
          <a:xfrm>
            <a:off x="6169152" y="4590288"/>
            <a:ext cx="262737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fr-FR" sz="850" noProof="0" dirty="0">
                <a:solidFill>
                  <a:srgbClr val="64748B"/>
                </a:solidFill>
              </a:rPr>
              <a:t>Transition ACTIVE ↔ SUSPENDED, journal d'audit (</a:t>
            </a:r>
            <a:r>
              <a:rPr lang="fr-FR" sz="850" noProof="0" dirty="0" err="1">
                <a:solidFill>
                  <a:srgbClr val="64748B"/>
                </a:solidFill>
              </a:rPr>
              <a:t>AuditLog</a:t>
            </a:r>
            <a:r>
              <a:rPr lang="fr-FR" sz="850" noProof="0" dirty="0">
                <a:solidFill>
                  <a:srgbClr val="64748B"/>
                </a:solidFill>
              </a:rPr>
              <a:t>).</a:t>
            </a:r>
            <a:endParaRPr lang="fr-FR" sz="8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18872" y="0"/>
            <a:ext cx="9025128" cy="749808"/>
          </a:xfrm>
          <a:prstGeom prst="rect">
            <a:avLst/>
          </a:prstGeom>
          <a:solidFill>
            <a:srgbClr val="162240"/>
          </a:solidFill>
          <a:ln w="12700">
            <a:solidFill>
              <a:srgbClr val="16224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50" noProof="0" dirty="0">
                <a:solidFill>
                  <a:srgbClr val="16A899"/>
                </a:solidFill>
              </a:rPr>
              <a:t>07  —  </a:t>
            </a:r>
            <a:r>
              <a:rPr lang="fr-FR" sz="1550" b="1" noProof="0" dirty="0">
                <a:solidFill>
                  <a:srgbClr val="FFFFFF"/>
                </a:solidFill>
              </a:rPr>
              <a:t>CONCLUSION — TRAVAUX RÉALISÉS, LIMITES &amp; PERSPECTIVES</a:t>
            </a:r>
            <a:endParaRPr lang="fr-FR" sz="1550" noProof="0" dirty="0"/>
          </a:p>
        </p:txBody>
      </p:sp>
      <p:sp>
        <p:nvSpPr>
          <p:cNvPr id="5" name="Shape 3"/>
          <p:cNvSpPr/>
          <p:nvPr/>
        </p:nvSpPr>
        <p:spPr>
          <a:xfrm>
            <a:off x="118872" y="749808"/>
            <a:ext cx="9025128" cy="3657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256032" y="932688"/>
            <a:ext cx="2779776" cy="3950208"/>
          </a:xfrm>
          <a:prstGeom prst="rect">
            <a:avLst/>
          </a:prstGeom>
          <a:solidFill>
            <a:srgbClr val="16224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2779776" cy="54864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256032" y="1005840"/>
            <a:ext cx="2779776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0D7680"/>
                </a:solidFill>
              </a:rPr>
              <a:t>  Travaux réalisés</a:t>
            </a:r>
            <a:endParaRPr lang="fr-FR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256032" y="1508760"/>
            <a:ext cx="2779776" cy="33101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Parcours complet porteur : DRAFT → analyse IA → validation → FUNDED → retrait avec facture</a:t>
            </a:r>
            <a:endParaRPr lang="fr-FR" sz="950" noProof="0" dirty="0"/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Parcours complet investisseur : contribution, annulation, remboursement conditionnel</a:t>
            </a:r>
            <a:endParaRPr lang="fr-FR" sz="950" noProof="0" dirty="0"/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Aides à la décision : rapport Gemini structuré + recommandations personnalisées + assistant chat</a:t>
            </a:r>
            <a:endParaRPr lang="fr-FR" sz="950" noProof="0" dirty="0"/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Gouvernance : RBAC, modération, signalements, </a:t>
            </a:r>
            <a:r>
              <a:rPr lang="fr-FR" sz="950" noProof="0" dirty="0" err="1">
                <a:solidFill>
                  <a:srgbClr val="B8C8D8"/>
                </a:solidFill>
              </a:rPr>
              <a:t>AuditLog</a:t>
            </a:r>
            <a:r>
              <a:rPr lang="fr-FR" sz="950" noProof="0" dirty="0">
                <a:solidFill>
                  <a:srgbClr val="B8C8D8"/>
                </a:solidFill>
              </a:rPr>
              <a:t>, notifications, relances DLQ</a:t>
            </a:r>
            <a:endParaRPr lang="fr-FR" sz="950" noProof="0" dirty="0"/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Sécurité : HMAC, AES-256-GCM, JWT </a:t>
            </a:r>
            <a:r>
              <a:rPr lang="fr-FR" sz="950" noProof="0" dirty="0" err="1">
                <a:solidFill>
                  <a:srgbClr val="B8C8D8"/>
                </a:solidFill>
              </a:rPr>
              <a:t>HttpOnly</a:t>
            </a:r>
            <a:r>
              <a:rPr lang="fr-FR" sz="950" noProof="0" dirty="0">
                <a:solidFill>
                  <a:srgbClr val="B8C8D8"/>
                </a:solidFill>
              </a:rPr>
              <a:t>, rate </a:t>
            </a:r>
            <a:r>
              <a:rPr lang="fr-FR" sz="950" noProof="0" dirty="0" err="1">
                <a:solidFill>
                  <a:srgbClr val="B8C8D8"/>
                </a:solidFill>
              </a:rPr>
              <a:t>limiting</a:t>
            </a:r>
            <a:r>
              <a:rPr lang="fr-FR" sz="950" noProof="0" dirty="0">
                <a:solidFill>
                  <a:srgbClr val="B8C8D8"/>
                </a:solidFill>
              </a:rPr>
              <a:t> — conformité OWASP</a:t>
            </a:r>
            <a:endParaRPr lang="fr-FR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3163824" y="932688"/>
            <a:ext cx="2779776" cy="3950208"/>
          </a:xfrm>
          <a:prstGeom prst="rect">
            <a:avLst/>
          </a:prstGeom>
          <a:solidFill>
            <a:srgbClr val="162240"/>
          </a:solidFill>
          <a:ln w="12700">
            <a:solidFill>
              <a:srgbClr val="C77B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3163824" y="932688"/>
            <a:ext cx="2779776" cy="54864"/>
          </a:xfrm>
          <a:prstGeom prst="rect">
            <a:avLst/>
          </a:prstGeom>
          <a:solidFill>
            <a:srgbClr val="C77B2B"/>
          </a:solidFill>
          <a:ln w="12700">
            <a:solidFill>
              <a:srgbClr val="C77B2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163824" y="1005840"/>
            <a:ext cx="2779776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r>
              <a:rPr lang="fr-FR" sz="1100" b="1" noProof="0" dirty="0">
                <a:solidFill>
                  <a:srgbClr val="C77B2B"/>
                </a:solidFill>
              </a:rPr>
              <a:t> Limites</a:t>
            </a:r>
            <a:endParaRPr lang="fr-F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3163824" y="1508760"/>
            <a:ext cx="2779776" cy="33101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buSzPct val="100000"/>
            </a:pPr>
            <a:endParaRPr lang="fr-FR" sz="950" noProof="0" dirty="0">
              <a:solidFill>
                <a:srgbClr val="B8C8D8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Recommandations déterministes — sans historique d'apprentissage</a:t>
            </a:r>
            <a:endParaRPr lang="fr-FR" sz="950" noProof="0" dirty="0"/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Tests UI non automatisés (Cypress / </a:t>
            </a:r>
            <a:r>
              <a:rPr lang="fr-FR" sz="950" noProof="0" dirty="0" err="1">
                <a:solidFill>
                  <a:srgbClr val="B8C8D8"/>
                </a:solidFill>
              </a:rPr>
              <a:t>Playwright</a:t>
            </a:r>
            <a:r>
              <a:rPr lang="fr-FR" sz="950" noProof="0" dirty="0">
                <a:solidFill>
                  <a:srgbClr val="B8C8D8"/>
                </a:solidFill>
              </a:rPr>
              <a:t> absent)</a:t>
            </a:r>
            <a:endParaRPr lang="fr-FR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6071616" y="932688"/>
            <a:ext cx="2779776" cy="3950208"/>
          </a:xfrm>
          <a:prstGeom prst="rect">
            <a:avLst/>
          </a:prstGeom>
          <a:solidFill>
            <a:srgbClr val="162240"/>
          </a:solidFill>
          <a:ln w="12700">
            <a:solidFill>
              <a:srgbClr val="1A5C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6071616" y="932688"/>
            <a:ext cx="2779776" cy="54864"/>
          </a:xfrm>
          <a:prstGeom prst="rect">
            <a:avLst/>
          </a:prstGeom>
          <a:solidFill>
            <a:srgbClr val="1A5C82"/>
          </a:solidFill>
          <a:ln w="12700">
            <a:solidFill>
              <a:srgbClr val="1A5C82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6071616" y="1005840"/>
            <a:ext cx="2779776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r>
              <a:rPr lang="fr-FR" sz="1100" b="1" noProof="0" dirty="0">
                <a:solidFill>
                  <a:srgbClr val="1A5C82"/>
                </a:solidFill>
              </a:rPr>
              <a:t> Perspectives</a:t>
            </a:r>
            <a:endParaRPr lang="fr-FR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6071616" y="1508760"/>
            <a:ext cx="2779776" cy="33101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buSzPct val="100000"/>
            </a:pPr>
            <a:endParaRPr lang="fr-FR" sz="950" noProof="0" dirty="0">
              <a:solidFill>
                <a:srgbClr val="B8C8D8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Mesure de l'impact social : emplois créés, projets financés, réinvestissement communautaire</a:t>
            </a:r>
            <a:endParaRPr lang="fr-FR" sz="950" noProof="0" dirty="0"/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IA améliorée : meilleure explication du score, apprentissage progressif</a:t>
            </a:r>
            <a:endParaRPr lang="fr-FR" sz="950" noProof="0" dirty="0"/>
          </a:p>
          <a:p>
            <a:pPr marL="342900" indent="-342900">
              <a:buSzPct val="100000"/>
              <a:buChar char="•"/>
            </a:pPr>
            <a:r>
              <a:rPr lang="fr-FR" sz="950" noProof="0" dirty="0">
                <a:solidFill>
                  <a:srgbClr val="B8C8D8"/>
                </a:solidFill>
              </a:rPr>
              <a:t>Extension aux diaspora tunisienne : permettre le soutien transfrontalier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256032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rgbClr val="FFFFFF"/>
                </a:solidFill>
              </a:rPr>
              <a:t>Merci de votre attention</a:t>
            </a:r>
            <a:endParaRPr lang="fr-FR" sz="4400" noProof="0" dirty="0"/>
          </a:p>
        </p:txBody>
      </p:sp>
      <p:sp>
        <p:nvSpPr>
          <p:cNvPr id="4" name="Shape 2"/>
          <p:cNvSpPr/>
          <p:nvPr/>
        </p:nvSpPr>
        <p:spPr>
          <a:xfrm>
            <a:off x="2011680" y="2487168"/>
            <a:ext cx="5120640" cy="457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256032" y="26517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i="1" noProof="0" dirty="0">
                <a:solidFill>
                  <a:srgbClr val="16A899"/>
                </a:solidFill>
              </a:rPr>
              <a:t>Questions &amp; Réponses</a:t>
            </a:r>
            <a:endParaRPr lang="fr-FR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256032" y="42062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 err="1">
                <a:solidFill>
                  <a:srgbClr val="B8C8D8"/>
                </a:solidFill>
              </a:rPr>
              <a:t>Gdoura</a:t>
            </a:r>
            <a:r>
              <a:rPr lang="fr-FR" sz="1100" noProof="0" dirty="0">
                <a:solidFill>
                  <a:srgbClr val="B8C8D8"/>
                </a:solidFill>
              </a:rPr>
              <a:t> Karim  |  Licence Informatique de Gestion  |  FSEG Sfax  |  2025/2026</a:t>
            </a:r>
            <a:endParaRPr lang="fr-F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256032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B8C8D8"/>
                </a:solidFill>
              </a:rPr>
              <a:t>Encadrant : M. Iskandar </a:t>
            </a:r>
            <a:r>
              <a:rPr lang="fr-FR" sz="1100" noProof="0" dirty="0" err="1">
                <a:solidFill>
                  <a:srgbClr val="B8C8D8"/>
                </a:solidFill>
              </a:rPr>
              <a:t>Keskes</a:t>
            </a:r>
            <a:r>
              <a:rPr lang="fr-FR" sz="1100" noProof="0" dirty="0">
                <a:solidFill>
                  <a:srgbClr val="B8C8D8"/>
                </a:solidFill>
              </a:rPr>
              <a:t>  |  </a:t>
            </a:r>
            <a:r>
              <a:rPr lang="fr-FR" sz="1100" noProof="0" dirty="0" err="1">
                <a:solidFill>
                  <a:srgbClr val="B8C8D8"/>
                </a:solidFill>
              </a:rPr>
              <a:t>Aziin</a:t>
            </a:r>
            <a:r>
              <a:rPr lang="fr-FR" sz="1100" noProof="0" dirty="0">
                <a:solidFill>
                  <a:srgbClr val="B8C8D8"/>
                </a:solidFill>
              </a:rPr>
              <a:t> Engineering Solution, Sfax</a:t>
            </a:r>
            <a:endParaRPr lang="fr-FR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1312</Words>
  <Application>Microsoft Office PowerPoint</Application>
  <PresentationFormat>On-screen Show (16:9)</PresentationFormat>
  <Paragraphs>233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 — Plateforme de Financement Collaboratif</dc:title>
  <dc:subject>PptxGenJS Presentation</dc:subject>
  <dc:creator>Gdoura Karim</dc:creator>
  <cp:lastModifiedBy>Zaineb Ghorbel</cp:lastModifiedBy>
  <cp:revision>91</cp:revision>
  <dcterms:created xsi:type="dcterms:W3CDTF">2026-05-30T09:46:43Z</dcterms:created>
  <dcterms:modified xsi:type="dcterms:W3CDTF">2026-06-02T10:57:47Z</dcterms:modified>
</cp:coreProperties>
</file>